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DM Sans"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proyecto final del curso de Aseguramiento de la Calidad de Software. Aplicamos el ciclo completo de QA a FrontAccounting 2.4.20, trabajando con SCRUM en tres sprints y una revisión final. Esta presentación resume resultados, hallazgos y recomendaciones; el detalle está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los cuatro módulos con más impacto de negocio. Una venta descuenta inventario y una compra lo aumenta, por eso se prueban juntos. La verificación de asientos contables se hizo solo como parte de Ventas y Compras. Las pruebas se ejecutaron entre el 12 y el 16 de octubre en Chrome y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ejecutaron los 16 casos: 13 aprobaron y 3 fallaron, para 81.3%. Se confirmaron 10 bugs reproducidos con evidencia. Con 16 casos, 12 aprobados habrían dado 75% y la meta de 80% no se habría cumplido; por eso el margen es estrecho.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de las seis metas se cumplen. La que no se cumple es la densidad de defectos: 10 bugs sobre 16 casos da 0.63 y la meta era 0.4 como máximo. La reserva sobre la suite automatizada se explica en la diapositiva 8. Las métricas de proceso como efectividad de detección y tasa de reapertura no se midieron porque no hubo ciclo de corrección ni regresión.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TC-03 es un defecto menor de usabilidad: el acceso sí se rechaza, pero el mensaje no indica que faltan campos. TC-13 y TC-15 afectan reglas de negocio de Ventas y son los dos hallazgos prioritarios. TC-15 es el más grave porque cambia el estado de una orden que ya tiene entregas y factura.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central de la presentación. Se entregó y facturó la orden #15, y el sistema aún ofrece el botón Cancelar Orden y lo ejecuta. Causa probable: la cancelación no verifica si la orden ya tiene entregas o facturas. No se asignó prioridad crítica porque ningún riesgo evaluado alcanzó 9 en la escala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de los diez bugs son de severidad baja y la mayoría se concentra en el archivo de idioma. Los dos defectos funcionales, BUG-05 y BUG-10, son los que justifican atención prioritaria. La densidad de defectos de 0.63 sale de 10 bugs entre 16 casos ejecutados.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corrida se hizo con Cypress 16.2.0 en modo headless, sobre el ambiente QA. Los números de cobertura y éxito cumplen las metas, pero varios scripts solo registran el comportamiento y no afirman el resultado esperado, así que no pueden fallar. Esa es la razón de la reserva sobre la tasa de éxito de la suite. La corrida final debería hacerse en Chrome y, si es posible, en Firefox.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ideas para llevarse. Uno: el proceso de QA cumplió su parte, se ejecutó todo y se superó la meta de aprobación. Dos: el producto tiene una brecha en reglas de negocio de Ventas. Tres: la suite automatizada todavía no es una red de seguridad confiable. Queda pendiente cerrar las evidencias y comunicar los defectos de mayor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recomendación es la prioritaria porque ataca los dos defectos de mayor riesgo. Recordar que FrontAccounting es software de terceros y su código no se modificó en este proyecto: el ciclo del bug llega hasta hallazgo verificado y reportado, con una recomendación de corrección.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lecciones están marcadas en el informe como temas para validar por el equipo en la retrospectiva. La primera es la más importante: una prueba que solo registra el comportamiento no puede fallar.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esta lámina empieza el plan para corregir los 10 bugs y evitar que vuelvan a ocurrir. Son estimaciones académicas de planeación en dólares, para comparar el esfuerzo relativo de las actividades, no una cotización. Supuestos: developer con 6 horas efectivas al día (30 horas por semana), QA y revisor lingüístico en paralelo, y 15% de contingencia porque es código de terceros que no se conoce a fondo. Los costos de hosting no están incluidos. Los dos bugs de prioridad alta (BUG-10 y BUG-05) se atienden en la primera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BUG-10 y BUG-05 afectan reglas de negocio de Ventas, por eso van primero. Costo de BUG-10: developer 10 h, QA 8 h y líder técnico 3 h, que da 21 h y USD 549. Costo de BUG-05: developer 10 h, QA 7 h y líder técnico 2 h, que da 19 h y USD 496. Prevención asociada: una prueba por cada transición inválida de la orden, pruebas de valores límite (0, 1, 2) y automatizar TC-15; se detallan en la lámina de acciones preventivas. Nota: BUG-05 es de severidad media pero con riesgo 6, igual que BUG-10, y por eso se prioriza como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BUG-08 y BUG-06 se corrigen en la primera semana. Los seis defectos de localización comparten una causa, así que conviene corregirlos en una sola intervención: se evita repetir la búsqueda de cadenas, la revisión lingüística y el barrido de pantallas. El paquete incluye inventario de cadenas sin traducir y duplicadas, corrección del archivo de idioma, revisión lingüística única, barrido visual de los cuatro módulos en alcance y retest de TC-01, 02, 05, 09, 10, 11 y 14. Corregirlos por separado costaría USD 1,360; en paquete cuesta USD 994, un ahorro de USD 366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Corregir los bugs no basta: estas cinco acciones evitan que reaparezcan. P1 y P2 endurecen y amplían la automatización para que la suite falle cuando el sistema acepte datos inválidos, que es justo lo que pasó con TC-13. P3 corre la suite en cada cambio. P4 detecta cadenas sin traducir o duplicadas en el archivo de idioma. P5 actualiza la Definición de Hecho y la lista de revisión de código (validación en servidor, transiciones de estado, valores límite, textos en español) y cierra con una retrospectiva del equipo. Total: USD 1,249 y 46 horas. El hosting sin suspensión evita los arranques lentos de Render que afectan la corrida automatizada.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semana 1 cierra el riesgo de negocio: BUG-10 y BUG-05 junto con BUG-08 y BUG-06. La semana 2 resuelve toda la localización en un solo paquete y endurece las aserciones de Cypress. La semana 3 completa la prevención (P2 a P5) y termina con la regresión final, que confirma que ningún bug reproducido sigue abierto. Con un segundo developer, uno corrige los bugs de Ventas mientras el otro trabaja localización y prevención, y el plan se reduce a 2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corrección de los 10 bugs cuesta USD 2,374, la prevención USD 1,249 y la regresión final USD 168, para un subtotal de USD 3,791. Con la contingencia del 15% (USD 569) el total es USD 4,360 y 153 horas-persona. Si los seis defectos de localización se corrigieran por separado, el costo individual total de los 10 bugs sería USD 2,740 en lugar de USD 2,374. Los costos de hosting no están incluidos.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riesgos de impacto alto son que las causas probables no sean las reales, porque no se revisó el código en ejecución, y que arreglar BUG-10 rompa otros flujos de cancelación. Para el primero está la contingencia del 15% y la confirmación del líder técnico el primer día; para el segundo, una regresión ampliada. Como FrontAccounting es software de terceros, también se prevé que una actualización sobrescriba las correcciones, por lo que se mantienen como parches versionados y se proponen al repositorio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seis criterios definen cuándo se da por terminado el plan. Los más importantes son que no quede ningún bug reproducido abierto en la regresión final, que TC-03, TC-13 y TC-15 pasen tanto manualmente como en la suite automatizada, y que la suite y el verificador de idioma corran solos en cada cambio. Hoy la densidad de defectos es 0.63 y la cobertura de automatización es 13 de 16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final del plan: no mitigar tiene un costo que no se calcula en dinero porque depende del uso real del sistema, pero los efectos son concretos. BUG-10 es el que más cuesta si llega a producción. Corregir los dos bugs de prioridad alta cuesta USD 1,045, menos de un tercio del presupuesto total, y elimina el riesgo de negocio más importante del informe. Cierre sugerido: pedir aprobación para arrancar con la semana 1 del cronograma.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espacio para preguntas. Daniel Contreras asume dos roles compatibles (Líder Técnico y Arquitecto) por el tamaño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2233F"/>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2233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2233F"/>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2233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04F"/>
                </a:solidFill>
                <a:latin typeface="DM Sans" pitchFamily="34" charset="0"/>
                <a:ea typeface="DM Sans" pitchFamily="34" charset="-122"/>
                <a:cs typeface="DM Sans" pitchFamily="34" charset="-120"/>
              </a:rPr>
              <a:t>ASEGURAMIENTO DE LA CALIDAD DE SOFTWARE · PROYECTO FINAL</a:t>
            </a:r>
            <a:endParaRPr lang="en-US" sz="1400" dirty="0"/>
          </a:p>
        </p:txBody>
      </p:sp>
      <p:sp>
        <p:nvSpPr>
          <p:cNvPr id="3" name="Shape 1"/>
          <p:cNvSpPr/>
          <p:nvPr/>
        </p:nvSpPr>
        <p:spPr>
          <a:xfrm>
            <a:off x="812800" y="2499360"/>
            <a:ext cx="762000" cy="50800"/>
          </a:xfrm>
          <a:prstGeom prst="rect">
            <a:avLst/>
          </a:prstGeom>
          <a:solidFill>
            <a:srgbClr val="D9822B"/>
          </a:solidFill>
          <a:ln/>
        </p:spPr>
      </p:sp>
      <p:sp>
        <p:nvSpPr>
          <p:cNvPr id="4" name="Text 2"/>
          <p:cNvSpPr/>
          <p:nvPr>
            <p:ph type="title"/>
          </p:nvPr>
        </p:nvSpPr>
        <p:spPr>
          <a:xfrm>
            <a:off x="812800" y="27533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DM Sans" pitchFamily="34" charset="0"/>
                <a:ea typeface="DM Sans" pitchFamily="34" charset="-122"/>
                <a:cs typeface="DM Sans" pitchFamily="34" charset="-120"/>
              </a:rPr>
              <a:t>Informe final de QA: FrontAccounting 2.4.20</a:t>
            </a:r>
            <a:endParaRPr lang="en-US" sz="3600" dirty="0"/>
          </a:p>
        </p:txBody>
      </p:sp>
      <p:sp>
        <p:nvSpPr>
          <p:cNvPr id="5" name="Text 3"/>
          <p:cNvSpPr/>
          <p:nvPr/>
        </p:nvSpPr>
        <p:spPr>
          <a:xfrm>
            <a:off x="812800" y="345948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E0"/>
                </a:solidFill>
                <a:latin typeface="DM Sans" pitchFamily="34" charset="0"/>
                <a:ea typeface="DM Sans" pitchFamily="34" charset="-122"/>
                <a:cs typeface="DM Sans" pitchFamily="34" charset="-120"/>
              </a:rPr>
              <a:t>Resumen ejecutivo del ciclo completo de pruebas con SCRUM</a:t>
            </a:r>
            <a:endParaRPr lang="en-US" sz="1800" dirty="0"/>
          </a:p>
        </p:txBody>
      </p:sp>
      <p:sp>
        <p:nvSpPr>
          <p:cNvPr id="6" name="Text 4"/>
          <p:cNvSpPr/>
          <p:nvPr/>
        </p:nvSpPr>
        <p:spPr>
          <a:xfrm>
            <a:off x="812800" y="521716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C"/>
                </a:solidFill>
                <a:latin typeface="DM Sans" pitchFamily="34" charset="0"/>
                <a:ea typeface="DM Sans" pitchFamily="34" charset="-122"/>
                <a:cs typeface="DM Sans" pitchFamily="34" charset="-120"/>
              </a:rPr>
              <a:t>Universidad Mariano Gálvez de Guatemala · Plan Sábado · Docente: Hernán Velasquez</a:t>
            </a:r>
            <a:endParaRPr lang="en-US" sz="1400" dirty="0"/>
          </a:p>
        </p:txBody>
      </p:sp>
      <p:sp>
        <p:nvSpPr>
          <p:cNvPr id="7" name="Text 5"/>
          <p:cNvSpPr/>
          <p:nvPr/>
        </p:nvSpPr>
        <p:spPr>
          <a:xfrm>
            <a:off x="812800" y="55422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9"/>
                </a:solidFill>
                <a:latin typeface="DM Sans" pitchFamily="34" charset="0"/>
                <a:ea typeface="DM Sans" pitchFamily="34" charset="-122"/>
                <a:cs typeface="DM Sans" pitchFamily="34" charset="-120"/>
              </a:rPr>
              <a:t>Cristhiam Samayoa · Daniel Contreras · Edgar Díaz · Emilio Schaad · Guillermo Ortiz · Herber Godoy</a:t>
            </a:r>
            <a:endParaRPr lang="en-US" sz="1200" dirty="0"/>
          </a:p>
        </p:txBody>
      </p:sp>
      <p:sp>
        <p:nvSpPr>
          <p:cNvPr id="8" name="Text 6"/>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9"/>
                </a:solidFill>
                <a:latin typeface="DM Sans" pitchFamily="34" charset="0"/>
                <a:ea typeface="DM Sans" pitchFamily="34" charset="-122"/>
                <a:cs typeface="DM Sans" pitchFamily="34" charset="-120"/>
              </a:rPr>
              <a:t>Guatemala, 17 de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Contexto y alcance</a:t>
            </a:r>
            <a:endParaRPr lang="en-US" sz="3600" dirty="0"/>
          </a:p>
        </p:txBody>
      </p:sp>
      <p:sp>
        <p:nvSpPr>
          <p:cNvPr id="3" name="Shape 1"/>
          <p:cNvSpPr/>
          <p:nvPr/>
        </p:nvSpPr>
        <p:spPr>
          <a:xfrm>
            <a:off x="815975" y="1623695"/>
            <a:ext cx="3380264" cy="2132330"/>
          </a:xfrm>
          <a:prstGeom prst="roundRect">
            <a:avLst>
              <a:gd name="adj" fmla="val 4616"/>
            </a:avLst>
          </a:prstGeom>
          <a:solidFill>
            <a:srgbClr val="FCFBF7"/>
          </a:solidFill>
          <a:ln w="6350">
            <a:solidFill>
              <a:srgbClr val="DAD6C8"/>
            </a:solidFill>
            <a:prstDash val="solid"/>
          </a:ln>
        </p:spPr>
      </p:sp>
      <p:sp>
        <p:nvSpPr>
          <p:cNvPr id="4" name="Text 2"/>
          <p:cNvSpPr/>
          <p:nvPr/>
        </p:nvSpPr>
        <p:spPr>
          <a:xfrm>
            <a:off x="1071880" y="18796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Sistema bajo prueba</a:t>
            </a:r>
            <a:endParaRPr lang="en-US" sz="1800" dirty="0"/>
          </a:p>
        </p:txBody>
      </p:sp>
      <p:sp>
        <p:nvSpPr>
          <p:cNvPr id="5" name="Text 3"/>
          <p:cNvSpPr/>
          <p:nvPr/>
        </p:nvSpPr>
        <p:spPr>
          <a:xfrm>
            <a:off x="1071880" y="2255520"/>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FrontAccounting 2.4.20, un ERP y sistema contable web (PHP + MySQL). Ambiente de QA en Render, no de producción.</a:t>
            </a:r>
            <a:endParaRPr lang="en-US" sz="1400" dirty="0"/>
          </a:p>
        </p:txBody>
      </p:sp>
      <p:sp>
        <p:nvSpPr>
          <p:cNvPr id="6" name="Shape 4"/>
          <p:cNvSpPr/>
          <p:nvPr/>
        </p:nvSpPr>
        <p:spPr>
          <a:xfrm>
            <a:off x="4405789" y="1623695"/>
            <a:ext cx="3380343" cy="2132330"/>
          </a:xfrm>
          <a:prstGeom prst="roundRect">
            <a:avLst>
              <a:gd name="adj" fmla="val 4616"/>
            </a:avLst>
          </a:prstGeom>
          <a:solidFill>
            <a:srgbClr val="FCFBF7"/>
          </a:solidFill>
          <a:ln w="6350">
            <a:solidFill>
              <a:srgbClr val="DAD6C8"/>
            </a:solidFill>
            <a:prstDash val="solid"/>
          </a:ln>
        </p:spPr>
      </p:sp>
      <p:sp>
        <p:nvSpPr>
          <p:cNvPr id="7" name="Text 5"/>
          <p:cNvSpPr/>
          <p:nvPr/>
        </p:nvSpPr>
        <p:spPr>
          <a:xfrm>
            <a:off x="4661694"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Alcance</a:t>
            </a:r>
            <a:endParaRPr lang="en-US" sz="1800" dirty="0"/>
          </a:p>
        </p:txBody>
      </p:sp>
      <p:sp>
        <p:nvSpPr>
          <p:cNvPr id="8" name="Text 6"/>
          <p:cNvSpPr/>
          <p:nvPr/>
        </p:nvSpPr>
        <p:spPr>
          <a:xfrm>
            <a:off x="4661694" y="2255520"/>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Seguridad, Ventas, Compras e Inventario: los módulos de mayor uso y riesgo. Manufactura, Activos Fijos y Dimensiones quedan fuera.</a:t>
            </a:r>
            <a:endParaRPr lang="en-US" sz="1400" dirty="0"/>
          </a:p>
        </p:txBody>
      </p:sp>
      <p:sp>
        <p:nvSpPr>
          <p:cNvPr id="9" name="Shape 7"/>
          <p:cNvSpPr/>
          <p:nvPr/>
        </p:nvSpPr>
        <p:spPr>
          <a:xfrm>
            <a:off x="7995682" y="1623695"/>
            <a:ext cx="3380343" cy="2132330"/>
          </a:xfrm>
          <a:prstGeom prst="roundRect">
            <a:avLst>
              <a:gd name="adj" fmla="val 4616"/>
            </a:avLst>
          </a:prstGeom>
          <a:solidFill>
            <a:srgbClr val="FCFBF7"/>
          </a:solidFill>
          <a:ln w="6350">
            <a:solidFill>
              <a:srgbClr val="DAD6C8"/>
            </a:solidFill>
            <a:prstDash val="solid"/>
          </a:ln>
        </p:spPr>
      </p:sp>
      <p:sp>
        <p:nvSpPr>
          <p:cNvPr id="10" name="Text 8"/>
          <p:cNvSpPr/>
          <p:nvPr/>
        </p:nvSpPr>
        <p:spPr>
          <a:xfrm>
            <a:off x="8251587" y="18796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Metodología</a:t>
            </a:r>
            <a:endParaRPr lang="en-US" sz="1800" dirty="0"/>
          </a:p>
        </p:txBody>
      </p:sp>
      <p:sp>
        <p:nvSpPr>
          <p:cNvPr id="11" name="Text 9"/>
          <p:cNvSpPr/>
          <p:nvPr/>
        </p:nvSpPr>
        <p:spPr>
          <a:xfrm>
            <a:off x="8251587" y="2255520"/>
            <a:ext cx="2954589"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SCRUM en tres sprints y una revisión final. Cinco técnicas de diseño: clases de equivalencia, valores límite, tablas de decisión, pairwise y transición de estados.</a:t>
            </a:r>
            <a:endParaRPr lang="en-US" sz="1400" dirty="0"/>
          </a:p>
        </p:txBody>
      </p:sp>
      <p:sp>
        <p:nvSpPr>
          <p:cNvPr id="12" name="Shape 10"/>
          <p:cNvSpPr/>
          <p:nvPr/>
        </p:nvSpPr>
        <p:spPr>
          <a:xfrm>
            <a:off x="838200" y="4064000"/>
            <a:ext cx="0" cy="685800"/>
          </a:xfrm>
          <a:prstGeom prst="line">
            <a:avLst/>
          </a:prstGeom>
          <a:noFill/>
          <a:ln w="50800">
            <a:solidFill>
              <a:srgbClr val="D9822B"/>
            </a:solidFill>
            <a:prstDash val="solid"/>
          </a:ln>
        </p:spPr>
      </p:sp>
      <p:sp>
        <p:nvSpPr>
          <p:cNvPr id="13" name="Text 11"/>
          <p:cNvSpPr/>
          <p:nvPr/>
        </p:nvSpPr>
        <p:spPr>
          <a:xfrm>
            <a:off x="1066800" y="4114800"/>
            <a:ext cx="106217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Ejecución manual del 12 al 16 de octubre de 2026</a:t>
            </a:r>
            <a:endParaRPr lang="en-US" sz="1600" dirty="0"/>
          </a:p>
        </p:txBody>
      </p:sp>
      <p:sp>
        <p:nvSpPr>
          <p:cNvPr id="14" name="Text 12"/>
          <p:cNvSpPr/>
          <p:nvPr/>
        </p:nvSpPr>
        <p:spPr>
          <a:xfrm>
            <a:off x="1066800" y="4450080"/>
            <a:ext cx="106217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Prioridad de calidad: adecuación funcional, seguridad, fiabilidad y usabilidad (ISO/IEC 25010).</a:t>
            </a:r>
            <a:endParaRPr lang="en-US" sz="1400" dirty="0"/>
          </a:p>
        </p:txBody>
      </p:sp>
      <p:sp>
        <p:nvSpPr>
          <p:cNvPr id="15" name="Text 1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Informe final de QA · FrontAccounting 2.4.20</a:t>
            </a:r>
            <a:endParaRPr lang="en-US" sz="1200" dirty="0"/>
          </a:p>
        </p:txBody>
      </p:sp>
      <p:sp>
        <p:nvSpPr>
          <p:cNvPr id="16" name="Text 1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Resultados de la ejecución manual</a:t>
            </a:r>
            <a:endParaRPr lang="en-US" sz="3600" dirty="0"/>
          </a:p>
        </p:txBody>
      </p:sp>
      <p:sp>
        <p:nvSpPr>
          <p:cNvPr id="3" name="Shape 1"/>
          <p:cNvSpPr/>
          <p:nvPr/>
        </p:nvSpPr>
        <p:spPr>
          <a:xfrm>
            <a:off x="815975" y="1623695"/>
            <a:ext cx="2482850" cy="1756410"/>
          </a:xfrm>
          <a:prstGeom prst="roundRect">
            <a:avLst>
              <a:gd name="adj" fmla="val 5604"/>
            </a:avLst>
          </a:prstGeom>
          <a:solidFill>
            <a:srgbClr val="FCFBF7"/>
          </a:solidFill>
          <a:ln w="6350">
            <a:solidFill>
              <a:srgbClr val="DAD6C8"/>
            </a:solidFill>
            <a:prstDash val="solid"/>
          </a:ln>
        </p:spPr>
      </p:sp>
      <p:sp>
        <p:nvSpPr>
          <p:cNvPr id="4" name="Text 2"/>
          <p:cNvSpPr/>
          <p:nvPr/>
        </p:nvSpPr>
        <p:spPr>
          <a:xfrm>
            <a:off x="1046480" y="1854200"/>
            <a:ext cx="2082495"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16</a:t>
            </a:r>
            <a:endParaRPr lang="en-US" sz="5600" dirty="0"/>
          </a:p>
        </p:txBody>
      </p:sp>
      <p:sp>
        <p:nvSpPr>
          <p:cNvPr id="5" name="Text 3"/>
          <p:cNvSpPr/>
          <p:nvPr/>
        </p:nvSpPr>
        <p:spPr>
          <a:xfrm>
            <a:off x="1046480" y="2651761"/>
            <a:ext cx="208249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casos diseñados y ejecutados (100%)</a:t>
            </a:r>
            <a:endParaRPr lang="en-US" sz="1400" dirty="0"/>
          </a:p>
        </p:txBody>
      </p:sp>
      <p:sp>
        <p:nvSpPr>
          <p:cNvPr id="6" name="Shape 4"/>
          <p:cNvSpPr/>
          <p:nvPr/>
        </p:nvSpPr>
        <p:spPr>
          <a:xfrm>
            <a:off x="3508375" y="1623695"/>
            <a:ext cx="2482850" cy="1756410"/>
          </a:xfrm>
          <a:prstGeom prst="roundRect">
            <a:avLst>
              <a:gd name="adj" fmla="val 5604"/>
            </a:avLst>
          </a:prstGeom>
          <a:solidFill>
            <a:srgbClr val="FCFBF7"/>
          </a:solidFill>
          <a:ln w="6350">
            <a:solidFill>
              <a:srgbClr val="DAD6C8"/>
            </a:solidFill>
            <a:prstDash val="solid"/>
          </a:ln>
        </p:spPr>
      </p:sp>
      <p:sp>
        <p:nvSpPr>
          <p:cNvPr id="7" name="Text 5"/>
          <p:cNvSpPr/>
          <p:nvPr/>
        </p:nvSpPr>
        <p:spPr>
          <a:xfrm>
            <a:off x="3738880" y="1854200"/>
            <a:ext cx="2082495"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2F5D8C"/>
                </a:solidFill>
                <a:latin typeface="DM Sans" pitchFamily="34" charset="0"/>
                <a:ea typeface="DM Sans" pitchFamily="34" charset="-122"/>
                <a:cs typeface="DM Sans" pitchFamily="34" charset="-120"/>
              </a:rPr>
              <a:t>13</a:t>
            </a:r>
            <a:endParaRPr lang="en-US" sz="5600" dirty="0"/>
          </a:p>
        </p:txBody>
      </p:sp>
      <p:sp>
        <p:nvSpPr>
          <p:cNvPr id="8" name="Text 6"/>
          <p:cNvSpPr/>
          <p:nvPr/>
        </p:nvSpPr>
        <p:spPr>
          <a:xfrm>
            <a:off x="3738880" y="2651761"/>
            <a:ext cx="20824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aprobados (81.3%)</a:t>
            </a:r>
            <a:endParaRPr lang="en-US" sz="1400" dirty="0"/>
          </a:p>
        </p:txBody>
      </p:sp>
      <p:sp>
        <p:nvSpPr>
          <p:cNvPr id="9" name="Shape 7"/>
          <p:cNvSpPr/>
          <p:nvPr/>
        </p:nvSpPr>
        <p:spPr>
          <a:xfrm>
            <a:off x="6200775" y="1623695"/>
            <a:ext cx="2482850" cy="1756410"/>
          </a:xfrm>
          <a:prstGeom prst="roundRect">
            <a:avLst>
              <a:gd name="adj" fmla="val 5604"/>
            </a:avLst>
          </a:prstGeom>
          <a:solidFill>
            <a:srgbClr val="FCFBF7"/>
          </a:solidFill>
          <a:ln w="6350">
            <a:solidFill>
              <a:srgbClr val="DAD6C8"/>
            </a:solidFill>
            <a:prstDash val="solid"/>
          </a:ln>
        </p:spPr>
      </p:sp>
      <p:sp>
        <p:nvSpPr>
          <p:cNvPr id="10" name="Text 8"/>
          <p:cNvSpPr/>
          <p:nvPr/>
        </p:nvSpPr>
        <p:spPr>
          <a:xfrm>
            <a:off x="6431280" y="1854200"/>
            <a:ext cx="2082495"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B3391F"/>
                </a:solidFill>
                <a:latin typeface="DM Sans" pitchFamily="34" charset="0"/>
                <a:ea typeface="DM Sans" pitchFamily="34" charset="-122"/>
                <a:cs typeface="DM Sans" pitchFamily="34" charset="-120"/>
              </a:rPr>
              <a:t>3</a:t>
            </a:r>
            <a:endParaRPr lang="en-US" sz="5600" dirty="0"/>
          </a:p>
        </p:txBody>
      </p:sp>
      <p:sp>
        <p:nvSpPr>
          <p:cNvPr id="11" name="Text 9"/>
          <p:cNvSpPr/>
          <p:nvPr/>
        </p:nvSpPr>
        <p:spPr>
          <a:xfrm>
            <a:off x="6431280" y="2651761"/>
            <a:ext cx="208249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fallidos: TC-03, TC-13 y TC-15</a:t>
            </a:r>
            <a:endParaRPr lang="en-US" sz="1400" dirty="0"/>
          </a:p>
        </p:txBody>
      </p:sp>
      <p:sp>
        <p:nvSpPr>
          <p:cNvPr id="12" name="Shape 10"/>
          <p:cNvSpPr/>
          <p:nvPr/>
        </p:nvSpPr>
        <p:spPr>
          <a:xfrm>
            <a:off x="8893175" y="1623695"/>
            <a:ext cx="2482850" cy="1756410"/>
          </a:xfrm>
          <a:prstGeom prst="roundRect">
            <a:avLst>
              <a:gd name="adj" fmla="val 5604"/>
            </a:avLst>
          </a:prstGeom>
          <a:solidFill>
            <a:srgbClr val="FCFBF7"/>
          </a:solidFill>
          <a:ln w="6350">
            <a:solidFill>
              <a:srgbClr val="DAD6C8"/>
            </a:solidFill>
            <a:prstDash val="solid"/>
          </a:ln>
        </p:spPr>
      </p:sp>
      <p:sp>
        <p:nvSpPr>
          <p:cNvPr id="13" name="Text 11"/>
          <p:cNvSpPr/>
          <p:nvPr/>
        </p:nvSpPr>
        <p:spPr>
          <a:xfrm>
            <a:off x="9123680" y="1854200"/>
            <a:ext cx="2082495"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10</a:t>
            </a:r>
            <a:endParaRPr lang="en-US" sz="5600" dirty="0"/>
          </a:p>
        </p:txBody>
      </p:sp>
      <p:sp>
        <p:nvSpPr>
          <p:cNvPr id="14" name="Text 12"/>
          <p:cNvSpPr/>
          <p:nvPr/>
        </p:nvSpPr>
        <p:spPr>
          <a:xfrm>
            <a:off x="9123680" y="2651761"/>
            <a:ext cx="208249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bugs reproducidos y documentados</a:t>
            </a:r>
            <a:endParaRPr lang="en-US" sz="1400" dirty="0"/>
          </a:p>
        </p:txBody>
      </p:sp>
      <p:sp>
        <p:nvSpPr>
          <p:cNvPr id="15" name="Shape 13"/>
          <p:cNvSpPr/>
          <p:nvPr/>
        </p:nvSpPr>
        <p:spPr>
          <a:xfrm>
            <a:off x="838200" y="3688080"/>
            <a:ext cx="0" cy="685800"/>
          </a:xfrm>
          <a:prstGeom prst="line">
            <a:avLst/>
          </a:prstGeom>
          <a:noFill/>
          <a:ln w="50800">
            <a:solidFill>
              <a:srgbClr val="D9822B"/>
            </a:solidFill>
            <a:prstDash val="solid"/>
          </a:ln>
        </p:spPr>
      </p:sp>
      <p:sp>
        <p:nvSpPr>
          <p:cNvPr id="16" name="Text 14"/>
          <p:cNvSpPr/>
          <p:nvPr/>
        </p:nvSpPr>
        <p:spPr>
          <a:xfrm>
            <a:off x="1066800" y="3738880"/>
            <a:ext cx="106217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La tasa de aprobación supera la meta de 80% por 1.3 puntos porcentuales.</a:t>
            </a:r>
            <a:endParaRPr lang="en-US" sz="1600" dirty="0"/>
          </a:p>
        </p:txBody>
      </p:sp>
      <p:sp>
        <p:nvSpPr>
          <p:cNvPr id="17" name="Text 15"/>
          <p:cNvSpPr/>
          <p:nvPr/>
        </p:nvSpPr>
        <p:spPr>
          <a:xfrm>
            <a:off x="1066800" y="4074161"/>
            <a:ext cx="106217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Margen estrecho: un solo caso fallido más habría dejado la meta sin cumplir.</a:t>
            </a:r>
            <a:endParaRPr lang="en-US" sz="1400" dirty="0"/>
          </a:p>
        </p:txBody>
      </p:sp>
      <p:sp>
        <p:nvSpPr>
          <p:cNvPr id="18" name="Text 16"/>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secciones 5 y 6</a:t>
            </a:r>
            <a:endParaRPr lang="en-US" sz="1200" dirty="0"/>
          </a:p>
        </p:txBody>
      </p:sp>
      <p:sp>
        <p:nvSpPr>
          <p:cNvPr id="19" name="Text 1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Cumplimiento de metas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0"/>
          <a:ext cx="10556240" cy="2684780"/>
        </p:xfrm>
        <a:graphic>
          <a:graphicData uri="http://schemas.openxmlformats.org/drawingml/2006/table">
            <a:tbl>
              <a:tblPr/>
              <a:tblGrid>
                <a:gridCol w="3483559"/>
                <a:gridCol w="1372311"/>
                <a:gridCol w="3377997"/>
                <a:gridCol w="2322373"/>
              </a:tblGrid>
              <a:tr h="383540">
                <a:tc>
                  <a:txBody>
                    <a:bodyPr/>
                    <a:lstStyle/>
                    <a:p>
                      <a:pPr indent="0" marL="0">
                        <a:lnSpc>
                          <a:spcPts val="1960"/>
                        </a:lnSpc>
                        <a:buNone/>
                      </a:pPr>
                      <a:r>
                        <a:rPr lang="en-US" sz="1400" b="1" dirty="0">
                          <a:solidFill>
                            <a:srgbClr val="F5F3EC"/>
                          </a:solidFill>
                          <a:latin typeface="DM Sans" pitchFamily="34" charset="0"/>
                          <a:ea typeface="DM Sans" pitchFamily="34" charset="-122"/>
                          <a:cs typeface="DM Sans" pitchFamily="34" charset="-120"/>
                        </a:rPr>
                        <a:t>Métrica</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960"/>
                        </a:lnSpc>
                        <a:buNone/>
                      </a:pPr>
                      <a:r>
                        <a:rPr lang="en-US" sz="1400" b="1" dirty="0">
                          <a:solidFill>
                            <a:srgbClr val="F5F3EC"/>
                          </a:solidFill>
                          <a:latin typeface="DM Sans" pitchFamily="34" charset="0"/>
                          <a:ea typeface="DM Sans" pitchFamily="34" charset="-122"/>
                          <a:cs typeface="DM Sans" pitchFamily="34" charset="-120"/>
                        </a:rPr>
                        <a:t>Meta</a:t>
                      </a:r>
                      <a:endParaRPr lang="en-US" sz="1400" dirty="0">
                        <a:latin typeface="DM Sans" charset="0"/>
                        <a:ea typeface="DM Sans" charset="0"/>
                        <a:cs typeface="DM Sans" charset="0"/>
                      </a:endParaRPr>
                    </a:p>
                  </a:txBody>
                  <a:tcPr marL="62230" marR="62230" marT="62230" marB="6223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960"/>
                        </a:lnSpc>
                        <a:buNone/>
                      </a:pPr>
                      <a:r>
                        <a:rPr lang="en-US" sz="1400" b="1" dirty="0">
                          <a:solidFill>
                            <a:srgbClr val="F5F3EC"/>
                          </a:solidFill>
                          <a:latin typeface="DM Sans" pitchFamily="34" charset="0"/>
                          <a:ea typeface="DM Sans" pitchFamily="34" charset="-122"/>
                          <a:cs typeface="DM Sans" pitchFamily="34" charset="-120"/>
                        </a:rPr>
                        <a:t>Resultado</a:t>
                      </a:r>
                      <a:endParaRPr lang="en-US" sz="1400" dirty="0">
                        <a:latin typeface="DM Sans" charset="0"/>
                        <a:ea typeface="DM Sans" charset="0"/>
                        <a:cs typeface="DM Sans" charset="0"/>
                      </a:endParaRPr>
                    </a:p>
                  </a:txBody>
                  <a:tcPr marL="62230" marR="62230" marT="62230" marB="6223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960"/>
                        </a:lnSpc>
                        <a:buNone/>
                      </a:pPr>
                      <a:r>
                        <a:rPr lang="en-US" sz="1400" b="1" dirty="0">
                          <a:solidFill>
                            <a:srgbClr val="F5F3EC"/>
                          </a:solidFill>
                          <a:latin typeface="DM Sans" pitchFamily="34" charset="0"/>
                          <a:ea typeface="DM Sans" pitchFamily="34" charset="-122"/>
                          <a:cs typeface="DM Sans" pitchFamily="34" charset="-120"/>
                        </a:rPr>
                        <a:t>Estado</a:t>
                      </a:r>
                      <a:endParaRPr lang="en-US" sz="1400" dirty="0">
                        <a:latin typeface="DM Sans" charset="0"/>
                        <a:ea typeface="DM Sans" charset="0"/>
                        <a:cs typeface="DM Sans" charset="0"/>
                      </a:endParaRPr>
                    </a:p>
                  </a:txBody>
                  <a:tcPr marL="62230" marR="62230" marT="62230" marB="6223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Casos ejecutados</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100%</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16 de 16</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2E7D4F"/>
                          </a:solidFill>
                          <a:latin typeface="DM Sans" pitchFamily="34" charset="0"/>
                          <a:ea typeface="DM Sans" pitchFamily="34" charset="-122"/>
                          <a:cs typeface="DM Sans" pitchFamily="34" charset="-120"/>
                        </a:rPr>
                        <a:t>Cumple</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Tasa de casos aprobados</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 80%</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81.3% (13 de 16)</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2E7D4F"/>
                          </a:solidFill>
                          <a:latin typeface="DM Sans" pitchFamily="34" charset="0"/>
                          <a:ea typeface="DM Sans" pitchFamily="34" charset="-122"/>
                          <a:cs typeface="DM Sans" pitchFamily="34" charset="-120"/>
                        </a:rPr>
                        <a:t>Cumple</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Cobertura funcional</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 90%</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100% (9 de 9 requisitos)</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2E7D4F"/>
                          </a:solidFill>
                          <a:latin typeface="DM Sans" pitchFamily="34" charset="0"/>
                          <a:ea typeface="DM Sans" pitchFamily="34" charset="-122"/>
                          <a:cs typeface="DM Sans" pitchFamily="34" charset="-120"/>
                        </a:rPr>
                        <a:t>Cumple</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Densidad de defectos</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 0.4</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0.63 (10 bugs / 16 casos)</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B3391F"/>
                          </a:solidFill>
                          <a:latin typeface="DM Sans" pitchFamily="34" charset="0"/>
                          <a:ea typeface="DM Sans" pitchFamily="34" charset="-122"/>
                          <a:cs typeface="DM Sans" pitchFamily="34" charset="-120"/>
                        </a:rPr>
                        <a:t>No cumple</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Cobertura de automatización</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 40%</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81% (13 de 16)</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2E7D4F"/>
                          </a:solidFill>
                          <a:latin typeface="DM Sans" pitchFamily="34" charset="0"/>
                          <a:ea typeface="DM Sans" pitchFamily="34" charset="-122"/>
                          <a:cs typeface="DM Sans" pitchFamily="34" charset="-120"/>
                        </a:rPr>
                        <a:t>Cumple</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Éxito de la suite automatizada</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 90%</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100% (13 de 13)</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960"/>
                        </a:lnSpc>
                        <a:buNone/>
                      </a:pPr>
                      <a:r>
                        <a:rPr lang="en-US" sz="1400" dirty="0">
                          <a:solidFill>
                            <a:srgbClr val="2E7D4F"/>
                          </a:solidFill>
                          <a:latin typeface="DM Sans" pitchFamily="34" charset="0"/>
                          <a:ea typeface="DM Sans" pitchFamily="34" charset="-122"/>
                          <a:cs typeface="DM Sans" pitchFamily="34" charset="-120"/>
                        </a:rPr>
                        <a:t>Cumple, con reserva</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bl>
          </a:graphicData>
        </a:graphic>
      </p:graphicFrame>
      <p:sp>
        <p:nvSpPr>
          <p:cNvPr id="4" name="Shape 1"/>
          <p:cNvSpPr/>
          <p:nvPr/>
        </p:nvSpPr>
        <p:spPr>
          <a:xfrm>
            <a:off x="838200" y="4518661"/>
            <a:ext cx="0" cy="386080"/>
          </a:xfrm>
          <a:prstGeom prst="line">
            <a:avLst/>
          </a:prstGeom>
          <a:noFill/>
          <a:ln w="50800">
            <a:solidFill>
              <a:srgbClr val="D9822B"/>
            </a:solidFill>
            <a:prstDash val="solid"/>
          </a:ln>
        </p:spPr>
      </p:sp>
      <p:sp>
        <p:nvSpPr>
          <p:cNvPr id="5" name="Text 2"/>
          <p:cNvSpPr/>
          <p:nvPr/>
        </p:nvSpPr>
        <p:spPr>
          <a:xfrm>
            <a:off x="1066800" y="4569461"/>
            <a:ext cx="106217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Única meta incumplida: densidad de defectos, 0.63 frente a un máximo de 0.4.</a:t>
            </a:r>
            <a:endParaRPr lang="en-US" sz="1600" dirty="0"/>
          </a:p>
        </p:txBody>
      </p:sp>
      <p:sp>
        <p:nvSpPr>
          <p:cNvPr id="6"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8</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Los tres casos fallidos</a:t>
            </a:r>
            <a:endParaRPr lang="en-US" sz="3600" dirty="0"/>
          </a:p>
        </p:txBody>
      </p:sp>
      <p:sp>
        <p:nvSpPr>
          <p:cNvPr id="3" name="Shape 1"/>
          <p:cNvSpPr/>
          <p:nvPr/>
        </p:nvSpPr>
        <p:spPr>
          <a:xfrm>
            <a:off x="815975" y="1623696"/>
            <a:ext cx="3366770" cy="3249930"/>
          </a:xfrm>
          <a:prstGeom prst="roundRect">
            <a:avLst>
              <a:gd name="adj" fmla="val 3029"/>
            </a:avLst>
          </a:prstGeom>
          <a:solidFill>
            <a:srgbClr val="FCFBF7"/>
          </a:solidFill>
          <a:ln w="6350">
            <a:solidFill>
              <a:srgbClr val="DAD6C8"/>
            </a:solidFill>
            <a:prstDash val="solid"/>
          </a:ln>
        </p:spPr>
      </p:sp>
      <p:sp>
        <p:nvSpPr>
          <p:cNvPr id="4" name="Text 2"/>
          <p:cNvSpPr/>
          <p:nvPr/>
        </p:nvSpPr>
        <p:spPr>
          <a:xfrm>
            <a:off x="1071880" y="1879600"/>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472"/>
                </a:solidFill>
                <a:latin typeface="DM Sans" pitchFamily="34" charset="0"/>
                <a:ea typeface="DM Sans" pitchFamily="34" charset="-122"/>
                <a:cs typeface="DM Sans" pitchFamily="34" charset="-120"/>
              </a:rPr>
              <a:t>TC-03 · Severidad baja</a:t>
            </a:r>
            <a:endParaRPr lang="en-US" sz="1400" dirty="0"/>
          </a:p>
        </p:txBody>
      </p:sp>
      <p:sp>
        <p:nvSpPr>
          <p:cNvPr id="5" name="Text 3"/>
          <p:cNvSpPr/>
          <p:nvPr/>
        </p:nvSpPr>
        <p:spPr>
          <a:xfrm>
            <a:off x="1071880" y="2230121"/>
            <a:ext cx="310769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Login con campos vacíos</a:t>
            </a:r>
            <a:endParaRPr lang="en-US" sz="1800" dirty="0"/>
          </a:p>
        </p:txBody>
      </p:sp>
      <p:sp>
        <p:nvSpPr>
          <p:cNvPr id="6" name="Text 4"/>
          <p:cNvSpPr/>
          <p:nvPr/>
        </p:nvSpPr>
        <p:spPr>
          <a:xfrm>
            <a:off x="1071880" y="2606039"/>
            <a:ext cx="2940609"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Esperado:</a:t>
            </a:r>
            <a:r>
              <a:rPr lang="en-US" sz="1400" dirty="0">
                <a:solidFill>
                  <a:srgbClr val="4A5568"/>
                </a:solidFill>
                <a:latin typeface="DM Sans" pitchFamily="34" charset="0"/>
                <a:ea typeface="DM Sans" pitchFamily="34" charset="-122"/>
                <a:cs typeface="DM Sans" pitchFamily="34" charset="-120"/>
              </a:rPr>
              <a:t> mensaje de campos requeridos.</a:t>
            </a:r>
            <a:endParaRPr lang="en-US" sz="1400" dirty="0"/>
          </a:p>
        </p:txBody>
      </p:sp>
      <p:sp>
        <p:nvSpPr>
          <p:cNvPr id="7" name="Text 5"/>
          <p:cNvSpPr/>
          <p:nvPr/>
        </p:nvSpPr>
        <p:spPr>
          <a:xfrm>
            <a:off x="1071880" y="3205482"/>
            <a:ext cx="2940609"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Observado:</a:t>
            </a:r>
            <a:r>
              <a:rPr lang="en-US" sz="1400" dirty="0">
                <a:solidFill>
                  <a:srgbClr val="4A5568"/>
                </a:solidFill>
                <a:latin typeface="DM Sans" pitchFamily="34" charset="0"/>
                <a:ea typeface="DM Sans" pitchFamily="34" charset="-122"/>
                <a:cs typeface="DM Sans" pitchFamily="34" charset="-120"/>
              </a:rPr>
              <a:t> sin acceso, pero con el mensaje genérico “Invalid password or username” en inglés.</a:t>
            </a:r>
            <a:endParaRPr lang="en-US" sz="1400" dirty="0"/>
          </a:p>
        </p:txBody>
      </p:sp>
      <p:sp>
        <p:nvSpPr>
          <p:cNvPr id="8" name="Text 6"/>
          <p:cNvSpPr/>
          <p:nvPr/>
        </p:nvSpPr>
        <p:spPr>
          <a:xfrm>
            <a:off x="1071880" y="4053839"/>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BUG-08</a:t>
            </a:r>
            <a:endParaRPr lang="en-US" sz="1400" dirty="0"/>
          </a:p>
        </p:txBody>
      </p:sp>
      <p:sp>
        <p:nvSpPr>
          <p:cNvPr id="9" name="Shape 7"/>
          <p:cNvSpPr/>
          <p:nvPr/>
        </p:nvSpPr>
        <p:spPr>
          <a:xfrm>
            <a:off x="4392295" y="1623696"/>
            <a:ext cx="3366770" cy="3249930"/>
          </a:xfrm>
          <a:prstGeom prst="roundRect">
            <a:avLst>
              <a:gd name="adj" fmla="val 3029"/>
            </a:avLst>
          </a:prstGeom>
          <a:solidFill>
            <a:srgbClr val="FCFBF7"/>
          </a:solidFill>
          <a:ln w="6350">
            <a:solidFill>
              <a:srgbClr val="DAD6C8"/>
            </a:solidFill>
            <a:prstDash val="solid"/>
          </a:ln>
        </p:spPr>
      </p:sp>
      <p:sp>
        <p:nvSpPr>
          <p:cNvPr id="10" name="Text 8"/>
          <p:cNvSpPr/>
          <p:nvPr/>
        </p:nvSpPr>
        <p:spPr>
          <a:xfrm>
            <a:off x="4648200" y="1879600"/>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6472"/>
                </a:solidFill>
                <a:latin typeface="DM Sans" pitchFamily="34" charset="0"/>
                <a:ea typeface="DM Sans" pitchFamily="34" charset="-122"/>
                <a:cs typeface="DM Sans" pitchFamily="34" charset="-120"/>
              </a:rPr>
              <a:t>TC-13 · Severidad media</a:t>
            </a:r>
            <a:endParaRPr lang="en-US" sz="1400" dirty="0"/>
          </a:p>
        </p:txBody>
      </p:sp>
      <p:sp>
        <p:nvSpPr>
          <p:cNvPr id="11" name="Text 9"/>
          <p:cNvSpPr/>
          <p:nvPr/>
        </p:nvSpPr>
        <p:spPr>
          <a:xfrm>
            <a:off x="4648200" y="2230121"/>
            <a:ext cx="294060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Cantidad cero en orden de venta</a:t>
            </a:r>
            <a:endParaRPr lang="en-US" sz="1800" dirty="0"/>
          </a:p>
        </p:txBody>
      </p:sp>
      <p:sp>
        <p:nvSpPr>
          <p:cNvPr id="12" name="Text 10"/>
          <p:cNvSpPr/>
          <p:nvPr/>
        </p:nvSpPr>
        <p:spPr>
          <a:xfrm>
            <a:off x="4648200" y="2880361"/>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Esperado:</a:t>
            </a:r>
            <a:r>
              <a:rPr lang="en-US" sz="1400" dirty="0">
                <a:solidFill>
                  <a:srgbClr val="4A5568"/>
                </a:solidFill>
                <a:latin typeface="DM Sans" pitchFamily="34" charset="0"/>
                <a:ea typeface="DM Sans" pitchFamily="34" charset="-122"/>
                <a:cs typeface="DM Sans" pitchFamily="34" charset="-120"/>
              </a:rPr>
              <a:t> rechazo de la línea.</a:t>
            </a:r>
            <a:endParaRPr lang="en-US" sz="1400" dirty="0"/>
          </a:p>
        </p:txBody>
      </p:sp>
      <p:sp>
        <p:nvSpPr>
          <p:cNvPr id="13" name="Text 11"/>
          <p:cNvSpPr/>
          <p:nvPr/>
        </p:nvSpPr>
        <p:spPr>
          <a:xfrm>
            <a:off x="4648200" y="3230882"/>
            <a:ext cx="2940609"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Observado:</a:t>
            </a:r>
            <a:r>
              <a:rPr lang="en-US" sz="1400" dirty="0">
                <a:solidFill>
                  <a:srgbClr val="4A5568"/>
                </a:solidFill>
                <a:latin typeface="DM Sans" pitchFamily="34" charset="0"/>
                <a:ea typeface="DM Sans" pitchFamily="34" charset="-122"/>
                <a:cs typeface="DM Sans" pitchFamily="34" charset="-120"/>
              </a:rPr>
              <a:t> la orden #13 se registró con una línea de cantidad 0 y total 0.00.</a:t>
            </a:r>
            <a:endParaRPr lang="en-US" sz="1400" dirty="0"/>
          </a:p>
        </p:txBody>
      </p:sp>
      <p:sp>
        <p:nvSpPr>
          <p:cNvPr id="14" name="Text 12"/>
          <p:cNvSpPr/>
          <p:nvPr/>
        </p:nvSpPr>
        <p:spPr>
          <a:xfrm>
            <a:off x="4648200" y="4079239"/>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BUG-05</a:t>
            </a:r>
            <a:endParaRPr lang="en-US" sz="1400" dirty="0"/>
          </a:p>
        </p:txBody>
      </p:sp>
      <p:sp>
        <p:nvSpPr>
          <p:cNvPr id="15" name="Shape 13"/>
          <p:cNvSpPr/>
          <p:nvPr/>
        </p:nvSpPr>
        <p:spPr>
          <a:xfrm>
            <a:off x="7978140" y="1633221"/>
            <a:ext cx="3388360" cy="3230880"/>
          </a:xfrm>
          <a:prstGeom prst="roundRect">
            <a:avLst>
              <a:gd name="adj" fmla="val 2752"/>
            </a:avLst>
          </a:prstGeom>
          <a:solidFill>
            <a:srgbClr val="FCFBF7"/>
          </a:solidFill>
          <a:ln w="25400">
            <a:solidFill>
              <a:srgbClr val="D9822B"/>
            </a:solidFill>
            <a:prstDash val="solid"/>
          </a:ln>
        </p:spPr>
      </p:sp>
      <p:sp>
        <p:nvSpPr>
          <p:cNvPr id="16" name="Text 14"/>
          <p:cNvSpPr/>
          <p:nvPr/>
        </p:nvSpPr>
        <p:spPr>
          <a:xfrm>
            <a:off x="8244840" y="1899921"/>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F0C"/>
                </a:solidFill>
                <a:latin typeface="DM Sans" pitchFamily="34" charset="0"/>
                <a:ea typeface="DM Sans" pitchFamily="34" charset="-122"/>
                <a:cs typeface="DM Sans" pitchFamily="34" charset="-120"/>
              </a:rPr>
              <a:t>TC-15 · Severidad alta</a:t>
            </a:r>
            <a:endParaRPr lang="en-US" sz="1400" dirty="0"/>
          </a:p>
        </p:txBody>
      </p:sp>
      <p:sp>
        <p:nvSpPr>
          <p:cNvPr id="17" name="Text 15"/>
          <p:cNvSpPr/>
          <p:nvPr/>
        </p:nvSpPr>
        <p:spPr>
          <a:xfrm>
            <a:off x="8244840" y="2250439"/>
            <a:ext cx="294060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Cancelar una orden facturada</a:t>
            </a:r>
            <a:endParaRPr lang="en-US" sz="1800" dirty="0"/>
          </a:p>
        </p:txBody>
      </p:sp>
      <p:sp>
        <p:nvSpPr>
          <p:cNvPr id="18" name="Text 16"/>
          <p:cNvSpPr/>
          <p:nvPr/>
        </p:nvSpPr>
        <p:spPr>
          <a:xfrm>
            <a:off x="8244840" y="2900682"/>
            <a:ext cx="2940609"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Esperado:</a:t>
            </a:r>
            <a:r>
              <a:rPr lang="en-US" sz="1400" dirty="0">
                <a:solidFill>
                  <a:srgbClr val="4A5568"/>
                </a:solidFill>
                <a:latin typeface="DM Sans" pitchFamily="34" charset="0"/>
                <a:ea typeface="DM Sans" pitchFamily="34" charset="-122"/>
                <a:cs typeface="DM Sans" pitchFamily="34" charset="-120"/>
              </a:rPr>
              <a:t> el sistema no permite la cancelación.</a:t>
            </a:r>
            <a:endParaRPr lang="en-US" sz="1400" dirty="0"/>
          </a:p>
        </p:txBody>
      </p:sp>
      <p:sp>
        <p:nvSpPr>
          <p:cNvPr id="19" name="Text 17"/>
          <p:cNvSpPr/>
          <p:nvPr/>
        </p:nvSpPr>
        <p:spPr>
          <a:xfrm>
            <a:off x="8244840" y="3500121"/>
            <a:ext cx="2940609"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Observado:</a:t>
            </a:r>
            <a:r>
              <a:rPr lang="en-US" sz="1400" dirty="0">
                <a:solidFill>
                  <a:srgbClr val="4A5568"/>
                </a:solidFill>
                <a:latin typeface="DM Sans" pitchFamily="34" charset="0"/>
                <a:ea typeface="DM Sans" pitchFamily="34" charset="-122"/>
                <a:cs typeface="DM Sans" pitchFamily="34" charset="-120"/>
              </a:rPr>
              <a:t> la orden #15, entregada y facturada, se canceló con un mensaje de éxito.</a:t>
            </a:r>
            <a:endParaRPr lang="en-US" sz="1400" dirty="0"/>
          </a:p>
        </p:txBody>
      </p:sp>
      <p:sp>
        <p:nvSpPr>
          <p:cNvPr id="20" name="Text 18"/>
          <p:cNvSpPr/>
          <p:nvPr/>
        </p:nvSpPr>
        <p:spPr>
          <a:xfrm>
            <a:off x="8244840" y="4348482"/>
            <a:ext cx="294060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BUG-10</a:t>
            </a:r>
            <a:endParaRPr lang="en-US" sz="1400" dirty="0"/>
          </a:p>
        </p:txBody>
      </p:sp>
      <p:sp>
        <p:nvSpPr>
          <p:cNvPr id="21" name="Text 19"/>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secciones 5.1 y 10.4</a:t>
            </a:r>
            <a:endParaRPr lang="en-US" sz="1200" dirty="0"/>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9822B"/>
        </a:solidFill>
      </p:bgPr>
    </p:bg>
    <p:spTree>
      <p:nvGrpSpPr>
        <p:cNvPr id="1" name=""/>
        <p:cNvGrpSpPr/>
        <p:nvPr/>
      </p:nvGrpSpPr>
      <p:grpSpPr>
        <a:xfrm>
          <a:off x="0" y="0"/>
          <a:ext cx="0" cy="0"/>
          <a:chOff x="0" y="0"/>
          <a:chExt cx="0" cy="0"/>
        </a:xfrm>
      </p:grpSpPr>
      <p:sp>
        <p:nvSpPr>
          <p:cNvPr id="2" name="Text 0"/>
          <p:cNvSpPr/>
          <p:nvPr/>
        </p:nvSpPr>
        <p:spPr>
          <a:xfrm>
            <a:off x="812800" y="185673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2233F"/>
                </a:solidFill>
                <a:latin typeface="DM Sans" pitchFamily="34" charset="0"/>
                <a:ea typeface="DM Sans" pitchFamily="34" charset="-122"/>
                <a:cs typeface="DM Sans" pitchFamily="34" charset="-120"/>
              </a:rPr>
              <a:t>HALLAZGO DE MAYOR RIESGO · BUG-10</a:t>
            </a:r>
            <a:endParaRPr lang="en-US" sz="1400" dirty="0"/>
          </a:p>
        </p:txBody>
      </p:sp>
      <p:sp>
        <p:nvSpPr>
          <p:cNvPr id="3" name="Text 1"/>
          <p:cNvSpPr/>
          <p:nvPr>
            <p:ph type="title"/>
          </p:nvPr>
        </p:nvSpPr>
        <p:spPr>
          <a:xfrm>
            <a:off x="812800" y="2359661"/>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El sistema permite cancelar una orden ya entregada y facturada</a:t>
            </a:r>
            <a:endParaRPr lang="en-US" sz="3600" dirty="0"/>
          </a:p>
        </p:txBody>
      </p:sp>
      <p:sp>
        <p:nvSpPr>
          <p:cNvPr id="4" name="Text 2"/>
          <p:cNvSpPr/>
          <p:nvPr/>
        </p:nvSpPr>
        <p:spPr>
          <a:xfrm>
            <a:off x="812800" y="3619500"/>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2233F"/>
                </a:solidFill>
                <a:latin typeface="DM Sans" pitchFamily="34" charset="0"/>
                <a:ea typeface="DM Sans" pitchFamily="34" charset="-122"/>
                <a:cs typeface="DM Sans" pitchFamily="34" charset="-120"/>
              </a:rPr>
              <a:t>Orden #15: 5 de 5 unidades entregadas y factura por 1,250.00. Aun así, “Cancelar Orden” respondió con un mensaje de éxito.</a:t>
            </a:r>
            <a:endParaRPr lang="en-US" sz="1800" dirty="0"/>
          </a:p>
        </p:txBody>
      </p:sp>
      <p:sp>
        <p:nvSpPr>
          <p:cNvPr id="5" name="Text 3"/>
          <p:cNvSpPr/>
          <p:nvPr/>
        </p:nvSpPr>
        <p:spPr>
          <a:xfrm>
            <a:off x="812800" y="451358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Afecta una regla de negocio de Ventas. Severidad alta, riesgo 6 (prioridad alta).</a:t>
            </a:r>
            <a:endParaRPr lang="en-US" sz="1600" dirty="0"/>
          </a:p>
        </p:txBody>
      </p:sp>
      <p:sp>
        <p:nvSpPr>
          <p:cNvPr id="6" name="Text 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33F"/>
                </a:solidFill>
                <a:latin typeface="DM Sans" pitchFamily="34" charset="0"/>
                <a:ea typeface="DM Sans" pitchFamily="34" charset="-122"/>
                <a:cs typeface="DM Sans" pitchFamily="34" charset="-120"/>
              </a:rPr>
              <a:t>Fuente: informe final, TC-15 y sección 6.4</a:t>
            </a:r>
            <a:endParaRPr lang="en-US" sz="1200" dirty="0"/>
          </a:p>
        </p:txBody>
      </p:sp>
      <p:sp>
        <p:nvSpPr>
          <p:cNvPr id="7" name="Text 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233F"/>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Bugs: 10 reproducidos, 1 de severidad alta</a:t>
            </a:r>
            <a:endParaRPr lang="en-US" sz="3600" dirty="0"/>
          </a:p>
        </p:txBody>
      </p:sp>
      <p:sp>
        <p:nvSpPr>
          <p:cNvPr id="3" name="Shape 1"/>
          <p:cNvSpPr/>
          <p:nvPr/>
        </p:nvSpPr>
        <p:spPr>
          <a:xfrm>
            <a:off x="815975" y="1623696"/>
            <a:ext cx="5073650" cy="2909570"/>
          </a:xfrm>
          <a:prstGeom prst="roundRect">
            <a:avLst>
              <a:gd name="adj" fmla="val 3383"/>
            </a:avLst>
          </a:prstGeom>
          <a:solidFill>
            <a:srgbClr val="FCFBF7"/>
          </a:solidFill>
          <a:ln w="6350">
            <a:solidFill>
              <a:srgbClr val="DAD6C8"/>
            </a:solidFill>
            <a:prstDash val="solid"/>
          </a:ln>
        </p:spPr>
      </p:sp>
      <p:sp>
        <p:nvSpPr>
          <p:cNvPr id="4" name="Text 2"/>
          <p:cNvSpPr/>
          <p:nvPr/>
        </p:nvSpPr>
        <p:spPr>
          <a:xfrm>
            <a:off x="1071880" y="1879600"/>
            <a:ext cx="46986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Por severidad</a:t>
            </a:r>
            <a:endParaRPr lang="en-US" sz="1800" dirty="0"/>
          </a:p>
        </p:txBody>
      </p:sp>
      <p:sp>
        <p:nvSpPr>
          <p:cNvPr id="5" name="Text 3"/>
          <p:cNvSpPr/>
          <p:nvPr/>
        </p:nvSpPr>
        <p:spPr>
          <a:xfrm>
            <a:off x="1071880" y="2392682"/>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Alta</a:t>
            </a:r>
            <a:endParaRPr lang="en-US" sz="1600" dirty="0"/>
          </a:p>
        </p:txBody>
      </p:sp>
      <p:sp>
        <p:nvSpPr>
          <p:cNvPr id="6" name="Shape 4"/>
          <p:cNvSpPr/>
          <p:nvPr/>
        </p:nvSpPr>
        <p:spPr>
          <a:xfrm>
            <a:off x="1986280" y="2357121"/>
            <a:ext cx="577850" cy="355600"/>
          </a:xfrm>
          <a:prstGeom prst="roundRect">
            <a:avLst>
              <a:gd name="adj" fmla="val 14286"/>
            </a:avLst>
          </a:prstGeom>
          <a:solidFill>
            <a:srgbClr val="D9822B"/>
          </a:solidFill>
          <a:ln/>
        </p:spPr>
      </p:sp>
      <p:sp>
        <p:nvSpPr>
          <p:cNvPr id="7" name="Text 5"/>
          <p:cNvSpPr/>
          <p:nvPr/>
        </p:nvSpPr>
        <p:spPr>
          <a:xfrm>
            <a:off x="2716530" y="2392682"/>
            <a:ext cx="82419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1 (10%)</a:t>
            </a:r>
            <a:endParaRPr lang="en-US" sz="1600" dirty="0"/>
          </a:p>
        </p:txBody>
      </p:sp>
      <p:sp>
        <p:nvSpPr>
          <p:cNvPr id="8" name="Text 6"/>
          <p:cNvSpPr/>
          <p:nvPr/>
        </p:nvSpPr>
        <p:spPr>
          <a:xfrm>
            <a:off x="1071880" y="2951482"/>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Media</a:t>
            </a:r>
            <a:endParaRPr lang="en-US" sz="1600" dirty="0"/>
          </a:p>
        </p:txBody>
      </p:sp>
      <p:sp>
        <p:nvSpPr>
          <p:cNvPr id="9" name="Shape 7"/>
          <p:cNvSpPr/>
          <p:nvPr/>
        </p:nvSpPr>
        <p:spPr>
          <a:xfrm>
            <a:off x="1986280" y="2915921"/>
            <a:ext cx="1162050" cy="355600"/>
          </a:xfrm>
          <a:prstGeom prst="roundRect">
            <a:avLst>
              <a:gd name="adj" fmla="val 14286"/>
            </a:avLst>
          </a:prstGeom>
          <a:solidFill>
            <a:srgbClr val="2F5D8C"/>
          </a:solidFill>
          <a:ln/>
        </p:spPr>
      </p:sp>
      <p:sp>
        <p:nvSpPr>
          <p:cNvPr id="10" name="Text 8"/>
          <p:cNvSpPr/>
          <p:nvPr/>
        </p:nvSpPr>
        <p:spPr>
          <a:xfrm>
            <a:off x="3300730" y="2951482"/>
            <a:ext cx="92706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2 (20%)</a:t>
            </a:r>
            <a:endParaRPr lang="en-US" sz="1600" dirty="0"/>
          </a:p>
        </p:txBody>
      </p:sp>
      <p:sp>
        <p:nvSpPr>
          <p:cNvPr id="11" name="Text 9"/>
          <p:cNvSpPr/>
          <p:nvPr/>
        </p:nvSpPr>
        <p:spPr>
          <a:xfrm>
            <a:off x="1071880" y="3510282"/>
            <a:ext cx="812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Baja</a:t>
            </a:r>
            <a:endParaRPr lang="en-US" sz="1600" dirty="0"/>
          </a:p>
        </p:txBody>
      </p:sp>
      <p:sp>
        <p:nvSpPr>
          <p:cNvPr id="12" name="Shape 10"/>
          <p:cNvSpPr/>
          <p:nvPr/>
        </p:nvSpPr>
        <p:spPr>
          <a:xfrm>
            <a:off x="1986280" y="3474721"/>
            <a:ext cx="2540000" cy="355600"/>
          </a:xfrm>
          <a:prstGeom prst="roundRect">
            <a:avLst>
              <a:gd name="adj" fmla="val 14286"/>
            </a:avLst>
          </a:prstGeom>
          <a:solidFill>
            <a:srgbClr val="7C8CA3"/>
          </a:solidFill>
          <a:ln/>
        </p:spPr>
      </p:sp>
      <p:sp>
        <p:nvSpPr>
          <p:cNvPr id="13" name="Text 11"/>
          <p:cNvSpPr/>
          <p:nvPr/>
        </p:nvSpPr>
        <p:spPr>
          <a:xfrm>
            <a:off x="4678680" y="3510282"/>
            <a:ext cx="90668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7 (70%)</a:t>
            </a:r>
            <a:endParaRPr lang="en-US" sz="1600" dirty="0"/>
          </a:p>
        </p:txBody>
      </p:sp>
      <p:sp>
        <p:nvSpPr>
          <p:cNvPr id="14" name="Shape 12"/>
          <p:cNvSpPr/>
          <p:nvPr/>
        </p:nvSpPr>
        <p:spPr>
          <a:xfrm>
            <a:off x="6302375" y="1623696"/>
            <a:ext cx="5073650" cy="2909570"/>
          </a:xfrm>
          <a:prstGeom prst="roundRect">
            <a:avLst>
              <a:gd name="adj" fmla="val 3383"/>
            </a:avLst>
          </a:prstGeom>
          <a:solidFill>
            <a:srgbClr val="FCFBF7"/>
          </a:solidFill>
          <a:ln w="6350">
            <a:solidFill>
              <a:srgbClr val="DAD6C8"/>
            </a:solidFill>
            <a:prstDash val="solid"/>
          </a:ln>
        </p:spPr>
      </p:sp>
      <p:sp>
        <p:nvSpPr>
          <p:cNvPr id="15" name="Text 13"/>
          <p:cNvSpPr/>
          <p:nvPr/>
        </p:nvSpPr>
        <p:spPr>
          <a:xfrm>
            <a:off x="6558280" y="1879600"/>
            <a:ext cx="46986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Por tipo</a:t>
            </a:r>
            <a:endParaRPr lang="en-US" sz="1800" dirty="0"/>
          </a:p>
        </p:txBody>
      </p:sp>
      <p:sp>
        <p:nvSpPr>
          <p:cNvPr id="16" name="Text 14"/>
          <p:cNvSpPr/>
          <p:nvPr/>
        </p:nvSpPr>
        <p:spPr>
          <a:xfrm>
            <a:off x="6558280" y="2280921"/>
            <a:ext cx="4698695"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6 de interfaz e idioma:</a:t>
            </a:r>
            <a:r>
              <a:rPr lang="en-US" sz="1400" dirty="0">
                <a:solidFill>
                  <a:srgbClr val="4A5568"/>
                </a:solidFill>
                <a:latin typeface="DM Sans" pitchFamily="34" charset="0"/>
                <a:ea typeface="DM Sans" pitchFamily="34" charset="-122"/>
                <a:cs typeface="DM Sans" pitchFamily="34" charset="-120"/>
              </a:rPr>
              <a:t> textos en inglés, etiquetas mal traducidas, opción de menú repetida (BUG-01, 02, 03, 04, 07 y 09).</a:t>
            </a:r>
            <a:endParaRPr lang="en-US" sz="1400" dirty="0"/>
          </a:p>
        </p:txBody>
      </p:sp>
      <p:sp>
        <p:nvSpPr>
          <p:cNvPr id="17" name="Text 15"/>
          <p:cNvSpPr/>
          <p:nvPr/>
        </p:nvSpPr>
        <p:spPr>
          <a:xfrm>
            <a:off x="6558280" y="3154682"/>
            <a:ext cx="4698695"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2 funcionales:</a:t>
            </a:r>
            <a:r>
              <a:rPr lang="en-US" sz="1400" dirty="0">
                <a:solidFill>
                  <a:srgbClr val="4A5568"/>
                </a:solidFill>
                <a:latin typeface="DM Sans" pitchFamily="34" charset="0"/>
                <a:ea typeface="DM Sans" pitchFamily="34" charset="-122"/>
                <a:cs typeface="DM Sans" pitchFamily="34" charset="-120"/>
              </a:rPr>
              <a:t> BUG-05 y BUG-10, ambos con prioridad alta.</a:t>
            </a:r>
            <a:endParaRPr lang="en-US" sz="1400" dirty="0"/>
          </a:p>
        </p:txBody>
      </p:sp>
      <p:sp>
        <p:nvSpPr>
          <p:cNvPr id="18" name="Text 16"/>
          <p:cNvSpPr/>
          <p:nvPr/>
        </p:nvSpPr>
        <p:spPr>
          <a:xfrm>
            <a:off x="6558280" y="3779521"/>
            <a:ext cx="4698695"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2 de validación y usabilidad:</a:t>
            </a:r>
            <a:r>
              <a:rPr lang="en-US" sz="1400" dirty="0">
                <a:solidFill>
                  <a:srgbClr val="4A5568"/>
                </a:solidFill>
                <a:latin typeface="DM Sans" pitchFamily="34" charset="0"/>
                <a:ea typeface="DM Sans" pitchFamily="34" charset="-122"/>
                <a:cs typeface="DM Sans" pitchFamily="34" charset="-120"/>
              </a:rPr>
              <a:t> mensajes inexactos o genéricos (BUG-06 y BUG-08).</a:t>
            </a:r>
            <a:endParaRPr lang="en-US" sz="1400" dirty="0"/>
          </a:p>
        </p:txBody>
      </p:sp>
      <p:sp>
        <p:nvSpPr>
          <p:cNvPr id="19"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secciones 6.2 y 6.3</a:t>
            </a:r>
            <a:endParaRPr lang="en-US" sz="1200" dirty="0"/>
          </a:p>
        </p:txBody>
      </p:sp>
      <p:sp>
        <p:nvSpPr>
          <p:cNvPr id="20"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Automatización con Cypress</a:t>
            </a:r>
            <a:endParaRPr lang="en-US" sz="3600" dirty="0"/>
          </a:p>
        </p:txBody>
      </p:sp>
      <p:sp>
        <p:nvSpPr>
          <p:cNvPr id="3" name="Shape 1"/>
          <p:cNvSpPr/>
          <p:nvPr/>
        </p:nvSpPr>
        <p:spPr>
          <a:xfrm>
            <a:off x="815975" y="1572896"/>
            <a:ext cx="3380264" cy="1456690"/>
          </a:xfrm>
          <a:prstGeom prst="roundRect">
            <a:avLst>
              <a:gd name="adj" fmla="val 6757"/>
            </a:avLst>
          </a:prstGeom>
          <a:solidFill>
            <a:srgbClr val="FCFBF7"/>
          </a:solidFill>
          <a:ln w="6350">
            <a:solidFill>
              <a:srgbClr val="DAD6C8"/>
            </a:solidFill>
            <a:prstDash val="solid"/>
          </a:ln>
        </p:spPr>
      </p:sp>
      <p:sp>
        <p:nvSpPr>
          <p:cNvPr id="4" name="Text 2"/>
          <p:cNvSpPr/>
          <p:nvPr/>
        </p:nvSpPr>
        <p:spPr>
          <a:xfrm>
            <a:off x="1046480" y="1778000"/>
            <a:ext cx="3006831"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13</a:t>
            </a:r>
            <a:endParaRPr lang="en-US" sz="5600" dirty="0"/>
          </a:p>
        </p:txBody>
      </p:sp>
      <p:sp>
        <p:nvSpPr>
          <p:cNvPr id="5" name="Text 3"/>
          <p:cNvSpPr/>
          <p:nvPr/>
        </p:nvSpPr>
        <p:spPr>
          <a:xfrm>
            <a:off x="1046480" y="2575561"/>
            <a:ext cx="300683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de 16 casos con script (81%)</a:t>
            </a:r>
            <a:endParaRPr lang="en-US" sz="1400" dirty="0"/>
          </a:p>
        </p:txBody>
      </p:sp>
      <p:sp>
        <p:nvSpPr>
          <p:cNvPr id="6" name="Shape 4"/>
          <p:cNvSpPr/>
          <p:nvPr/>
        </p:nvSpPr>
        <p:spPr>
          <a:xfrm>
            <a:off x="4405789" y="1572896"/>
            <a:ext cx="3380343" cy="1456690"/>
          </a:xfrm>
          <a:prstGeom prst="roundRect">
            <a:avLst>
              <a:gd name="adj" fmla="val 6757"/>
            </a:avLst>
          </a:prstGeom>
          <a:solidFill>
            <a:srgbClr val="FCFBF7"/>
          </a:solidFill>
          <a:ln w="6350">
            <a:solidFill>
              <a:srgbClr val="DAD6C8"/>
            </a:solidFill>
            <a:prstDash val="solid"/>
          </a:ln>
        </p:spPr>
      </p:sp>
      <p:sp>
        <p:nvSpPr>
          <p:cNvPr id="7" name="Text 5"/>
          <p:cNvSpPr/>
          <p:nvPr/>
        </p:nvSpPr>
        <p:spPr>
          <a:xfrm>
            <a:off x="4636294" y="1778000"/>
            <a:ext cx="3006913"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2F5D8C"/>
                </a:solidFill>
                <a:latin typeface="DM Sans" pitchFamily="34" charset="0"/>
                <a:ea typeface="DM Sans" pitchFamily="34" charset="-122"/>
                <a:cs typeface="DM Sans" pitchFamily="34" charset="-120"/>
              </a:rPr>
              <a:t>13</a:t>
            </a:r>
            <a:endParaRPr lang="en-US" sz="5600" dirty="0"/>
          </a:p>
        </p:txBody>
      </p:sp>
      <p:sp>
        <p:nvSpPr>
          <p:cNvPr id="8" name="Text 6"/>
          <p:cNvSpPr/>
          <p:nvPr/>
        </p:nvSpPr>
        <p:spPr>
          <a:xfrm>
            <a:off x="4636294" y="2575561"/>
            <a:ext cx="30069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de 13 tests en verde (100%)</a:t>
            </a:r>
            <a:endParaRPr lang="en-US" sz="1400" dirty="0"/>
          </a:p>
        </p:txBody>
      </p:sp>
      <p:sp>
        <p:nvSpPr>
          <p:cNvPr id="9" name="Shape 7"/>
          <p:cNvSpPr/>
          <p:nvPr/>
        </p:nvSpPr>
        <p:spPr>
          <a:xfrm>
            <a:off x="7995682" y="1572896"/>
            <a:ext cx="3380343" cy="1456690"/>
          </a:xfrm>
          <a:prstGeom prst="roundRect">
            <a:avLst>
              <a:gd name="adj" fmla="val 6757"/>
            </a:avLst>
          </a:prstGeom>
          <a:solidFill>
            <a:srgbClr val="FCFBF7"/>
          </a:solidFill>
          <a:ln w="6350">
            <a:solidFill>
              <a:srgbClr val="DAD6C8"/>
            </a:solidFill>
            <a:prstDash val="solid"/>
          </a:ln>
        </p:spPr>
      </p:sp>
      <p:sp>
        <p:nvSpPr>
          <p:cNvPr id="10" name="Text 8"/>
          <p:cNvSpPr/>
          <p:nvPr/>
        </p:nvSpPr>
        <p:spPr>
          <a:xfrm>
            <a:off x="8226187" y="1778000"/>
            <a:ext cx="3006913"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21 s</a:t>
            </a:r>
            <a:endParaRPr lang="en-US" sz="5600" dirty="0"/>
          </a:p>
        </p:txBody>
      </p:sp>
      <p:sp>
        <p:nvSpPr>
          <p:cNvPr id="11" name="Text 9"/>
          <p:cNvSpPr/>
          <p:nvPr/>
        </p:nvSpPr>
        <p:spPr>
          <a:xfrm>
            <a:off x="8226187" y="2575561"/>
            <a:ext cx="300691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de duración total, en 3 specs</a:t>
            </a:r>
            <a:endParaRPr lang="en-US" sz="1400" dirty="0"/>
          </a:p>
        </p:txBody>
      </p:sp>
      <p:sp>
        <p:nvSpPr>
          <p:cNvPr id="12" name="Shape 10"/>
          <p:cNvSpPr/>
          <p:nvPr/>
        </p:nvSpPr>
        <p:spPr>
          <a:xfrm>
            <a:off x="825500" y="3299461"/>
            <a:ext cx="10541000" cy="1579880"/>
          </a:xfrm>
          <a:prstGeom prst="roundRect">
            <a:avLst>
              <a:gd name="adj" fmla="val 5627"/>
            </a:avLst>
          </a:prstGeom>
          <a:solidFill>
            <a:srgbClr val="FCFBF7"/>
          </a:solidFill>
          <a:ln w="25400">
            <a:solidFill>
              <a:srgbClr val="D9822B"/>
            </a:solidFill>
            <a:prstDash val="solid"/>
          </a:ln>
        </p:spPr>
      </p:sp>
      <p:sp>
        <p:nvSpPr>
          <p:cNvPr id="13" name="Text 11"/>
          <p:cNvSpPr/>
          <p:nvPr/>
        </p:nvSpPr>
        <p:spPr>
          <a:xfrm>
            <a:off x="1092200" y="3540761"/>
            <a:ext cx="1030782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Un resultado verde no equivale a calidad plena</a:t>
            </a:r>
            <a:endParaRPr lang="en-US" sz="1800" dirty="0"/>
          </a:p>
        </p:txBody>
      </p:sp>
      <p:sp>
        <p:nvSpPr>
          <p:cNvPr id="14" name="Text 12"/>
          <p:cNvSpPr/>
          <p:nvPr/>
        </p:nvSpPr>
        <p:spPr>
          <a:xfrm>
            <a:off x="1092200" y="3891282"/>
            <a:ext cx="1030782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TC-13 pasó en Cypress, pero falló manualmente porque el sistema acepta cantidad 0. TC-05 y TC-09 solo verifican que el formulario cargue, y el TC-12 automatizado prueba una orden sin artículos, no sin cliente. TC-14, TC-15 y TC-16 siguen manuales.</a:t>
            </a:r>
            <a:endParaRPr lang="en-US" sz="14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7</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Conclusiones</a:t>
            </a:r>
            <a:endParaRPr lang="en-US" sz="3600" dirty="0"/>
          </a:p>
        </p:txBody>
      </p:sp>
      <p:sp>
        <p:nvSpPr>
          <p:cNvPr id="3" name="Shape 1"/>
          <p:cNvSpPr/>
          <p:nvPr/>
        </p:nvSpPr>
        <p:spPr>
          <a:xfrm>
            <a:off x="815975" y="1572896"/>
            <a:ext cx="10560050" cy="1050290"/>
          </a:xfrm>
          <a:prstGeom prst="roundRect">
            <a:avLst>
              <a:gd name="adj" fmla="val 9371"/>
            </a:avLst>
          </a:prstGeom>
          <a:solidFill>
            <a:srgbClr val="FCFBF7"/>
          </a:solidFill>
          <a:ln w="6350">
            <a:solidFill>
              <a:srgbClr val="DAD6C8"/>
            </a:solidFill>
            <a:prstDash val="solid"/>
          </a:ln>
        </p:spPr>
      </p:sp>
      <p:sp>
        <p:nvSpPr>
          <p:cNvPr id="4" name="Text 2"/>
          <p:cNvSpPr/>
          <p:nvPr/>
        </p:nvSpPr>
        <p:spPr>
          <a:xfrm>
            <a:off x="1071880" y="1778000"/>
            <a:ext cx="6858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D9822B"/>
                </a:solidFill>
                <a:latin typeface="DM Sans" pitchFamily="34" charset="0"/>
                <a:ea typeface="DM Sans" pitchFamily="34" charset="-122"/>
                <a:cs typeface="DM Sans" pitchFamily="34" charset="-120"/>
              </a:rPr>
              <a:t>1</a:t>
            </a:r>
            <a:endParaRPr lang="en-US" sz="3600" dirty="0"/>
          </a:p>
        </p:txBody>
      </p:sp>
      <p:sp>
        <p:nvSpPr>
          <p:cNvPr id="5" name="Text 3"/>
          <p:cNvSpPr/>
          <p:nvPr/>
        </p:nvSpPr>
        <p:spPr>
          <a:xfrm>
            <a:off x="1960880" y="1823721"/>
            <a:ext cx="943401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233F"/>
                </a:solidFill>
                <a:latin typeface="DM Sans" pitchFamily="34" charset="0"/>
                <a:ea typeface="DM Sans" pitchFamily="34" charset="-122"/>
                <a:cs typeface="DM Sans" pitchFamily="34" charset="-120"/>
              </a:rPr>
              <a:t>Se cumplen los criterios de ejecución y aprobación: 16 de 16 casos ejecutados y 81.3% aprobados.</a:t>
            </a:r>
            <a:endParaRPr lang="en-US" sz="1600" dirty="0"/>
          </a:p>
        </p:txBody>
      </p:sp>
      <p:sp>
        <p:nvSpPr>
          <p:cNvPr id="6" name="Shape 4"/>
          <p:cNvSpPr/>
          <p:nvPr/>
        </p:nvSpPr>
        <p:spPr>
          <a:xfrm>
            <a:off x="815975" y="2883539"/>
            <a:ext cx="10560050" cy="1050290"/>
          </a:xfrm>
          <a:prstGeom prst="roundRect">
            <a:avLst>
              <a:gd name="adj" fmla="val 9371"/>
            </a:avLst>
          </a:prstGeom>
          <a:solidFill>
            <a:srgbClr val="FCFBF7"/>
          </a:solidFill>
          <a:ln w="6350">
            <a:solidFill>
              <a:srgbClr val="DAD6C8"/>
            </a:solidFill>
            <a:prstDash val="solid"/>
          </a:ln>
        </p:spPr>
      </p:sp>
      <p:sp>
        <p:nvSpPr>
          <p:cNvPr id="7" name="Text 5"/>
          <p:cNvSpPr/>
          <p:nvPr/>
        </p:nvSpPr>
        <p:spPr>
          <a:xfrm>
            <a:off x="1071880" y="3088642"/>
            <a:ext cx="6858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D9822B"/>
                </a:solidFill>
                <a:latin typeface="DM Sans" pitchFamily="34" charset="0"/>
                <a:ea typeface="DM Sans" pitchFamily="34" charset="-122"/>
                <a:cs typeface="DM Sans" pitchFamily="34" charset="-120"/>
              </a:rPr>
              <a:t>2</a:t>
            </a:r>
            <a:endParaRPr lang="en-US" sz="3600" dirty="0"/>
          </a:p>
        </p:txBody>
      </p:sp>
      <p:sp>
        <p:nvSpPr>
          <p:cNvPr id="8" name="Text 6"/>
          <p:cNvSpPr/>
          <p:nvPr/>
        </p:nvSpPr>
        <p:spPr>
          <a:xfrm>
            <a:off x="1960880" y="3134364"/>
            <a:ext cx="943401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233F"/>
                </a:solidFill>
                <a:latin typeface="DM Sans" pitchFamily="34" charset="0"/>
                <a:ea typeface="DM Sans" pitchFamily="34" charset="-122"/>
                <a:cs typeface="DM Sans" pitchFamily="34" charset="-120"/>
              </a:rPr>
              <a:t>La estabilidad funcional no cumple la meta: densidad de defectos de 0.63 frente a 0.4. El mayor riesgo está en Ventas (BUG-10 y BUG-05).</a:t>
            </a:r>
            <a:endParaRPr lang="en-US" sz="1600" dirty="0"/>
          </a:p>
        </p:txBody>
      </p:sp>
      <p:sp>
        <p:nvSpPr>
          <p:cNvPr id="9" name="Shape 7"/>
          <p:cNvSpPr/>
          <p:nvPr/>
        </p:nvSpPr>
        <p:spPr>
          <a:xfrm>
            <a:off x="815975" y="4194175"/>
            <a:ext cx="10560050" cy="1050290"/>
          </a:xfrm>
          <a:prstGeom prst="roundRect">
            <a:avLst>
              <a:gd name="adj" fmla="val 9371"/>
            </a:avLst>
          </a:prstGeom>
          <a:solidFill>
            <a:srgbClr val="FCFBF7"/>
          </a:solidFill>
          <a:ln w="6350">
            <a:solidFill>
              <a:srgbClr val="DAD6C8"/>
            </a:solidFill>
            <a:prstDash val="solid"/>
          </a:ln>
        </p:spPr>
      </p:sp>
      <p:sp>
        <p:nvSpPr>
          <p:cNvPr id="10" name="Text 8"/>
          <p:cNvSpPr/>
          <p:nvPr/>
        </p:nvSpPr>
        <p:spPr>
          <a:xfrm>
            <a:off x="1071880" y="4399279"/>
            <a:ext cx="6858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D9822B"/>
                </a:solidFill>
                <a:latin typeface="DM Sans" pitchFamily="34" charset="0"/>
                <a:ea typeface="DM Sans" pitchFamily="34" charset="-122"/>
                <a:cs typeface="DM Sans" pitchFamily="34" charset="-120"/>
              </a:rPr>
              <a:t>3</a:t>
            </a:r>
            <a:endParaRPr lang="en-US" sz="3600" dirty="0"/>
          </a:p>
        </p:txBody>
      </p:sp>
      <p:sp>
        <p:nvSpPr>
          <p:cNvPr id="11" name="Text 9"/>
          <p:cNvSpPr/>
          <p:nvPr/>
        </p:nvSpPr>
        <p:spPr>
          <a:xfrm>
            <a:off x="1960880" y="4445000"/>
            <a:ext cx="943401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2233F"/>
                </a:solidFill>
                <a:latin typeface="DM Sans" pitchFamily="34" charset="0"/>
                <a:ea typeface="DM Sans" pitchFamily="34" charset="-122"/>
                <a:cs typeface="DM Sans" pitchFamily="34" charset="-120"/>
              </a:rPr>
              <a:t>La automatización cubre 81% de los casos, pero necesita aserciones más estrictas para que el verde represente cumplimiento funcional.</a:t>
            </a:r>
            <a:endParaRPr lang="en-US" sz="1600" dirty="0"/>
          </a:p>
        </p:txBody>
      </p:sp>
      <p:sp>
        <p:nvSpPr>
          <p:cNvPr id="12" name="Text 10"/>
          <p:cNvSpPr/>
          <p:nvPr/>
        </p:nvSpPr>
        <p:spPr>
          <a:xfrm>
            <a:off x="812800" y="5501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Pendiente: completar el cierre de evidencias y comunicar formalmente los defectos prioritarios.</a:t>
            </a:r>
            <a:endParaRPr lang="en-US" sz="14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9.1</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Recomendaciones</a:t>
            </a:r>
            <a:endParaRPr lang="en-US" sz="3600" dirty="0"/>
          </a:p>
        </p:txBody>
      </p:sp>
      <p:sp>
        <p:nvSpPr>
          <p:cNvPr id="3" name="Shape 1"/>
          <p:cNvSpPr/>
          <p:nvPr/>
        </p:nvSpPr>
        <p:spPr>
          <a:xfrm>
            <a:off x="825500" y="1582421"/>
            <a:ext cx="5176520" cy="1579880"/>
          </a:xfrm>
          <a:prstGeom prst="roundRect">
            <a:avLst>
              <a:gd name="adj" fmla="val 5627"/>
            </a:avLst>
          </a:prstGeom>
          <a:solidFill>
            <a:srgbClr val="FCFBF7"/>
          </a:solidFill>
          <a:ln w="25400">
            <a:solidFill>
              <a:srgbClr val="D9822B"/>
            </a:solidFill>
            <a:prstDash val="solid"/>
          </a:ln>
        </p:spPr>
      </p:sp>
      <p:sp>
        <p:nvSpPr>
          <p:cNvPr id="4" name="Text 2"/>
          <p:cNvSpPr/>
          <p:nvPr/>
        </p:nvSpPr>
        <p:spPr>
          <a:xfrm>
            <a:off x="1092200" y="1823721"/>
            <a:ext cx="47824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Corregir las reglas de negocio</a:t>
            </a:r>
            <a:endParaRPr lang="en-US" sz="1800" dirty="0"/>
          </a:p>
        </p:txBody>
      </p:sp>
      <p:sp>
        <p:nvSpPr>
          <p:cNvPr id="5" name="Text 3"/>
          <p:cNvSpPr/>
          <p:nvPr/>
        </p:nvSpPr>
        <p:spPr>
          <a:xfrm>
            <a:off x="1092200" y="2174242"/>
            <a:ext cx="478241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Bloquear la cancelación de órdenes con entregas o facturas y exigir cantidad mayor que cero, en cliente y servidor. Luego, regresión de BUG-10 y BUG-05.</a:t>
            </a:r>
            <a:endParaRPr lang="en-US" sz="1400" dirty="0"/>
          </a:p>
        </p:txBody>
      </p:sp>
      <p:sp>
        <p:nvSpPr>
          <p:cNvPr id="6" name="Shape 4"/>
          <p:cNvSpPr/>
          <p:nvPr/>
        </p:nvSpPr>
        <p:spPr>
          <a:xfrm>
            <a:off x="6221095" y="1572896"/>
            <a:ext cx="5154930" cy="1598930"/>
          </a:xfrm>
          <a:prstGeom prst="roundRect">
            <a:avLst>
              <a:gd name="adj" fmla="val 6156"/>
            </a:avLst>
          </a:prstGeom>
          <a:solidFill>
            <a:srgbClr val="FCFBF7"/>
          </a:solidFill>
          <a:ln w="6350">
            <a:solidFill>
              <a:srgbClr val="DAD6C8"/>
            </a:solidFill>
            <a:prstDash val="solid"/>
          </a:ln>
        </p:spPr>
      </p:sp>
      <p:sp>
        <p:nvSpPr>
          <p:cNvPr id="7" name="Text 5"/>
          <p:cNvSpPr/>
          <p:nvPr/>
        </p:nvSpPr>
        <p:spPr>
          <a:xfrm>
            <a:off x="6477000" y="1803400"/>
            <a:ext cx="478241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Completar el idioma español</a:t>
            </a:r>
            <a:endParaRPr lang="en-US" sz="1800" dirty="0"/>
          </a:p>
        </p:txBody>
      </p:sp>
      <p:sp>
        <p:nvSpPr>
          <p:cNvPr id="8" name="Text 6"/>
          <p:cNvSpPr/>
          <p:nvPr/>
        </p:nvSpPr>
        <p:spPr>
          <a:xfrm>
            <a:off x="6477000" y="2153921"/>
            <a:ext cx="47824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Revisar el archivo de idioma: textos en inglés, etiquetas mal traducidas y una opción de menú repetida.</a:t>
            </a:r>
            <a:endParaRPr lang="en-US" sz="1400" dirty="0"/>
          </a:p>
        </p:txBody>
      </p:sp>
      <p:sp>
        <p:nvSpPr>
          <p:cNvPr id="9" name="Shape 7"/>
          <p:cNvSpPr/>
          <p:nvPr/>
        </p:nvSpPr>
        <p:spPr>
          <a:xfrm>
            <a:off x="815975" y="3432175"/>
            <a:ext cx="5175250" cy="1309370"/>
          </a:xfrm>
          <a:prstGeom prst="roundRect">
            <a:avLst>
              <a:gd name="adj" fmla="val 7517"/>
            </a:avLst>
          </a:prstGeom>
          <a:solidFill>
            <a:srgbClr val="FCFBF7"/>
          </a:solidFill>
          <a:ln w="6350">
            <a:solidFill>
              <a:srgbClr val="DAD6C8"/>
            </a:solidFill>
            <a:prstDash val="solid"/>
          </a:ln>
        </p:spPr>
      </p:sp>
      <p:sp>
        <p:nvSpPr>
          <p:cNvPr id="10" name="Text 8"/>
          <p:cNvSpPr/>
          <p:nvPr/>
        </p:nvSpPr>
        <p:spPr>
          <a:xfrm>
            <a:off x="1071880" y="36626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Endurecer la automatización</a:t>
            </a:r>
            <a:endParaRPr lang="en-US" sz="1800" dirty="0"/>
          </a:p>
        </p:txBody>
      </p:sp>
      <p:sp>
        <p:nvSpPr>
          <p:cNvPr id="11" name="Text 9"/>
          <p:cNvSpPr/>
          <p:nvPr/>
        </p:nvSpPr>
        <p:spPr>
          <a:xfrm>
            <a:off x="1071880" y="40132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Aserciones que fallen cuando el sistema acepta datos inválidos, y corridas en Chrome y Firefox.</a:t>
            </a:r>
            <a:endParaRPr lang="en-US" sz="1400" dirty="0"/>
          </a:p>
        </p:txBody>
      </p:sp>
      <p:sp>
        <p:nvSpPr>
          <p:cNvPr id="12" name="Shape 10"/>
          <p:cNvSpPr/>
          <p:nvPr/>
        </p:nvSpPr>
        <p:spPr>
          <a:xfrm>
            <a:off x="6200775" y="3432175"/>
            <a:ext cx="5175250" cy="1309370"/>
          </a:xfrm>
          <a:prstGeom prst="roundRect">
            <a:avLst>
              <a:gd name="adj" fmla="val 7517"/>
            </a:avLst>
          </a:prstGeom>
          <a:solidFill>
            <a:srgbClr val="FCFBF7"/>
          </a:solidFill>
          <a:ln w="6350">
            <a:solidFill>
              <a:srgbClr val="DAD6C8"/>
            </a:solidFill>
            <a:prstDash val="solid"/>
          </a:ln>
        </p:spPr>
      </p:sp>
      <p:sp>
        <p:nvSpPr>
          <p:cNvPr id="13" name="Text 11"/>
          <p:cNvSpPr/>
          <p:nvPr/>
        </p:nvSpPr>
        <p:spPr>
          <a:xfrm>
            <a:off x="6456680" y="36626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33F"/>
                </a:solidFill>
                <a:latin typeface="DM Sans" pitchFamily="34" charset="0"/>
                <a:ea typeface="DM Sans" pitchFamily="34" charset="-122"/>
                <a:cs typeface="DM Sans" pitchFamily="34" charset="-120"/>
              </a:rPr>
              <a:t>Ampliar la cobertura</a:t>
            </a:r>
            <a:endParaRPr lang="en-US" sz="1800" dirty="0"/>
          </a:p>
        </p:txBody>
      </p:sp>
      <p:sp>
        <p:nvSpPr>
          <p:cNvPr id="14" name="Text 12"/>
          <p:cNvSpPr/>
          <p:nvPr/>
        </p:nvSpPr>
        <p:spPr>
          <a:xfrm>
            <a:off x="6456680" y="40132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Automatizar TC-14, TC-15 y TC-16 en el siguiente ciclo.</a:t>
            </a:r>
            <a:endParaRPr lang="en-US" sz="14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9.2</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Lecciones aprendidas</a:t>
            </a:r>
            <a:endParaRPr lang="en-US" sz="3600" dirty="0"/>
          </a:p>
        </p:txBody>
      </p:sp>
      <p:sp>
        <p:nvSpPr>
          <p:cNvPr id="3" name="Shape 1"/>
          <p:cNvSpPr/>
          <p:nvPr/>
        </p:nvSpPr>
        <p:spPr>
          <a:xfrm>
            <a:off x="815975" y="1623696"/>
            <a:ext cx="2482850" cy="2287270"/>
          </a:xfrm>
          <a:prstGeom prst="roundRect">
            <a:avLst>
              <a:gd name="adj" fmla="val 4303"/>
            </a:avLst>
          </a:prstGeom>
          <a:solidFill>
            <a:srgbClr val="FCFBF7"/>
          </a:solidFill>
          <a:ln w="6350">
            <a:solidFill>
              <a:srgbClr val="DAD6C8"/>
            </a:solidFill>
            <a:prstDash val="solid"/>
          </a:ln>
        </p:spPr>
      </p:sp>
      <p:sp>
        <p:nvSpPr>
          <p:cNvPr id="4" name="Text 2"/>
          <p:cNvSpPr/>
          <p:nvPr/>
        </p:nvSpPr>
        <p:spPr>
          <a:xfrm>
            <a:off x="1046480" y="1854200"/>
            <a:ext cx="208249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D9822B"/>
                </a:solidFill>
                <a:latin typeface="DM Sans" pitchFamily="34" charset="0"/>
                <a:ea typeface="DM Sans" pitchFamily="34" charset="-122"/>
                <a:cs typeface="DM Sans" pitchFamily="34" charset="-120"/>
              </a:rPr>
              <a:t>01</a:t>
            </a:r>
            <a:endParaRPr lang="en-US" sz="3600" dirty="0"/>
          </a:p>
        </p:txBody>
      </p:sp>
      <p:sp>
        <p:nvSpPr>
          <p:cNvPr id="5" name="Text 3"/>
          <p:cNvSpPr/>
          <p:nvPr/>
        </p:nvSpPr>
        <p:spPr>
          <a:xfrm>
            <a:off x="1046480" y="2435864"/>
            <a:ext cx="2082495"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33F"/>
                </a:solidFill>
                <a:latin typeface="DM Sans" pitchFamily="34" charset="0"/>
                <a:ea typeface="DM Sans" pitchFamily="34" charset="-122"/>
                <a:cs typeface="DM Sans" pitchFamily="34" charset="-120"/>
              </a:rPr>
              <a:t>Un 100% en verde no prueba calidad: cada prueba debe afirmar el resultado esperado.</a:t>
            </a:r>
            <a:endParaRPr lang="en-US" sz="1400" dirty="0"/>
          </a:p>
        </p:txBody>
      </p:sp>
      <p:sp>
        <p:nvSpPr>
          <p:cNvPr id="6" name="Shape 4"/>
          <p:cNvSpPr/>
          <p:nvPr/>
        </p:nvSpPr>
        <p:spPr>
          <a:xfrm>
            <a:off x="3508375" y="1623696"/>
            <a:ext cx="2482850" cy="2287270"/>
          </a:xfrm>
          <a:prstGeom prst="roundRect">
            <a:avLst>
              <a:gd name="adj" fmla="val 4303"/>
            </a:avLst>
          </a:prstGeom>
          <a:solidFill>
            <a:srgbClr val="FCFBF7"/>
          </a:solidFill>
          <a:ln w="6350">
            <a:solidFill>
              <a:srgbClr val="DAD6C8"/>
            </a:solidFill>
            <a:prstDash val="solid"/>
          </a:ln>
        </p:spPr>
      </p:sp>
      <p:sp>
        <p:nvSpPr>
          <p:cNvPr id="7" name="Text 5"/>
          <p:cNvSpPr/>
          <p:nvPr/>
        </p:nvSpPr>
        <p:spPr>
          <a:xfrm>
            <a:off x="3738880" y="1854200"/>
            <a:ext cx="208249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D9822B"/>
                </a:solidFill>
                <a:latin typeface="DM Sans" pitchFamily="34" charset="0"/>
                <a:ea typeface="DM Sans" pitchFamily="34" charset="-122"/>
                <a:cs typeface="DM Sans" pitchFamily="34" charset="-120"/>
              </a:rPr>
              <a:t>02</a:t>
            </a:r>
            <a:endParaRPr lang="en-US" sz="3600" dirty="0"/>
          </a:p>
        </p:txBody>
      </p:sp>
      <p:sp>
        <p:nvSpPr>
          <p:cNvPr id="8" name="Text 6"/>
          <p:cNvSpPr/>
          <p:nvPr/>
        </p:nvSpPr>
        <p:spPr>
          <a:xfrm>
            <a:off x="3738880" y="2435864"/>
            <a:ext cx="2082495" cy="127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33F"/>
                </a:solidFill>
                <a:latin typeface="DM Sans" pitchFamily="34" charset="0"/>
                <a:ea typeface="DM Sans" pitchFamily="34" charset="-122"/>
                <a:cs typeface="DM Sans" pitchFamily="34" charset="-120"/>
              </a:rPr>
              <a:t>El hosting gratuito de Render duerme el ambiente: hay que despertarlo antes de cada sesión.</a:t>
            </a:r>
            <a:endParaRPr lang="en-US" sz="1400" dirty="0"/>
          </a:p>
        </p:txBody>
      </p:sp>
      <p:sp>
        <p:nvSpPr>
          <p:cNvPr id="9" name="Shape 7"/>
          <p:cNvSpPr/>
          <p:nvPr/>
        </p:nvSpPr>
        <p:spPr>
          <a:xfrm>
            <a:off x="6200775" y="1623696"/>
            <a:ext cx="2482850" cy="2287270"/>
          </a:xfrm>
          <a:prstGeom prst="roundRect">
            <a:avLst>
              <a:gd name="adj" fmla="val 4303"/>
            </a:avLst>
          </a:prstGeom>
          <a:solidFill>
            <a:srgbClr val="FCFBF7"/>
          </a:solidFill>
          <a:ln w="6350">
            <a:solidFill>
              <a:srgbClr val="DAD6C8"/>
            </a:solidFill>
            <a:prstDash val="solid"/>
          </a:ln>
        </p:spPr>
      </p:sp>
      <p:sp>
        <p:nvSpPr>
          <p:cNvPr id="10" name="Text 8"/>
          <p:cNvSpPr/>
          <p:nvPr/>
        </p:nvSpPr>
        <p:spPr>
          <a:xfrm>
            <a:off x="6431280" y="1854200"/>
            <a:ext cx="208249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D9822B"/>
                </a:solidFill>
                <a:latin typeface="DM Sans" pitchFamily="34" charset="0"/>
                <a:ea typeface="DM Sans" pitchFamily="34" charset="-122"/>
                <a:cs typeface="DM Sans" pitchFamily="34" charset="-120"/>
              </a:rPr>
              <a:t>03</a:t>
            </a:r>
            <a:endParaRPr lang="en-US" sz="3600" dirty="0"/>
          </a:p>
        </p:txBody>
      </p:sp>
      <p:sp>
        <p:nvSpPr>
          <p:cNvPr id="11" name="Text 9"/>
          <p:cNvSpPr/>
          <p:nvPr/>
        </p:nvSpPr>
        <p:spPr>
          <a:xfrm>
            <a:off x="6431280" y="2435864"/>
            <a:ext cx="2082495"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33F"/>
                </a:solidFill>
                <a:latin typeface="DM Sans" pitchFamily="34" charset="0"/>
                <a:ea typeface="DM Sans" pitchFamily="34" charset="-122"/>
                <a:cs typeface="DM Sans" pitchFamily="34" charset="-120"/>
              </a:rPr>
              <a:t>La numeración de los casos debe ser la misma en diseño, scripts e informes.</a:t>
            </a:r>
            <a:endParaRPr lang="en-US" sz="1400" dirty="0"/>
          </a:p>
        </p:txBody>
      </p:sp>
      <p:sp>
        <p:nvSpPr>
          <p:cNvPr id="12" name="Shape 10"/>
          <p:cNvSpPr/>
          <p:nvPr/>
        </p:nvSpPr>
        <p:spPr>
          <a:xfrm>
            <a:off x="8893175" y="1623696"/>
            <a:ext cx="2482850" cy="2287270"/>
          </a:xfrm>
          <a:prstGeom prst="roundRect">
            <a:avLst>
              <a:gd name="adj" fmla="val 4303"/>
            </a:avLst>
          </a:prstGeom>
          <a:solidFill>
            <a:srgbClr val="FCFBF7"/>
          </a:solidFill>
          <a:ln w="6350">
            <a:solidFill>
              <a:srgbClr val="DAD6C8"/>
            </a:solidFill>
            <a:prstDash val="solid"/>
          </a:ln>
        </p:spPr>
      </p:sp>
      <p:sp>
        <p:nvSpPr>
          <p:cNvPr id="13" name="Text 11"/>
          <p:cNvSpPr/>
          <p:nvPr/>
        </p:nvSpPr>
        <p:spPr>
          <a:xfrm>
            <a:off x="9123680" y="1854200"/>
            <a:ext cx="2082495" cy="50546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D9822B"/>
                </a:solidFill>
                <a:latin typeface="DM Sans" pitchFamily="34" charset="0"/>
                <a:ea typeface="DM Sans" pitchFamily="34" charset="-122"/>
                <a:cs typeface="DM Sans" pitchFamily="34" charset="-120"/>
              </a:rPr>
              <a:t>04</a:t>
            </a:r>
            <a:endParaRPr lang="en-US" sz="3600" dirty="0"/>
          </a:p>
        </p:txBody>
      </p:sp>
      <p:sp>
        <p:nvSpPr>
          <p:cNvPr id="14" name="Text 12"/>
          <p:cNvSpPr/>
          <p:nvPr/>
        </p:nvSpPr>
        <p:spPr>
          <a:xfrm>
            <a:off x="9123680" y="2435864"/>
            <a:ext cx="2082495"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33F"/>
                </a:solidFill>
                <a:latin typeface="DM Sans" pitchFamily="34" charset="0"/>
                <a:ea typeface="DM Sans" pitchFamily="34" charset="-122"/>
                <a:cs typeface="DM Sans" pitchFamily="34" charset="-120"/>
              </a:rPr>
              <a:t>Cada fila de resultados necesita su evidencia, registrada al momento con captura.</a:t>
            </a:r>
            <a:endParaRPr lang="en-US" sz="14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9.3 (temas para validar en la retrospectiva)</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Plan de mitigación de errores</a:t>
            </a:r>
            <a:endParaRPr lang="en-US" sz="3600" dirty="0"/>
          </a:p>
        </p:txBody>
      </p:sp>
      <p:sp>
        <p:nvSpPr>
          <p:cNvPr id="3" name="Shape 1"/>
          <p:cNvSpPr/>
          <p:nvPr/>
        </p:nvSpPr>
        <p:spPr>
          <a:xfrm>
            <a:off x="815975" y="1623696"/>
            <a:ext cx="3380264" cy="1756410"/>
          </a:xfrm>
          <a:prstGeom prst="roundRect">
            <a:avLst>
              <a:gd name="adj" fmla="val 5604"/>
            </a:avLst>
          </a:prstGeom>
          <a:solidFill>
            <a:srgbClr val="FCFBF7"/>
          </a:solidFill>
          <a:ln w="6350">
            <a:solidFill>
              <a:srgbClr val="DAD6C8"/>
            </a:solidFill>
            <a:prstDash val="solid"/>
          </a:ln>
        </p:spPr>
      </p:sp>
      <p:sp>
        <p:nvSpPr>
          <p:cNvPr id="4" name="Text 2"/>
          <p:cNvSpPr/>
          <p:nvPr/>
        </p:nvSpPr>
        <p:spPr>
          <a:xfrm>
            <a:off x="1046480" y="1854200"/>
            <a:ext cx="3006831"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10</a:t>
            </a:r>
            <a:endParaRPr lang="en-US" sz="5600" dirty="0"/>
          </a:p>
        </p:txBody>
      </p:sp>
      <p:sp>
        <p:nvSpPr>
          <p:cNvPr id="5" name="Text 3"/>
          <p:cNvSpPr/>
          <p:nvPr/>
        </p:nvSpPr>
        <p:spPr>
          <a:xfrm>
            <a:off x="1046480" y="2651764"/>
            <a:ext cx="300683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bugs a corregir: 1 de severidad alta, 2 media y 7 baja</a:t>
            </a:r>
            <a:endParaRPr lang="en-US" sz="1400" dirty="0"/>
          </a:p>
        </p:txBody>
      </p:sp>
      <p:sp>
        <p:nvSpPr>
          <p:cNvPr id="6" name="Shape 4"/>
          <p:cNvSpPr/>
          <p:nvPr/>
        </p:nvSpPr>
        <p:spPr>
          <a:xfrm>
            <a:off x="4405789" y="1623696"/>
            <a:ext cx="3380343" cy="1756410"/>
          </a:xfrm>
          <a:prstGeom prst="roundRect">
            <a:avLst>
              <a:gd name="adj" fmla="val 5604"/>
            </a:avLst>
          </a:prstGeom>
          <a:solidFill>
            <a:srgbClr val="FCFBF7"/>
          </a:solidFill>
          <a:ln w="6350">
            <a:solidFill>
              <a:srgbClr val="DAD6C8"/>
            </a:solidFill>
            <a:prstDash val="solid"/>
          </a:ln>
        </p:spPr>
      </p:sp>
      <p:sp>
        <p:nvSpPr>
          <p:cNvPr id="7" name="Text 5"/>
          <p:cNvSpPr/>
          <p:nvPr/>
        </p:nvSpPr>
        <p:spPr>
          <a:xfrm>
            <a:off x="4636294" y="1854200"/>
            <a:ext cx="3006913"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2F5D8C"/>
                </a:solidFill>
                <a:latin typeface="DM Sans" pitchFamily="34" charset="0"/>
                <a:ea typeface="DM Sans" pitchFamily="34" charset="-122"/>
                <a:cs typeface="DM Sans" pitchFamily="34" charset="-120"/>
              </a:rPr>
              <a:t>153 h</a:t>
            </a:r>
            <a:endParaRPr lang="en-US" sz="5600" dirty="0"/>
          </a:p>
        </p:txBody>
      </p:sp>
      <p:sp>
        <p:nvSpPr>
          <p:cNvPr id="8" name="Text 6"/>
          <p:cNvSpPr/>
          <p:nvPr/>
        </p:nvSpPr>
        <p:spPr>
          <a:xfrm>
            <a:off x="4636294" y="2651764"/>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de esfuerzo total, en horas-persona</a:t>
            </a:r>
            <a:endParaRPr lang="en-US" sz="1400" dirty="0"/>
          </a:p>
        </p:txBody>
      </p:sp>
      <p:sp>
        <p:nvSpPr>
          <p:cNvPr id="9" name="Shape 7"/>
          <p:cNvSpPr/>
          <p:nvPr/>
        </p:nvSpPr>
        <p:spPr>
          <a:xfrm>
            <a:off x="7995682" y="1623696"/>
            <a:ext cx="3380343" cy="1756410"/>
          </a:xfrm>
          <a:prstGeom prst="roundRect">
            <a:avLst>
              <a:gd name="adj" fmla="val 5604"/>
            </a:avLst>
          </a:prstGeom>
          <a:solidFill>
            <a:srgbClr val="FCFBF7"/>
          </a:solidFill>
          <a:ln w="6350">
            <a:solidFill>
              <a:srgbClr val="DAD6C8"/>
            </a:solidFill>
            <a:prstDash val="solid"/>
          </a:ln>
        </p:spPr>
      </p:sp>
      <p:sp>
        <p:nvSpPr>
          <p:cNvPr id="10" name="Text 8"/>
          <p:cNvSpPr/>
          <p:nvPr/>
        </p:nvSpPr>
        <p:spPr>
          <a:xfrm>
            <a:off x="8226187" y="1854200"/>
            <a:ext cx="3006913" cy="77216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12233F"/>
                </a:solidFill>
                <a:latin typeface="DM Sans" pitchFamily="34" charset="0"/>
                <a:ea typeface="DM Sans" pitchFamily="34" charset="-122"/>
                <a:cs typeface="DM Sans" pitchFamily="34" charset="-120"/>
              </a:rPr>
              <a:t>3 sem</a:t>
            </a:r>
            <a:endParaRPr lang="en-US" sz="5600" dirty="0"/>
          </a:p>
        </p:txBody>
      </p:sp>
      <p:sp>
        <p:nvSpPr>
          <p:cNvPr id="11" name="Text 9"/>
          <p:cNvSpPr/>
          <p:nvPr/>
        </p:nvSpPr>
        <p:spPr>
          <a:xfrm>
            <a:off x="8226187" y="2651764"/>
            <a:ext cx="300691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15 días hábiles con un developer; 2 semanas con un segundo</a:t>
            </a:r>
            <a:endParaRPr lang="en-US" sz="1400" dirty="0"/>
          </a:p>
        </p:txBody>
      </p:sp>
      <p:sp>
        <p:nvSpPr>
          <p:cNvPr id="12" name="Shape 10"/>
          <p:cNvSpPr/>
          <p:nvPr/>
        </p:nvSpPr>
        <p:spPr>
          <a:xfrm>
            <a:off x="812800" y="3688079"/>
            <a:ext cx="10566400" cy="1361440"/>
          </a:xfrm>
          <a:prstGeom prst="roundRect">
            <a:avLst>
              <a:gd name="adj" fmla="val 7463"/>
            </a:avLst>
          </a:prstGeom>
          <a:solidFill>
            <a:srgbClr val="12233F"/>
          </a:solidFill>
          <a:ln/>
        </p:spPr>
      </p:sp>
      <p:sp>
        <p:nvSpPr>
          <p:cNvPr id="13" name="Text 11"/>
          <p:cNvSpPr/>
          <p:nvPr/>
        </p:nvSpPr>
        <p:spPr>
          <a:xfrm>
            <a:off x="1117600" y="4048764"/>
            <a:ext cx="313944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8A04F"/>
                </a:solidFill>
                <a:latin typeface="DM Sans" pitchFamily="34" charset="0"/>
                <a:ea typeface="DM Sans" pitchFamily="34" charset="-122"/>
                <a:cs typeface="DM Sans" pitchFamily="34" charset="-120"/>
              </a:rPr>
              <a:t>USD 4,360</a:t>
            </a:r>
            <a:endParaRPr lang="en-US" sz="3600" dirty="0"/>
          </a:p>
        </p:txBody>
      </p:sp>
      <p:sp>
        <p:nvSpPr>
          <p:cNvPr id="14" name="Text 12"/>
          <p:cNvSpPr/>
          <p:nvPr/>
        </p:nvSpPr>
        <p:spPr>
          <a:xfrm>
            <a:off x="4470400" y="3942079"/>
            <a:ext cx="6802120"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5F3EC"/>
                </a:solidFill>
                <a:latin typeface="DM Sans" pitchFamily="34" charset="0"/>
                <a:ea typeface="DM Sans" pitchFamily="34" charset="-122"/>
                <a:cs typeface="DM Sans" pitchFamily="34" charset="-120"/>
              </a:rPr>
              <a:t>Costo total del plan: USD 3,791 de costo base más 15% de contingencia (USD 569)</a:t>
            </a:r>
            <a:endParaRPr lang="en-US" sz="1600" dirty="0"/>
          </a:p>
        </p:txBody>
      </p:sp>
      <p:sp>
        <p:nvSpPr>
          <p:cNvPr id="15" name="Text 13"/>
          <p:cNvSpPr/>
          <p:nvPr/>
        </p:nvSpPr>
        <p:spPr>
          <a:xfrm>
            <a:off x="4470400" y="4546600"/>
            <a:ext cx="68021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DM Sans" pitchFamily="34" charset="0"/>
                <a:ea typeface="DM Sans" pitchFamily="34" charset="-122"/>
                <a:cs typeface="DM Sans" pitchFamily="34" charset="-120"/>
              </a:rPr>
              <a:t>Corrección USD 2,374 · Prevención USD 1,249 · Regresión final USD 168</a:t>
            </a:r>
            <a:endParaRPr lang="en-US" sz="1400" dirty="0"/>
          </a:p>
        </p:txBody>
      </p:sp>
      <p:sp>
        <p:nvSpPr>
          <p:cNvPr id="16" name="Text 14"/>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Estimaciones académicas en USD, no una cotización comercial · Fuente: informe final, secciones 10, 11 y 17</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Primera semana: bugs de prioridad alta</a:t>
            </a:r>
            <a:endParaRPr lang="en-US" sz="3600" dirty="0"/>
          </a:p>
        </p:txBody>
      </p:sp>
      <p:sp>
        <p:nvSpPr>
          <p:cNvPr id="3" name="Shape 1"/>
          <p:cNvSpPr/>
          <p:nvPr/>
        </p:nvSpPr>
        <p:spPr>
          <a:xfrm>
            <a:off x="825500" y="1582421"/>
            <a:ext cx="5156200" cy="2768600"/>
          </a:xfrm>
          <a:prstGeom prst="roundRect">
            <a:avLst>
              <a:gd name="adj" fmla="val 3211"/>
            </a:avLst>
          </a:prstGeom>
          <a:solidFill>
            <a:srgbClr val="FCFBF7"/>
          </a:solidFill>
          <a:ln w="25400">
            <a:solidFill>
              <a:srgbClr val="D9822B"/>
            </a:solidFill>
            <a:prstDash val="solid"/>
          </a:ln>
        </p:spPr>
      </p:sp>
      <p:sp>
        <p:nvSpPr>
          <p:cNvPr id="4" name="Text 2"/>
          <p:cNvSpPr/>
          <p:nvPr/>
        </p:nvSpPr>
        <p:spPr>
          <a:xfrm>
            <a:off x="1092200" y="1823721"/>
            <a:ext cx="476148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4F0C"/>
                </a:solidFill>
                <a:latin typeface="DM Sans" pitchFamily="34" charset="0"/>
                <a:ea typeface="DM Sans" pitchFamily="34" charset="-122"/>
                <a:cs typeface="DM Sans" pitchFamily="34" charset="-120"/>
              </a:rPr>
              <a:t>BUG-10 · Severidad alta</a:t>
            </a:r>
            <a:endParaRPr lang="en-US" sz="1300" dirty="0"/>
          </a:p>
        </p:txBody>
      </p:sp>
      <p:sp>
        <p:nvSpPr>
          <p:cNvPr id="5" name="Text 3"/>
          <p:cNvSpPr/>
          <p:nvPr/>
        </p:nvSpPr>
        <p:spPr>
          <a:xfrm>
            <a:off x="1092200" y="2156464"/>
            <a:ext cx="48768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Cancelar una orden ya entregada y facturada</a:t>
            </a:r>
            <a:endParaRPr lang="en-US" sz="1600" dirty="0"/>
          </a:p>
        </p:txBody>
      </p:sp>
      <p:sp>
        <p:nvSpPr>
          <p:cNvPr id="6" name="Text 4"/>
          <p:cNvSpPr/>
          <p:nvPr/>
        </p:nvSpPr>
        <p:spPr>
          <a:xfrm>
            <a:off x="1092200" y="2501900"/>
            <a:ext cx="4761484"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Corrección:</a:t>
            </a:r>
            <a:r>
              <a:rPr lang="en-US" sz="1300" dirty="0">
                <a:solidFill>
                  <a:srgbClr val="4A5568"/>
                </a:solidFill>
                <a:latin typeface="DM Sans" pitchFamily="34" charset="0"/>
                <a:ea typeface="DM Sans" pitchFamily="34" charset="-122"/>
                <a:cs typeface="DM Sans" pitchFamily="34" charset="-120"/>
              </a:rPr>
              <a:t> bloquear la cancelación en el servidor cuando hay entregas o facturas; ocultar el botón y mostrar un mensaje claro.</a:t>
            </a:r>
            <a:endParaRPr lang="en-US" sz="1300" dirty="0"/>
          </a:p>
        </p:txBody>
      </p:sp>
      <p:sp>
        <p:nvSpPr>
          <p:cNvPr id="7" name="Text 5"/>
          <p:cNvSpPr/>
          <p:nvPr/>
        </p:nvSpPr>
        <p:spPr>
          <a:xfrm>
            <a:off x="1092200" y="3296921"/>
            <a:ext cx="4761484"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Verificación:</a:t>
            </a:r>
            <a:r>
              <a:rPr lang="en-US" sz="1300" dirty="0">
                <a:solidFill>
                  <a:srgbClr val="4A5568"/>
                </a:solidFill>
                <a:latin typeface="DM Sans" pitchFamily="34" charset="0"/>
                <a:ea typeface="DM Sans" pitchFamily="34" charset="-122"/>
                <a:cs typeface="DM Sans" pitchFamily="34" charset="-120"/>
              </a:rPr>
              <a:t> TC-15 pasa de Falló a Pasó; regresión de cancelar cotización, orden sin entregas y entrega parcial.</a:t>
            </a:r>
            <a:endParaRPr lang="en-US" sz="1300" dirty="0"/>
          </a:p>
        </p:txBody>
      </p:sp>
      <p:sp>
        <p:nvSpPr>
          <p:cNvPr id="8" name="Text 6"/>
          <p:cNvSpPr/>
          <p:nvPr/>
        </p:nvSpPr>
        <p:spPr>
          <a:xfrm>
            <a:off x="1092200" y="3860800"/>
            <a:ext cx="47614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21 h · USD 549 · 3 días hábiles</a:t>
            </a:r>
            <a:endParaRPr lang="en-US" sz="1400" dirty="0"/>
          </a:p>
        </p:txBody>
      </p:sp>
      <p:sp>
        <p:nvSpPr>
          <p:cNvPr id="9" name="Shape 7"/>
          <p:cNvSpPr/>
          <p:nvPr/>
        </p:nvSpPr>
        <p:spPr>
          <a:xfrm>
            <a:off x="6210300" y="1582421"/>
            <a:ext cx="5156200" cy="2768600"/>
          </a:xfrm>
          <a:prstGeom prst="roundRect">
            <a:avLst>
              <a:gd name="adj" fmla="val 3211"/>
            </a:avLst>
          </a:prstGeom>
          <a:solidFill>
            <a:srgbClr val="FCFBF7"/>
          </a:solidFill>
          <a:ln w="25400">
            <a:solidFill>
              <a:srgbClr val="D9822B"/>
            </a:solidFill>
            <a:prstDash val="solid"/>
          </a:ln>
        </p:spPr>
      </p:sp>
      <p:sp>
        <p:nvSpPr>
          <p:cNvPr id="10" name="Text 8"/>
          <p:cNvSpPr/>
          <p:nvPr/>
        </p:nvSpPr>
        <p:spPr>
          <a:xfrm>
            <a:off x="6477000" y="1823721"/>
            <a:ext cx="476148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4F0C"/>
                </a:solidFill>
                <a:latin typeface="DM Sans" pitchFamily="34" charset="0"/>
                <a:ea typeface="DM Sans" pitchFamily="34" charset="-122"/>
                <a:cs typeface="DM Sans" pitchFamily="34" charset="-120"/>
              </a:rPr>
              <a:t>BUG-05 · Severidad media, prioridad alta</a:t>
            </a:r>
            <a:endParaRPr lang="en-US" sz="1300" dirty="0"/>
          </a:p>
        </p:txBody>
      </p:sp>
      <p:sp>
        <p:nvSpPr>
          <p:cNvPr id="11" name="Text 9"/>
          <p:cNvSpPr/>
          <p:nvPr/>
        </p:nvSpPr>
        <p:spPr>
          <a:xfrm>
            <a:off x="6477000" y="2156464"/>
            <a:ext cx="47614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Línea de orden de venta con cantidad 0</a:t>
            </a:r>
            <a:endParaRPr lang="en-US" sz="1600" dirty="0"/>
          </a:p>
        </p:txBody>
      </p:sp>
      <p:sp>
        <p:nvSpPr>
          <p:cNvPr id="12" name="Text 10"/>
          <p:cNvSpPr/>
          <p:nvPr/>
        </p:nvSpPr>
        <p:spPr>
          <a:xfrm>
            <a:off x="6477000" y="2501900"/>
            <a:ext cx="4761484"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Corrección:</a:t>
            </a:r>
            <a:r>
              <a:rPr lang="en-US" sz="1300" dirty="0">
                <a:solidFill>
                  <a:srgbClr val="4A5568"/>
                </a:solidFill>
                <a:latin typeface="DM Sans" pitchFamily="34" charset="0"/>
                <a:ea typeface="DM Sans" pitchFamily="34" charset="-122"/>
                <a:cs typeface="DM Sans" pitchFamily="34" charset="-120"/>
              </a:rPr>
              <a:t> validar cantidad mayor que 0 en cliente y servidor; revisar el mismo patrón en cotización, factura directa y orden de compra.</a:t>
            </a:r>
            <a:endParaRPr lang="en-US" sz="1300" dirty="0"/>
          </a:p>
        </p:txBody>
      </p:sp>
      <p:sp>
        <p:nvSpPr>
          <p:cNvPr id="13" name="Text 11"/>
          <p:cNvSpPr/>
          <p:nvPr/>
        </p:nvSpPr>
        <p:spPr>
          <a:xfrm>
            <a:off x="6477000" y="3296921"/>
            <a:ext cx="4761484"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Verificación:</a:t>
            </a:r>
            <a:r>
              <a:rPr lang="en-US" sz="1300" dirty="0">
                <a:solidFill>
                  <a:srgbClr val="4A5568"/>
                </a:solidFill>
                <a:latin typeface="DM Sans" pitchFamily="34" charset="0"/>
                <a:ea typeface="DM Sans" pitchFamily="34" charset="-122"/>
                <a:cs typeface="DM Sans" pitchFamily="34" charset="-120"/>
              </a:rPr>
              <a:t> TC-13 rechaza 0 y acepta 1; regresión del camino feliz TC-11.</a:t>
            </a:r>
            <a:endParaRPr lang="en-US" sz="1300" dirty="0"/>
          </a:p>
        </p:txBody>
      </p:sp>
      <p:sp>
        <p:nvSpPr>
          <p:cNvPr id="14" name="Text 12"/>
          <p:cNvSpPr/>
          <p:nvPr/>
        </p:nvSpPr>
        <p:spPr>
          <a:xfrm>
            <a:off x="6477000" y="3860800"/>
            <a:ext cx="47614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19 h · USD 496 · 3 días hábiles</a:t>
            </a:r>
            <a:endParaRPr lang="en-US" sz="1400" dirty="0"/>
          </a:p>
        </p:txBody>
      </p:sp>
      <p:sp>
        <p:nvSpPr>
          <p:cNvPr id="15" name="Shape 13"/>
          <p:cNvSpPr/>
          <p:nvPr/>
        </p:nvSpPr>
        <p:spPr>
          <a:xfrm>
            <a:off x="838200" y="4617721"/>
            <a:ext cx="0" cy="386080"/>
          </a:xfrm>
          <a:prstGeom prst="line">
            <a:avLst/>
          </a:prstGeom>
          <a:noFill/>
          <a:ln w="50800">
            <a:solidFill>
              <a:srgbClr val="D9822B"/>
            </a:solidFill>
            <a:prstDash val="solid"/>
          </a:ln>
        </p:spPr>
      </p:sp>
      <p:sp>
        <p:nvSpPr>
          <p:cNvPr id="16" name="Text 14"/>
          <p:cNvSpPr/>
          <p:nvPr/>
        </p:nvSpPr>
        <p:spPr>
          <a:xfrm>
            <a:off x="1066800" y="4668521"/>
            <a:ext cx="106217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33F"/>
                </a:solidFill>
                <a:latin typeface="DM Sans" pitchFamily="34" charset="0"/>
                <a:ea typeface="DM Sans" pitchFamily="34" charset="-122"/>
                <a:cs typeface="DM Sans" pitchFamily="34" charset="-120"/>
              </a:rPr>
              <a:t>Juntos: 40 h y USD 1,045, cerca de una cuarta parte del presupuesto total.</a:t>
            </a:r>
            <a:endParaRPr lang="en-US" sz="1600" dirty="0"/>
          </a:p>
        </p:txBody>
      </p:sp>
      <p:sp>
        <p:nvSpPr>
          <p:cNvPr id="17" name="Text 15"/>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secciones 12.1 y 13</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Validación y localización</a:t>
            </a:r>
            <a:endParaRPr lang="en-US" sz="3600" dirty="0"/>
          </a:p>
        </p:txBody>
      </p:sp>
      <p:sp>
        <p:nvSpPr>
          <p:cNvPr id="3" name="Shape 1"/>
          <p:cNvSpPr/>
          <p:nvPr/>
        </p:nvSpPr>
        <p:spPr>
          <a:xfrm>
            <a:off x="815975" y="1572896"/>
            <a:ext cx="4895850" cy="1499870"/>
          </a:xfrm>
          <a:prstGeom prst="roundRect">
            <a:avLst>
              <a:gd name="adj" fmla="val 6562"/>
            </a:avLst>
          </a:prstGeom>
          <a:solidFill>
            <a:srgbClr val="FCFBF7"/>
          </a:solidFill>
          <a:ln w="6350">
            <a:solidFill>
              <a:srgbClr val="DAD6C8"/>
            </a:solidFill>
            <a:prstDash val="solid"/>
          </a:ln>
        </p:spPr>
      </p:sp>
      <p:sp>
        <p:nvSpPr>
          <p:cNvPr id="4" name="Text 2"/>
          <p:cNvSpPr/>
          <p:nvPr/>
        </p:nvSpPr>
        <p:spPr>
          <a:xfrm>
            <a:off x="1071880" y="1778000"/>
            <a:ext cx="4515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BUG-08 · Login con campos vacíos</a:t>
            </a:r>
            <a:endParaRPr lang="en-US" sz="1600" dirty="0"/>
          </a:p>
        </p:txBody>
      </p:sp>
      <p:sp>
        <p:nvSpPr>
          <p:cNvPr id="5" name="Text 3"/>
          <p:cNvSpPr/>
          <p:nvPr/>
        </p:nvSpPr>
        <p:spPr>
          <a:xfrm>
            <a:off x="1071880" y="2098042"/>
            <a:ext cx="45155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Validar campos obligatorios en cliente y servidor con mensaje propio en español, sin revelar si el usuario existe.</a:t>
            </a:r>
            <a:endParaRPr lang="en-US" sz="1300" dirty="0"/>
          </a:p>
        </p:txBody>
      </p:sp>
      <p:sp>
        <p:nvSpPr>
          <p:cNvPr id="6" name="Text 4"/>
          <p:cNvSpPr/>
          <p:nvPr/>
        </p:nvSpPr>
        <p:spPr>
          <a:xfrm>
            <a:off x="1071880" y="2636521"/>
            <a:ext cx="45155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33F"/>
                </a:solidFill>
                <a:latin typeface="DM Sans" pitchFamily="34" charset="0"/>
                <a:ea typeface="DM Sans" pitchFamily="34" charset="-122"/>
                <a:cs typeface="DM Sans" pitchFamily="34" charset="-120"/>
              </a:rPr>
              <a:t>8 h · USD 209 · 2 días</a:t>
            </a:r>
            <a:endParaRPr lang="en-US" sz="1300" dirty="0"/>
          </a:p>
        </p:txBody>
      </p:sp>
      <p:sp>
        <p:nvSpPr>
          <p:cNvPr id="7" name="Shape 5"/>
          <p:cNvSpPr/>
          <p:nvPr/>
        </p:nvSpPr>
        <p:spPr>
          <a:xfrm>
            <a:off x="815975" y="3282317"/>
            <a:ext cx="4895850" cy="1499870"/>
          </a:xfrm>
          <a:prstGeom prst="roundRect">
            <a:avLst>
              <a:gd name="adj" fmla="val 6562"/>
            </a:avLst>
          </a:prstGeom>
          <a:solidFill>
            <a:srgbClr val="FCFBF7"/>
          </a:solidFill>
          <a:ln w="6350">
            <a:solidFill>
              <a:srgbClr val="DAD6C8"/>
            </a:solidFill>
            <a:prstDash val="solid"/>
          </a:ln>
        </p:spPr>
      </p:sp>
      <p:sp>
        <p:nvSpPr>
          <p:cNvPr id="8" name="Text 6"/>
          <p:cNvSpPr/>
          <p:nvPr/>
        </p:nvSpPr>
        <p:spPr>
          <a:xfrm>
            <a:off x="1071880" y="3487421"/>
            <a:ext cx="4515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BUG-06 · Precio negativo</a:t>
            </a:r>
            <a:endParaRPr lang="en-US" sz="1600" dirty="0"/>
          </a:p>
        </p:txBody>
      </p:sp>
      <p:sp>
        <p:nvSpPr>
          <p:cNvPr id="9" name="Text 7"/>
          <p:cNvSpPr/>
          <p:nvPr/>
        </p:nvSpPr>
        <p:spPr>
          <a:xfrm>
            <a:off x="1071880" y="3807464"/>
            <a:ext cx="45155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Agregar una validación y un mensaje específicos para precio negativo; revisar otros campos de precio.</a:t>
            </a:r>
            <a:endParaRPr lang="en-US" sz="1300" dirty="0"/>
          </a:p>
        </p:txBody>
      </p:sp>
      <p:sp>
        <p:nvSpPr>
          <p:cNvPr id="10" name="Text 8"/>
          <p:cNvSpPr/>
          <p:nvPr/>
        </p:nvSpPr>
        <p:spPr>
          <a:xfrm>
            <a:off x="1071880" y="4345942"/>
            <a:ext cx="45155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33F"/>
                </a:solidFill>
                <a:latin typeface="DM Sans" pitchFamily="34" charset="0"/>
                <a:ea typeface="DM Sans" pitchFamily="34" charset="-122"/>
                <a:cs typeface="DM Sans" pitchFamily="34" charset="-120"/>
              </a:rPr>
              <a:t>5 h · USD 126 · 1 día</a:t>
            </a:r>
            <a:endParaRPr lang="en-US" sz="1300" dirty="0"/>
          </a:p>
        </p:txBody>
      </p:sp>
      <p:sp>
        <p:nvSpPr>
          <p:cNvPr id="11" name="Shape 9"/>
          <p:cNvSpPr/>
          <p:nvPr/>
        </p:nvSpPr>
        <p:spPr>
          <a:xfrm>
            <a:off x="5930900" y="1582421"/>
            <a:ext cx="5435600" cy="3190240"/>
          </a:xfrm>
          <a:prstGeom prst="roundRect">
            <a:avLst>
              <a:gd name="adj" fmla="val 2787"/>
            </a:avLst>
          </a:prstGeom>
          <a:solidFill>
            <a:srgbClr val="FCFBF7"/>
          </a:solidFill>
          <a:ln w="25400">
            <a:solidFill>
              <a:srgbClr val="D9822B"/>
            </a:solidFill>
            <a:prstDash val="solid"/>
          </a:ln>
        </p:spPr>
      </p:sp>
      <p:sp>
        <p:nvSpPr>
          <p:cNvPr id="12" name="Text 10"/>
          <p:cNvSpPr/>
          <p:nvPr/>
        </p:nvSpPr>
        <p:spPr>
          <a:xfrm>
            <a:off x="6197600" y="1798321"/>
            <a:ext cx="5049266"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Paquete de localización: BUG-01, 02, 03, 04, 07 y 09</a:t>
            </a:r>
            <a:endParaRPr lang="en-US" sz="1600" dirty="0"/>
          </a:p>
        </p:txBody>
      </p:sp>
      <p:sp>
        <p:nvSpPr>
          <p:cNvPr id="13" name="Text 11"/>
          <p:cNvSpPr/>
          <p:nvPr/>
        </p:nvSpPr>
        <p:spPr>
          <a:xfrm>
            <a:off x="6197600" y="2387600"/>
            <a:ext cx="504926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Misma causa: el archivo de idioma en español tiene cadenas sin traducir, mal asignadas o repetidas.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07760" y="2961639"/>
          <a:ext cx="4892040" cy="1427480"/>
        </p:xfrm>
        <a:graphic>
          <a:graphicData uri="http://schemas.openxmlformats.org/drawingml/2006/table">
            <a:tbl>
              <a:tblPr/>
              <a:tblGrid>
                <a:gridCol w="1858975"/>
                <a:gridCol w="684886"/>
                <a:gridCol w="1271930"/>
                <a:gridCol w="1076249"/>
              </a:tblGrid>
              <a:tr h="356870">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Enfoque</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Horas</a:t>
                      </a:r>
                      <a:endParaRPr lang="en-US" sz="1300" dirty="0">
                        <a:latin typeface="DM Sans" charset="0"/>
                        <a:ea typeface="DM Sans" charset="0"/>
                        <a:cs typeface="DM Sans" charset="0"/>
                      </a:endParaRPr>
                    </a:p>
                  </a:txBody>
                  <a:tcPr marL="57785" marR="57785" marT="57785" marB="57785"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Costo</a:t>
                      </a:r>
                      <a:endParaRPr lang="en-US" sz="1300" dirty="0">
                        <a:latin typeface="DM Sans" charset="0"/>
                        <a:ea typeface="DM Sans" charset="0"/>
                        <a:cs typeface="DM Sans" charset="0"/>
                      </a:endParaRPr>
                    </a:p>
                  </a:txBody>
                  <a:tcPr marL="57785" marR="57785" marT="57785" marB="57785"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Duración</a:t>
                      </a:r>
                      <a:endParaRPr lang="en-US" sz="1300" dirty="0">
                        <a:latin typeface="DM Sans" charset="0"/>
                        <a:ea typeface="DM Sans" charset="0"/>
                        <a:cs typeface="DM Sans" charset="0"/>
                      </a:endParaRPr>
                    </a:p>
                  </a:txBody>
                  <a:tcPr marL="57785" marR="57785" marT="57785" marB="57785"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r>
              <a:tr h="35687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Por separado</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64.5</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USD 1,360</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~12 días</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Un paquete</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46</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USD 994</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4 días</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356870">
                <a:tc>
                  <a:txBody>
                    <a:bodyPr/>
                    <a:lstStyle/>
                    <a:p>
                      <a:pPr indent="0" marL="0">
                        <a:lnSpc>
                          <a:spcPts val="1820"/>
                        </a:lnSpc>
                        <a:buNone/>
                      </a:pPr>
                      <a:r>
                        <a:rPr lang="en-US" sz="1300" dirty="0">
                          <a:solidFill>
                            <a:srgbClr val="2E7D4F"/>
                          </a:solidFill>
                          <a:latin typeface="DM Sans" pitchFamily="34" charset="0"/>
                          <a:ea typeface="DM Sans" pitchFamily="34" charset="-122"/>
                          <a:cs typeface="DM Sans" pitchFamily="34" charset="-120"/>
                        </a:rPr>
                        <a:t>Ahorro</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2E7D4F"/>
                          </a:solidFill>
                          <a:latin typeface="DM Sans" pitchFamily="34" charset="0"/>
                          <a:ea typeface="DM Sans" pitchFamily="34" charset="-122"/>
                          <a:cs typeface="DM Sans" pitchFamily="34" charset="-120"/>
                        </a:rPr>
                        <a:t>18.5</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2E7D4F"/>
                          </a:solidFill>
                          <a:latin typeface="DM Sans" pitchFamily="34" charset="0"/>
                          <a:ea typeface="DM Sans" pitchFamily="34" charset="-122"/>
                          <a:cs typeface="DM Sans" pitchFamily="34" charset="-120"/>
                        </a:rPr>
                        <a:t>USD 366</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2E7D4F"/>
                          </a:solidFill>
                          <a:latin typeface="DM Sans" pitchFamily="34" charset="0"/>
                          <a:ea typeface="DM Sans" pitchFamily="34" charset="-122"/>
                          <a:cs typeface="DM Sans" pitchFamily="34" charset="-120"/>
                        </a:rPr>
                        <a:t>27%</a:t>
                      </a:r>
                      <a:endParaRPr lang="en-US" sz="1300" dirty="0">
                        <a:latin typeface="DM Sans" charset="0"/>
                        <a:ea typeface="DM Sans" charset="0"/>
                        <a:cs typeface="DM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15" name="Text 12"/>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secciones 12.2, 12.3 y 14</a:t>
            </a:r>
            <a:endParaRPr lang="en-US" sz="1200" dirty="0"/>
          </a:p>
        </p:txBody>
      </p:sp>
      <p:sp>
        <p:nvSpPr>
          <p:cNvPr id="16"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Acciones preventivas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1"/>
          <a:ext cx="10556240" cy="2738120"/>
        </p:xfrm>
        <a:graphic>
          <a:graphicData uri="http://schemas.openxmlformats.org/drawingml/2006/table">
            <a:tbl>
              <a:tblPr/>
              <a:tblGrid>
                <a:gridCol w="738937"/>
                <a:gridCol w="5172558"/>
                <a:gridCol w="2955747"/>
                <a:gridCol w="1688998"/>
              </a:tblGrid>
              <a:tr h="330200">
                <a:tc>
                  <a:txBody>
                    <a:bodyPr/>
                    <a:lstStyle/>
                    <a:p>
                      <a:pPr indent="0" marL="0">
                        <a:lnSpc>
                          <a:spcPts val="1680"/>
                        </a:lnSpc>
                        <a:buNone/>
                      </a:pPr>
                      <a:r>
                        <a:rPr lang="en-US" sz="1200" b="1" dirty="0">
                          <a:solidFill>
                            <a:srgbClr val="F5F3EC"/>
                          </a:solidFill>
                          <a:latin typeface="DM Sans" pitchFamily="34" charset="0"/>
                          <a:ea typeface="DM Sans" pitchFamily="34" charset="-122"/>
                          <a:cs typeface="DM Sans" pitchFamily="34" charset="-120"/>
                        </a:rPr>
                        <a:t>ID</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680"/>
                        </a:lnSpc>
                        <a:buNone/>
                      </a:pPr>
                      <a:r>
                        <a:rPr lang="en-US" sz="1200" b="1" dirty="0">
                          <a:solidFill>
                            <a:srgbClr val="F5F3EC"/>
                          </a:solidFill>
                          <a:latin typeface="DM Sans" pitchFamily="34" charset="0"/>
                          <a:ea typeface="DM Sans" pitchFamily="34" charset="-122"/>
                          <a:cs typeface="DM Sans" pitchFamily="34" charset="-120"/>
                        </a:rPr>
                        <a:t>Acción</a:t>
                      </a:r>
                      <a:endParaRPr lang="en-US" sz="1200" dirty="0">
                        <a:latin typeface="DM Sans" charset="0"/>
                        <a:ea typeface="DM Sans" charset="0"/>
                        <a:cs typeface="DM Sans" charset="0"/>
                      </a:endParaRPr>
                    </a:p>
                  </a:txBody>
                  <a:tcPr marL="53340" marR="53340" marT="53340" marB="5334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680"/>
                        </a:lnSpc>
                        <a:buNone/>
                      </a:pPr>
                      <a:r>
                        <a:rPr lang="en-US" sz="1200" b="1" dirty="0">
                          <a:solidFill>
                            <a:srgbClr val="F5F3EC"/>
                          </a:solidFill>
                          <a:latin typeface="DM Sans" pitchFamily="34" charset="0"/>
                          <a:ea typeface="DM Sans" pitchFamily="34" charset="-122"/>
                          <a:cs typeface="DM Sans" pitchFamily="34" charset="-120"/>
                        </a:rPr>
                        <a:t>Previene</a:t>
                      </a:r>
                      <a:endParaRPr lang="en-US" sz="1200" dirty="0">
                        <a:latin typeface="DM Sans" charset="0"/>
                        <a:ea typeface="DM Sans" charset="0"/>
                        <a:cs typeface="DM Sans" charset="0"/>
                      </a:endParaRPr>
                    </a:p>
                  </a:txBody>
                  <a:tcPr marL="53340" marR="53340" marT="53340" marB="5334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680"/>
                        </a:lnSpc>
                        <a:buNone/>
                      </a:pPr>
                      <a:r>
                        <a:rPr lang="en-US" sz="1200" b="1" dirty="0">
                          <a:solidFill>
                            <a:srgbClr val="F5F3EC"/>
                          </a:solidFill>
                          <a:latin typeface="DM Sans" pitchFamily="34" charset="0"/>
                          <a:ea typeface="DM Sans" pitchFamily="34" charset="-122"/>
                          <a:cs typeface="DM Sans" pitchFamily="34" charset="-120"/>
                        </a:rPr>
                        <a:t>Costo (USD)</a:t>
                      </a:r>
                      <a:endParaRPr lang="en-US" sz="1200" dirty="0">
                        <a:latin typeface="DM Sans" charset="0"/>
                        <a:ea typeface="DM Sans" charset="0"/>
                        <a:cs typeface="DM Sans" charset="0"/>
                      </a:endParaRPr>
                    </a:p>
                  </a:txBody>
                  <a:tcPr marL="53340" marR="53340" marT="53340" marB="5334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r>
              <a:tr h="330200">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P1</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Endurecer las aserciones de Cypress (TC-03, 05, 09, 12 y 13)</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BUG-05, BUG-08</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372</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P2</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Automatizar TC-14 y TC-16, con el límite exacto de 101 unidades</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BUG-05, BUG-10</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204</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543560">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P3</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Integración continua: suite Cypress en cada cambio, en Chrome y Firefox</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Todos</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310</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P4</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Verificador automático de idioma en el archivo de español</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BUG-01, 02, 03, 04, 07, 09</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204</a:t>
                      </a:r>
                      <a:endParaRPr lang="en-US" sz="1200" dirty="0">
                        <a:latin typeface="DM Sans" charset="0"/>
                        <a:ea typeface="DM Sans" charset="0"/>
                        <a:cs typeface="DM Sans" charset="0"/>
                      </a:endParaRPr>
                    </a:p>
                  </a:txBody>
                  <a:tcPr marL="53340" marR="53340" marT="53340" marB="5334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543560">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P5</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Proceso: actualizar la Definición de Hecho y la lista de revisión de código; retrospectiva</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BUG-05, 06, 08, 10</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159</a:t>
                      </a: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0200">
                <a:tc>
                  <a:txBody>
                    <a:bodyPr/>
                    <a:lstStyle/>
                    <a:p>
                      <a:pPr indent="0" marL="0">
                        <a:lnSpc>
                          <a:spcPts val="1680"/>
                        </a:lnSpc>
                        <a:buNone/>
                      </a:pPr>
                      <a:endParaRPr lang="en-US" sz="1200" dirty="0">
                        <a:latin typeface="DM Sans" charset="0"/>
                        <a:ea typeface="DM Sans" charset="0"/>
                        <a:cs typeface="DM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Total de prevención</a:t>
                      </a:r>
                      <a:endParaRPr lang="en-US" sz="1200" dirty="0">
                        <a:latin typeface="DM Sans" charset="0"/>
                        <a:ea typeface="DM Sans" charset="0"/>
                        <a:cs typeface="DM Sans" charset="0"/>
                      </a:endParaRPr>
                    </a:p>
                  </a:txBody>
                  <a:tcPr marL="53340" marR="53340" marT="53340" marB="53340" anchor="t">
                    <a:lnL w="12700" cap="flat" cmpd="sng" algn="ctr">
                      <a:solidFill>
                        <a:srgbClr val="AE6A26"/>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c>
                  <a:txBody>
                    <a:bodyPr/>
                    <a:lstStyle/>
                    <a:p>
                      <a:pPr indent="0" marL="0">
                        <a:lnSpc>
                          <a:spcPts val="1680"/>
                        </a:lnSpc>
                        <a:buNone/>
                      </a:pPr>
                      <a:endParaRPr lang="en-US" sz="1200" dirty="0">
                        <a:latin typeface="DM Sans" charset="0"/>
                        <a:ea typeface="DM Sans" charset="0"/>
                        <a:cs typeface="DM Sans" charset="0"/>
                      </a:endParaRPr>
                    </a:p>
                  </a:txBody>
                  <a:tcPr marL="53340" marR="53340" marT="53340" marB="53340" anchor="t">
                    <a:lnL w="12700" cap="flat" cmpd="sng" algn="ctr">
                      <a:solidFill>
                        <a:srgbClr val="AE6A26"/>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c>
                  <a:txBody>
                    <a:bodyPr/>
                    <a:lstStyle/>
                    <a:p>
                      <a:pPr indent="0" marL="0">
                        <a:lnSpc>
                          <a:spcPts val="1680"/>
                        </a:lnSpc>
                        <a:buNone/>
                      </a:pPr>
                      <a:r>
                        <a:rPr lang="en-US" sz="1200" dirty="0">
                          <a:solidFill>
                            <a:srgbClr val="12233F"/>
                          </a:solidFill>
                          <a:latin typeface="DM Sans" pitchFamily="34" charset="0"/>
                          <a:ea typeface="DM Sans" pitchFamily="34" charset="-122"/>
                          <a:cs typeface="DM Sans" pitchFamily="34" charset="-120"/>
                        </a:rPr>
                        <a:t>1,249</a:t>
                      </a:r>
                      <a:endParaRPr lang="en-US" sz="1200" dirty="0">
                        <a:latin typeface="DM Sans" charset="0"/>
                        <a:ea typeface="DM Sans" charset="0"/>
                        <a:cs typeface="DM Sans" charset="0"/>
                      </a:endParaRPr>
                    </a:p>
                  </a:txBody>
                  <a:tcPr marL="53340" marR="53340" marT="53340" marB="53340" anchor="t">
                    <a:lnL w="12700" cap="flat" cmpd="sng" algn="ctr">
                      <a:solidFill>
                        <a:srgbClr val="AE6A26"/>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r>
            </a:tbl>
          </a:graphicData>
        </a:graphic>
      </p:graphicFrame>
      <p:sp>
        <p:nvSpPr>
          <p:cNvPr id="4" name="Text 1"/>
          <p:cNvSpPr/>
          <p:nvPr/>
        </p:nvSpPr>
        <p:spPr>
          <a:xfrm>
            <a:off x="812800" y="4572000"/>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Opcional, fuera del total: un hosting sin suspensión por inactividad para el ambiente QA, cerca de USD 7 al mes (a confirmar con el proveedor).</a:t>
            </a:r>
            <a:endParaRPr lang="en-US" sz="1300" dirty="0"/>
          </a:p>
        </p:txBody>
      </p:sp>
      <p:sp>
        <p:nvSpPr>
          <p:cNvPr id="5" name="Text 2"/>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15</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Cronograma: tres semanas</a:t>
            </a:r>
            <a:endParaRPr lang="en-US" sz="3600" dirty="0"/>
          </a:p>
        </p:txBody>
      </p:sp>
      <p:sp>
        <p:nvSpPr>
          <p:cNvPr id="3" name="Shape 1"/>
          <p:cNvSpPr/>
          <p:nvPr/>
        </p:nvSpPr>
        <p:spPr>
          <a:xfrm>
            <a:off x="825500" y="1582427"/>
            <a:ext cx="3388360" cy="2283460"/>
          </a:xfrm>
          <a:prstGeom prst="roundRect">
            <a:avLst>
              <a:gd name="adj" fmla="val 3893"/>
            </a:avLst>
          </a:prstGeom>
          <a:solidFill>
            <a:srgbClr val="FCFBF7"/>
          </a:solidFill>
          <a:ln w="25400">
            <a:solidFill>
              <a:srgbClr val="D9822B"/>
            </a:solidFill>
            <a:prstDash val="solid"/>
          </a:ln>
        </p:spPr>
      </p:sp>
      <p:sp>
        <p:nvSpPr>
          <p:cNvPr id="4" name="Text 2"/>
          <p:cNvSpPr/>
          <p:nvPr/>
        </p:nvSpPr>
        <p:spPr>
          <a:xfrm>
            <a:off x="1066800" y="1798327"/>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F0C"/>
                </a:solidFill>
                <a:latin typeface="DM Sans" pitchFamily="34" charset="0"/>
                <a:ea typeface="DM Sans" pitchFamily="34" charset="-122"/>
                <a:cs typeface="DM Sans" pitchFamily="34" charset="-120"/>
              </a:rPr>
              <a:t>Semana 1 · 27 h de desarrollo</a:t>
            </a:r>
            <a:endParaRPr lang="en-US" sz="1400" dirty="0"/>
          </a:p>
        </p:txBody>
      </p:sp>
      <p:sp>
        <p:nvSpPr>
          <p:cNvPr id="5" name="Text 3"/>
          <p:cNvSpPr/>
          <p:nvPr/>
        </p:nvSpPr>
        <p:spPr>
          <a:xfrm>
            <a:off x="1066800" y="2136142"/>
            <a:ext cx="2992933"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BUG-10, BUG-05, BUG-08 y BUG-06 corregidos y verificados</a:t>
            </a:r>
            <a:endParaRPr lang="en-US" sz="1600" dirty="0"/>
          </a:p>
        </p:txBody>
      </p:sp>
      <p:sp>
        <p:nvSpPr>
          <p:cNvPr id="6" name="Text 4"/>
          <p:cNvSpPr/>
          <p:nvPr/>
        </p:nvSpPr>
        <p:spPr>
          <a:xfrm>
            <a:off x="1066800" y="2956558"/>
            <a:ext cx="2992933"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Resultado:</a:t>
            </a:r>
            <a:r>
              <a:rPr lang="en-US" sz="1300" dirty="0">
                <a:solidFill>
                  <a:srgbClr val="4A5568"/>
                </a:solidFill>
                <a:latin typeface="DM Sans" pitchFamily="34" charset="0"/>
                <a:ea typeface="DM Sans" pitchFamily="34" charset="-122"/>
                <a:cs typeface="DM Sans" pitchFamily="34" charset="-120"/>
              </a:rPr>
              <a:t> reglas de negocio de Ventas protegidas; login con validación propia.</a:t>
            </a:r>
            <a:endParaRPr lang="en-US" sz="1300" dirty="0"/>
          </a:p>
        </p:txBody>
      </p:sp>
      <p:sp>
        <p:nvSpPr>
          <p:cNvPr id="7" name="Shape 5"/>
          <p:cNvSpPr/>
          <p:nvPr/>
        </p:nvSpPr>
        <p:spPr>
          <a:xfrm>
            <a:off x="4432935" y="1572902"/>
            <a:ext cx="3366770" cy="2302510"/>
          </a:xfrm>
          <a:prstGeom prst="roundRect">
            <a:avLst>
              <a:gd name="adj" fmla="val 4275"/>
            </a:avLst>
          </a:prstGeom>
          <a:solidFill>
            <a:srgbClr val="FCFBF7"/>
          </a:solidFill>
          <a:ln w="6350">
            <a:solidFill>
              <a:srgbClr val="DAD6C8"/>
            </a:solidFill>
            <a:prstDash val="solid"/>
          </a:ln>
        </p:spPr>
      </p:sp>
      <p:sp>
        <p:nvSpPr>
          <p:cNvPr id="8" name="Text 6"/>
          <p:cNvSpPr/>
          <p:nvPr/>
        </p:nvSpPr>
        <p:spPr>
          <a:xfrm>
            <a:off x="4663440" y="1778000"/>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F0C"/>
                </a:solidFill>
                <a:latin typeface="DM Sans" pitchFamily="34" charset="0"/>
                <a:ea typeface="DM Sans" pitchFamily="34" charset="-122"/>
                <a:cs typeface="DM Sans" pitchFamily="34" charset="-120"/>
              </a:rPr>
              <a:t>Semana 2 · 28 h de desarrollo</a:t>
            </a:r>
            <a:endParaRPr lang="en-US" sz="1400" dirty="0"/>
          </a:p>
        </p:txBody>
      </p:sp>
      <p:sp>
        <p:nvSpPr>
          <p:cNvPr id="9" name="Text 7"/>
          <p:cNvSpPr/>
          <p:nvPr/>
        </p:nvSpPr>
        <p:spPr>
          <a:xfrm>
            <a:off x="4663440" y="2115827"/>
            <a:ext cx="2992933"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Paquete de localización completo y P1 (aserciones endurecidas)</a:t>
            </a:r>
            <a:endParaRPr lang="en-US" sz="1600" dirty="0"/>
          </a:p>
        </p:txBody>
      </p:sp>
      <p:sp>
        <p:nvSpPr>
          <p:cNvPr id="10" name="Text 8"/>
          <p:cNvSpPr/>
          <p:nvPr/>
        </p:nvSpPr>
        <p:spPr>
          <a:xfrm>
            <a:off x="4663440" y="2936242"/>
            <a:ext cx="2992933"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Resultado:</a:t>
            </a:r>
            <a:r>
              <a:rPr lang="en-US" sz="1300" dirty="0">
                <a:solidFill>
                  <a:srgbClr val="4A5568"/>
                </a:solidFill>
                <a:latin typeface="DM Sans" pitchFamily="34" charset="0"/>
                <a:ea typeface="DM Sans" pitchFamily="34" charset="-122"/>
                <a:cs typeface="DM Sans" pitchFamily="34" charset="-120"/>
              </a:rPr>
              <a:t> interfaz en español consistente; suite que falla cuando debe.</a:t>
            </a:r>
            <a:endParaRPr lang="en-US" sz="1300" dirty="0"/>
          </a:p>
        </p:txBody>
      </p:sp>
      <p:sp>
        <p:nvSpPr>
          <p:cNvPr id="11" name="Shape 9"/>
          <p:cNvSpPr/>
          <p:nvPr/>
        </p:nvSpPr>
        <p:spPr>
          <a:xfrm>
            <a:off x="8009255" y="1572902"/>
            <a:ext cx="3366770" cy="2302510"/>
          </a:xfrm>
          <a:prstGeom prst="roundRect">
            <a:avLst>
              <a:gd name="adj" fmla="val 4275"/>
            </a:avLst>
          </a:prstGeom>
          <a:solidFill>
            <a:srgbClr val="FCFBF7"/>
          </a:solidFill>
          <a:ln w="6350">
            <a:solidFill>
              <a:srgbClr val="DAD6C8"/>
            </a:solidFill>
            <a:prstDash val="solid"/>
          </a:ln>
        </p:spPr>
      </p:sp>
      <p:sp>
        <p:nvSpPr>
          <p:cNvPr id="12" name="Text 10"/>
          <p:cNvSpPr/>
          <p:nvPr/>
        </p:nvSpPr>
        <p:spPr>
          <a:xfrm>
            <a:off x="8239760" y="1778000"/>
            <a:ext cx="29929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4F0C"/>
                </a:solidFill>
                <a:latin typeface="DM Sans" pitchFamily="34" charset="0"/>
                <a:ea typeface="DM Sans" pitchFamily="34" charset="-122"/>
                <a:cs typeface="DM Sans" pitchFamily="34" charset="-120"/>
              </a:rPr>
              <a:t>Semana 3 · 21 h de desarrollo</a:t>
            </a:r>
            <a:endParaRPr lang="en-US" sz="1400" dirty="0"/>
          </a:p>
        </p:txBody>
      </p:sp>
      <p:sp>
        <p:nvSpPr>
          <p:cNvPr id="13" name="Text 11"/>
          <p:cNvSpPr/>
          <p:nvPr/>
        </p:nvSpPr>
        <p:spPr>
          <a:xfrm>
            <a:off x="8239760" y="2115827"/>
            <a:ext cx="2992933"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P2, P3, P4, P5 y regresión final completa</a:t>
            </a:r>
            <a:endParaRPr lang="en-US" sz="1600" dirty="0"/>
          </a:p>
        </p:txBody>
      </p:sp>
      <p:sp>
        <p:nvSpPr>
          <p:cNvPr id="14" name="Text 12"/>
          <p:cNvSpPr/>
          <p:nvPr/>
        </p:nvSpPr>
        <p:spPr>
          <a:xfrm>
            <a:off x="8239760" y="2692400"/>
            <a:ext cx="299293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DM Sans" pitchFamily="34" charset="0"/>
                <a:ea typeface="DM Sans" pitchFamily="34" charset="-122"/>
                <a:cs typeface="DM Sans" pitchFamily="34" charset="-120"/>
              </a:rPr>
              <a:t>Resultado:</a:t>
            </a:r>
            <a:r>
              <a:rPr lang="en-US" sz="1300" dirty="0">
                <a:solidFill>
                  <a:srgbClr val="4A5568"/>
                </a:solidFill>
                <a:latin typeface="DM Sans" pitchFamily="34" charset="0"/>
                <a:ea typeface="DM Sans" pitchFamily="34" charset="-122"/>
                <a:cs typeface="DM Sans" pitchFamily="34" charset="-120"/>
              </a:rPr>
              <a:t> prevención automatizada; cierre del ciclo y reporte.</a:t>
            </a:r>
            <a:endParaRPr lang="en-US" sz="1300" dirty="0"/>
          </a:p>
        </p:txBody>
      </p:sp>
      <p:sp>
        <p:nvSpPr>
          <p:cNvPr id="15" name="Shape 13"/>
          <p:cNvSpPr/>
          <p:nvPr/>
        </p:nvSpPr>
        <p:spPr>
          <a:xfrm>
            <a:off x="838200" y="4132585"/>
            <a:ext cx="0" cy="662940"/>
          </a:xfrm>
          <a:prstGeom prst="line">
            <a:avLst/>
          </a:prstGeom>
          <a:noFill/>
          <a:ln w="50800">
            <a:solidFill>
              <a:srgbClr val="D9822B"/>
            </a:solidFill>
            <a:prstDash val="solid"/>
          </a:ln>
        </p:spPr>
      </p:sp>
      <p:sp>
        <p:nvSpPr>
          <p:cNvPr id="16" name="Text 14"/>
          <p:cNvSpPr/>
          <p:nvPr/>
        </p:nvSpPr>
        <p:spPr>
          <a:xfrm>
            <a:off x="1066800" y="4183385"/>
            <a:ext cx="106217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Regresión final</a:t>
            </a:r>
            <a:r>
              <a:rPr lang="en-US" sz="1400" dirty="0">
                <a:solidFill>
                  <a:srgbClr val="12233F"/>
                </a:solidFill>
                <a:latin typeface="DM Sans" pitchFamily="34" charset="0"/>
                <a:ea typeface="DM Sans" pitchFamily="34" charset="-122"/>
                <a:cs typeface="DM Sans" pitchFamily="34" charset="-120"/>
              </a:rPr>
              <a:t> (QA 6 h, Dev 2 h, USD 168): ejecuta los 16 casos manuales y la suite completa en Chrome y Firefox.</a:t>
            </a:r>
            <a:endParaRPr lang="en-US" sz="1400" dirty="0"/>
          </a:p>
        </p:txBody>
      </p:sp>
      <p:sp>
        <p:nvSpPr>
          <p:cNvPr id="17" name="Text 15"/>
          <p:cNvSpPr/>
          <p:nvPr/>
        </p:nvSpPr>
        <p:spPr>
          <a:xfrm>
            <a:off x="1066800" y="4495800"/>
            <a:ext cx="106217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33F"/>
                </a:solidFill>
                <a:latin typeface="DM Sans" pitchFamily="34" charset="0"/>
                <a:ea typeface="DM Sans" pitchFamily="34" charset="-122"/>
                <a:cs typeface="DM Sans" pitchFamily="34" charset="-120"/>
              </a:rPr>
              <a:t>Con un segundo developer</a:t>
            </a:r>
            <a:r>
              <a:rPr lang="en-US" sz="1400" dirty="0">
                <a:solidFill>
                  <a:srgbClr val="12233F"/>
                </a:solidFill>
                <a:latin typeface="DM Sans" pitchFamily="34" charset="0"/>
                <a:ea typeface="DM Sans" pitchFamily="34" charset="-122"/>
                <a:cs typeface="DM Sans" pitchFamily="34" charset="-120"/>
              </a:rPr>
              <a:t> en paralelo, el plan baja a 2 semanas; las horas no cambian, aumenta la coordinación.</a:t>
            </a:r>
            <a:endParaRPr lang="en-US" sz="1400" dirty="0"/>
          </a:p>
        </p:txBody>
      </p:sp>
      <p:sp>
        <p:nvSpPr>
          <p:cNvPr id="18" name="Text 16"/>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Supuesto: un developer a 30 horas por semana, con QA y revisor lingüístico en paralelo · Fuente: informe final, sección 16</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Presupuesto consolidado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7"/>
          <a:ext cx="10556240" cy="3835400"/>
        </p:xfrm>
        <a:graphic>
          <a:graphicData uri="http://schemas.openxmlformats.org/drawingml/2006/table">
            <a:tbl>
              <a:tblPr/>
              <a:tblGrid>
                <a:gridCol w="6755994"/>
                <a:gridCol w="1477874"/>
                <a:gridCol w="2322373"/>
              </a:tblGrid>
              <a:tr h="383540">
                <a:tc>
                  <a:txBody>
                    <a:bodyPr/>
                    <a:lstStyle/>
                    <a:p>
                      <a:pPr indent="0" marL="0">
                        <a:lnSpc>
                          <a:spcPts val="1960"/>
                        </a:lnSpc>
                        <a:buNone/>
                      </a:pPr>
                      <a:r>
                        <a:rPr lang="en-US" sz="1400" b="1" dirty="0">
                          <a:solidFill>
                            <a:srgbClr val="F5F3EC"/>
                          </a:solidFill>
                          <a:latin typeface="DM Sans" pitchFamily="34" charset="0"/>
                          <a:ea typeface="DM Sans" pitchFamily="34" charset="-122"/>
                          <a:cs typeface="DM Sans" pitchFamily="34" charset="-120"/>
                        </a:rPr>
                        <a:t>Rubro</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algn="r" indent="0" marL="0">
                        <a:lnSpc>
                          <a:spcPts val="1960"/>
                        </a:lnSpc>
                        <a:buNone/>
                      </a:pPr>
                      <a:r>
                        <a:rPr lang="en-US" sz="1400" b="1" dirty="0">
                          <a:solidFill>
                            <a:srgbClr val="F5F3EC"/>
                          </a:solidFill>
                          <a:latin typeface="DM Sans" pitchFamily="34" charset="0"/>
                          <a:ea typeface="DM Sans" pitchFamily="34" charset="-122"/>
                          <a:cs typeface="DM Sans" pitchFamily="34" charset="-120"/>
                        </a:rPr>
                        <a:t>Horas</a:t>
                      </a:r>
                      <a:endParaRPr lang="en-US" sz="1400" dirty="0">
                        <a:latin typeface="DM Sans" charset="0"/>
                        <a:ea typeface="DM Sans" charset="0"/>
                        <a:cs typeface="DM Sans" charset="0"/>
                      </a:endParaRPr>
                    </a:p>
                  </a:txBody>
                  <a:tcPr marL="62230" marR="62230" marT="62230" marB="6223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algn="r" indent="0" marL="0">
                        <a:lnSpc>
                          <a:spcPts val="1960"/>
                        </a:lnSpc>
                        <a:buNone/>
                      </a:pPr>
                      <a:r>
                        <a:rPr lang="en-US" sz="1400" b="1" dirty="0">
                          <a:solidFill>
                            <a:srgbClr val="F5F3EC"/>
                          </a:solidFill>
                          <a:latin typeface="DM Sans" pitchFamily="34" charset="0"/>
                          <a:ea typeface="DM Sans" pitchFamily="34" charset="-122"/>
                          <a:cs typeface="DM Sans" pitchFamily="34" charset="-120"/>
                        </a:rPr>
                        <a:t>Costo (USD)</a:t>
                      </a:r>
                      <a:endParaRPr lang="en-US" sz="1400" dirty="0">
                        <a:latin typeface="DM Sans" charset="0"/>
                        <a:ea typeface="DM Sans" charset="0"/>
                        <a:cs typeface="DM Sans" charset="0"/>
                      </a:endParaRPr>
                    </a:p>
                  </a:txBody>
                  <a:tcPr marL="62230" marR="62230" marT="62230" marB="62230"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Corrección de bugs de prioridad alta (BUG-10, BUG-05)</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40</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1,045</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Corrección de bugs de lógica y validación (BUG-08, BUG-06)</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13</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335</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Paquete de localización (BUG-01, 02, 03, 04, 07, 09)</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46</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994</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Subtotal de corrección</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99</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2,374</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Acciones preventivas (P1 a P5)</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46</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1,249</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Regresión final y cierre</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8</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168</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Subtotal</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153</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3,791</a:t>
                      </a:r>
                      <a:endParaRPr lang="en-US" sz="1400" dirty="0">
                        <a:latin typeface="DM Sans" charset="0"/>
                        <a:ea typeface="DM Sans" charset="0"/>
                        <a:cs typeface="DM Sans" charset="0"/>
                      </a:endParaRPr>
                    </a:p>
                  </a:txBody>
                  <a:tcPr marL="62230" marR="62230" marT="62230" marB="62230"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Contingencia del 15%</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569</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3540">
                <a:tc>
                  <a:txBody>
                    <a:bodyPr/>
                    <a:lstStyle/>
                    <a:p>
                      <a:pPr indent="0" marL="0">
                        <a:lnSpc>
                          <a:spcPts val="1960"/>
                        </a:lnSpc>
                        <a:buNone/>
                      </a:pPr>
                      <a:r>
                        <a:rPr lang="en-US" sz="1400" dirty="0">
                          <a:solidFill>
                            <a:srgbClr val="12233F"/>
                          </a:solidFill>
                          <a:latin typeface="DM Sans" pitchFamily="34" charset="0"/>
                          <a:ea typeface="DM Sans" pitchFamily="34" charset="-122"/>
                          <a:cs typeface="DM Sans" pitchFamily="34" charset="-120"/>
                        </a:rPr>
                        <a:t>Total del plan</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c>
                  <a:txBody>
                    <a:bodyPr/>
                    <a:lstStyle/>
                    <a:p>
                      <a:pPr algn="r" indent="0" marL="0">
                        <a:lnSpc>
                          <a:spcPts val="1960"/>
                        </a:lnSpc>
                        <a:buNone/>
                      </a:pPr>
                      <a:endParaRPr lang="en-US" sz="1400" dirty="0">
                        <a:latin typeface="DM Sans" charset="0"/>
                        <a:ea typeface="DM Sans" charset="0"/>
                        <a:cs typeface="DM Sans" charset="0"/>
                      </a:endParaRPr>
                    </a:p>
                  </a:txBody>
                  <a:tcPr marL="62230" marR="62230" marT="62230" marB="62230" anchor="t">
                    <a:lnL w="12700" cap="flat" cmpd="sng" algn="ctr">
                      <a:solidFill>
                        <a:srgbClr val="AE6A26"/>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c>
                  <a:txBody>
                    <a:bodyPr/>
                    <a:lstStyle/>
                    <a:p>
                      <a:pPr algn="r" indent="0" marL="0">
                        <a:lnSpc>
                          <a:spcPts val="1960"/>
                        </a:lnSpc>
                        <a:buNone/>
                      </a:pPr>
                      <a:r>
                        <a:rPr lang="en-US" sz="1400" dirty="0">
                          <a:solidFill>
                            <a:srgbClr val="12233F"/>
                          </a:solidFill>
                          <a:latin typeface="DM Sans" pitchFamily="34" charset="0"/>
                          <a:ea typeface="DM Sans" pitchFamily="34" charset="-122"/>
                          <a:cs typeface="DM Sans" pitchFamily="34" charset="-120"/>
                        </a:rPr>
                        <a:t>4,360</a:t>
                      </a:r>
                      <a:endParaRPr lang="en-US" sz="1400" dirty="0">
                        <a:latin typeface="DM Sans" charset="0"/>
                        <a:ea typeface="DM Sans" charset="0"/>
                        <a:cs typeface="DM Sans" charset="0"/>
                      </a:endParaRPr>
                    </a:p>
                  </a:txBody>
                  <a:tcPr marL="62230" marR="62230" marT="62230" marB="62230" anchor="t">
                    <a:lnL w="12700" cap="flat" cmpd="sng" algn="ctr">
                      <a:solidFill>
                        <a:srgbClr val="AE6A26"/>
                      </a:solidFill>
                      <a:prstDash val="solid"/>
                      <a:round/>
                      <a:headEnd type="none" w="med" len="med"/>
                      <a:tailEnd type="none" w="med" len="med"/>
                    </a:lnL>
                    <a:lnR w="12700" cap="flat" cmpd="sng" algn="ctr">
                      <a:solidFill>
                        <a:srgbClr val="AE6A2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AE6A26"/>
                      </a:solidFill>
                      <a:prstDash val="solid"/>
                      <a:round/>
                      <a:headEnd type="none" w="med" len="med"/>
                      <a:tailEnd type="none" w="med" len="med"/>
                    </a:lnB>
                    <a:solidFill>
                      <a:srgbClr val="D9822B"/>
                    </a:solidFill>
                  </a:tcPr>
                </a:tc>
              </a:tr>
            </a:tbl>
          </a:graphicData>
        </a:graphic>
      </p:graphicFrame>
      <p:sp>
        <p:nvSpPr>
          <p:cNvPr id="4" name="Text 1"/>
          <p:cNvSpPr/>
          <p:nvPr/>
        </p:nvSpPr>
        <p:spPr>
          <a:xfrm>
            <a:off x="812800" y="6024885"/>
            <a:ext cx="915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Tarifas por hora: developer senior USD 30, QA USD 18, líder técnico USD 35, revisor lingüístico USD 12 · Fuente: informe final, secciones 10.2 y 17</a:t>
            </a:r>
            <a:endParaRPr lang="en-US" sz="1200" dirty="0"/>
          </a:p>
        </p:txBody>
      </p:sp>
      <p:sp>
        <p:nvSpPr>
          <p:cNvPr id="5" name="Text 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Riesgos del plan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7"/>
          <a:ext cx="10556240" cy="3296920"/>
        </p:xfrm>
        <a:graphic>
          <a:graphicData uri="http://schemas.openxmlformats.org/drawingml/2006/table">
            <a:tbl>
              <a:tblPr/>
              <a:tblGrid>
                <a:gridCol w="4222496"/>
                <a:gridCol w="1161186"/>
                <a:gridCol w="5172558"/>
              </a:tblGrid>
              <a:tr h="356870">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Riesgo</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Impacto</a:t>
                      </a:r>
                      <a:endParaRPr lang="en-US" sz="1300" dirty="0">
                        <a:latin typeface="DM Sans" charset="0"/>
                        <a:ea typeface="DM Sans" charset="0"/>
                        <a:cs typeface="DM Sans" charset="0"/>
                      </a:endParaRPr>
                    </a:p>
                  </a:txBody>
                  <a:tcPr marL="57785" marR="57785" marT="57785" marB="57785"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c>
                  <a:txBody>
                    <a:bodyPr/>
                    <a:lstStyle/>
                    <a:p>
                      <a:pPr indent="0" marL="0">
                        <a:lnSpc>
                          <a:spcPts val="1820"/>
                        </a:lnSpc>
                        <a:buNone/>
                      </a:pPr>
                      <a:r>
                        <a:rPr lang="en-US" sz="1300" b="1" dirty="0">
                          <a:solidFill>
                            <a:srgbClr val="F5F3EC"/>
                          </a:solidFill>
                          <a:latin typeface="DM Sans" pitchFamily="34" charset="0"/>
                          <a:ea typeface="DM Sans" pitchFamily="34" charset="-122"/>
                          <a:cs typeface="DM Sans" pitchFamily="34" charset="-120"/>
                        </a:rPr>
                        <a:t>Mitigación</a:t>
                      </a:r>
                      <a:endParaRPr lang="en-US" sz="1300" dirty="0">
                        <a:latin typeface="DM Sans" charset="0"/>
                        <a:ea typeface="DM Sans" charset="0"/>
                        <a:cs typeface="DM Sans" charset="0"/>
                      </a:endParaRPr>
                    </a:p>
                  </a:txBody>
                  <a:tcPr marL="57785" marR="57785" marT="57785" marB="57785" anchor="t">
                    <a:lnL w="12700" cap="flat" cmpd="sng" algn="ctr">
                      <a:solidFill>
                        <a:srgbClr val="122035"/>
                      </a:solidFill>
                      <a:prstDash val="solid"/>
                      <a:round/>
                      <a:headEnd type="none" w="med" len="med"/>
                      <a:tailEnd type="none" w="med" len="med"/>
                    </a:lnL>
                    <a:lnR w="12700" cap="flat" cmpd="sng" algn="ctr">
                      <a:solidFill>
                        <a:srgbClr val="12203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22035"/>
                      </a:solidFill>
                      <a:prstDash val="solid"/>
                      <a:round/>
                      <a:headEnd type="none" w="med" len="med"/>
                      <a:tailEnd type="none" w="med" len="med"/>
                    </a:lnB>
                    <a:solidFill>
                      <a:srgbClr val="12233F"/>
                    </a:solidFill>
                  </a:tcPr>
                </a:tc>
              </a:tr>
              <a:tr h="58801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Las causas reales difieren de las “causas probables” (no se revisó el código en ejecución)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B3391F"/>
                          </a:solidFill>
                          <a:latin typeface="DM Sans" pitchFamily="34" charset="0"/>
                          <a:ea typeface="DM Sans" pitchFamily="34" charset="-122"/>
                          <a:cs typeface="DM Sans" pitchFamily="34" charset="-120"/>
                        </a:rPr>
                        <a:t>Alto</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Contingencia del 15%; el líder técnico confirma la causa de cada bug el primer día.</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2203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8801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Una actualización de FrontAccounting sobrescribe las correcciones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9A4F0C"/>
                          </a:solidFill>
                          <a:latin typeface="DM Sans" pitchFamily="34" charset="0"/>
                          <a:ea typeface="DM Sans" pitchFamily="34" charset="-122"/>
                          <a:cs typeface="DM Sans" pitchFamily="34" charset="-120"/>
                        </a:rPr>
                        <a:t>Medio</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Mantener las correcciones como parches versionados y proponerlas al repositorio original.</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58801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La corrección de BUG-10 afecta otros flujos de cancelación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B3391F"/>
                          </a:solidFill>
                          <a:latin typeface="DM Sans" pitchFamily="34" charset="0"/>
                          <a:ea typeface="DM Sans" pitchFamily="34" charset="-122"/>
                          <a:cs typeface="DM Sans" pitchFamily="34" charset="-120"/>
                        </a:rPr>
                        <a:t>Alto</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Regresión ampliada (cotización, entrega parcial, orden sin entregas) y revisión del líder técnico.</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8801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El ambiente en Render se duerme durante la regresión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9A4F0C"/>
                          </a:solidFill>
                          <a:latin typeface="DM Sans" pitchFamily="34" charset="0"/>
                          <a:ea typeface="DM Sans" pitchFamily="34" charset="-122"/>
                          <a:cs typeface="DM Sans" pitchFamily="34" charset="-120"/>
                        </a:rPr>
                        <a:t>Medio</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Despertar el sitio antes de cada corrida; evaluar un hosting sin suspensión.</a:t>
                      </a:r>
                      <a:endParaRPr lang="en-US" sz="1300" dirty="0">
                        <a:latin typeface="DM Sans" charset="0"/>
                        <a:ea typeface="DM Sans" charset="0"/>
                        <a:cs typeface="DM Sans" charset="0"/>
                      </a:endParaRPr>
                    </a:p>
                  </a:txBody>
                  <a:tcPr marL="57785" marR="57785" marT="57785" marB="57785" anchor="t">
                    <a:lnL w="12700" cap="flat" cmpd="sng" algn="ctr">
                      <a:solidFill>
                        <a:srgbClr val="BCBAB1"/>
                      </a:solidFill>
                      <a:prstDash val="solid"/>
                      <a:round/>
                      <a:headEnd type="none" w="med" len="med"/>
                      <a:tailEnd type="none" w="med" len="med"/>
                    </a:lnL>
                    <a:lnR w="12700" cap="flat" cmpd="sng" algn="ctr">
                      <a:solidFill>
                        <a:srgbClr val="BCBA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CBAB1"/>
                      </a:solidFill>
                      <a:prstDash val="solid"/>
                      <a:round/>
                      <a:headEnd type="none" w="med" len="med"/>
                      <a:tailEnd type="none" w="med" len="med"/>
                    </a:lnB>
                    <a:solidFill>
                      <a:srgbClr val="ECE9DE"/>
                    </a:solidFill>
                  </a:tcPr>
                </a:tc>
              </a:tr>
              <a:tr h="588010">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Equipo pequeño con roles combinados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9A4F0C"/>
                          </a:solidFill>
                          <a:latin typeface="DM Sans" pitchFamily="34" charset="0"/>
                          <a:ea typeface="DM Sans" pitchFamily="34" charset="-122"/>
                          <a:cs typeface="DM Sans" pitchFamily="34" charset="-120"/>
                        </a:rPr>
                        <a:t>Medio</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2233F"/>
                          </a:solidFill>
                          <a:latin typeface="DM Sans" pitchFamily="34" charset="0"/>
                          <a:ea typeface="DM Sans" pitchFamily="34" charset="-122"/>
                          <a:cs typeface="DM Sans" pitchFamily="34" charset="-120"/>
                        </a:rPr>
                        <a:t>Priorizar BUG-10 y BUG-05; no iniciar la prevención hasta cerrar los de prioridad alta.</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CBA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4" name="Text 1"/>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18</a:t>
            </a:r>
            <a:endParaRPr lang="en-US" sz="1200" dirty="0"/>
          </a:p>
        </p:txBody>
      </p:sp>
      <p:sp>
        <p:nvSpPr>
          <p:cNvPr id="5" name="Text 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Criterios de cierre y métricas de éxito</a:t>
            </a:r>
            <a:endParaRPr lang="en-US" sz="3600" dirty="0"/>
          </a:p>
        </p:txBody>
      </p:sp>
      <p:sp>
        <p:nvSpPr>
          <p:cNvPr id="3" name="Shape 1"/>
          <p:cNvSpPr/>
          <p:nvPr/>
        </p:nvSpPr>
        <p:spPr>
          <a:xfrm>
            <a:off x="815975" y="1572902"/>
            <a:ext cx="3380264" cy="1654810"/>
          </a:xfrm>
          <a:prstGeom prst="roundRect">
            <a:avLst>
              <a:gd name="adj" fmla="val 5948"/>
            </a:avLst>
          </a:prstGeom>
          <a:solidFill>
            <a:srgbClr val="FCFBF7"/>
          </a:solidFill>
          <a:ln w="6350">
            <a:solidFill>
              <a:srgbClr val="DAD6C8"/>
            </a:solidFill>
            <a:prstDash val="solid"/>
          </a:ln>
        </p:spPr>
      </p:sp>
      <p:sp>
        <p:nvSpPr>
          <p:cNvPr id="4" name="Text 2"/>
          <p:cNvSpPr/>
          <p:nvPr/>
        </p:nvSpPr>
        <p:spPr>
          <a:xfrm>
            <a:off x="1021080" y="1778000"/>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Bugs cerrados</a:t>
            </a:r>
            <a:endParaRPr lang="en-US" sz="1600" dirty="0"/>
          </a:p>
        </p:txBody>
      </p:sp>
      <p:sp>
        <p:nvSpPr>
          <p:cNvPr id="5" name="Text 3"/>
          <p:cNvSpPr/>
          <p:nvPr/>
        </p:nvSpPr>
        <p:spPr>
          <a:xfrm>
            <a:off x="1021080" y="2098042"/>
            <a:ext cx="305915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BUG-01 a BUG-10 retestados y en estado Cerrado, con evidencia por cada uno.</a:t>
            </a:r>
            <a:endParaRPr lang="en-US" sz="1300" dirty="0"/>
          </a:p>
        </p:txBody>
      </p:sp>
      <p:sp>
        <p:nvSpPr>
          <p:cNvPr id="6" name="Shape 4"/>
          <p:cNvSpPr/>
          <p:nvPr/>
        </p:nvSpPr>
        <p:spPr>
          <a:xfrm>
            <a:off x="4405789" y="1572902"/>
            <a:ext cx="3380343" cy="1654810"/>
          </a:xfrm>
          <a:prstGeom prst="roundRect">
            <a:avLst>
              <a:gd name="adj" fmla="val 5948"/>
            </a:avLst>
          </a:prstGeom>
          <a:solidFill>
            <a:srgbClr val="FCFBF7"/>
          </a:solidFill>
          <a:ln w="6350">
            <a:solidFill>
              <a:srgbClr val="DAD6C8"/>
            </a:solidFill>
            <a:prstDash val="solid"/>
          </a:ln>
        </p:spPr>
      </p:sp>
      <p:sp>
        <p:nvSpPr>
          <p:cNvPr id="7" name="Text 5"/>
          <p:cNvSpPr/>
          <p:nvPr/>
        </p:nvSpPr>
        <p:spPr>
          <a:xfrm>
            <a:off x="4610894" y="17780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Casos críticos en verde</a:t>
            </a:r>
            <a:endParaRPr lang="en-US" sz="1600" dirty="0"/>
          </a:p>
        </p:txBody>
      </p:sp>
      <p:sp>
        <p:nvSpPr>
          <p:cNvPr id="8" name="Text 6"/>
          <p:cNvSpPr/>
          <p:nvPr/>
        </p:nvSpPr>
        <p:spPr>
          <a:xfrm>
            <a:off x="4610894" y="2098042"/>
            <a:ext cx="305923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TC-03, TC-13 y TC-15 pasan manualmente y en la suite; las aserciones fallan si reaparece el defecto.</a:t>
            </a:r>
            <a:endParaRPr lang="en-US" sz="1300" dirty="0"/>
          </a:p>
        </p:txBody>
      </p:sp>
      <p:sp>
        <p:nvSpPr>
          <p:cNvPr id="9" name="Shape 7"/>
          <p:cNvSpPr/>
          <p:nvPr/>
        </p:nvSpPr>
        <p:spPr>
          <a:xfrm>
            <a:off x="7995682" y="1572902"/>
            <a:ext cx="3380343" cy="1654810"/>
          </a:xfrm>
          <a:prstGeom prst="roundRect">
            <a:avLst>
              <a:gd name="adj" fmla="val 5948"/>
            </a:avLst>
          </a:prstGeom>
          <a:solidFill>
            <a:srgbClr val="FCFBF7"/>
          </a:solidFill>
          <a:ln w="6350">
            <a:solidFill>
              <a:srgbClr val="DAD6C8"/>
            </a:solidFill>
            <a:prstDash val="solid"/>
          </a:ln>
        </p:spPr>
      </p:sp>
      <p:sp>
        <p:nvSpPr>
          <p:cNvPr id="10" name="Text 8"/>
          <p:cNvSpPr/>
          <p:nvPr/>
        </p:nvSpPr>
        <p:spPr>
          <a:xfrm>
            <a:off x="8200787" y="1778000"/>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Densidad de defectos</a:t>
            </a:r>
            <a:endParaRPr lang="en-US" sz="1600" dirty="0"/>
          </a:p>
        </p:txBody>
      </p:sp>
      <p:sp>
        <p:nvSpPr>
          <p:cNvPr id="11" name="Text 9"/>
          <p:cNvSpPr/>
          <p:nvPr/>
        </p:nvSpPr>
        <p:spPr>
          <a:xfrm>
            <a:off x="8200787" y="2098042"/>
            <a:ext cx="305923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0 bugs reproducidos abiertos en la regresión final (hoy 0.63; meta de 0.4 como máximo).</a:t>
            </a:r>
            <a:endParaRPr lang="en-US" sz="1300" dirty="0"/>
          </a:p>
        </p:txBody>
      </p:sp>
      <p:sp>
        <p:nvSpPr>
          <p:cNvPr id="12" name="Shape 10"/>
          <p:cNvSpPr/>
          <p:nvPr/>
        </p:nvSpPr>
        <p:spPr>
          <a:xfrm>
            <a:off x="815975" y="3488060"/>
            <a:ext cx="3380264" cy="1423670"/>
          </a:xfrm>
          <a:prstGeom prst="roundRect">
            <a:avLst>
              <a:gd name="adj" fmla="val 6913"/>
            </a:avLst>
          </a:prstGeom>
          <a:solidFill>
            <a:srgbClr val="FCFBF7"/>
          </a:solidFill>
          <a:ln w="6350">
            <a:solidFill>
              <a:srgbClr val="DAD6C8"/>
            </a:solidFill>
            <a:prstDash val="solid"/>
          </a:ln>
        </p:spPr>
      </p:sp>
      <p:sp>
        <p:nvSpPr>
          <p:cNvPr id="13" name="Text 11"/>
          <p:cNvSpPr/>
          <p:nvPr/>
        </p:nvSpPr>
        <p:spPr>
          <a:xfrm>
            <a:off x="1021080" y="3693158"/>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Tasa de reapertura</a:t>
            </a:r>
            <a:endParaRPr lang="en-US" sz="1600" dirty="0"/>
          </a:p>
        </p:txBody>
      </p:sp>
      <p:sp>
        <p:nvSpPr>
          <p:cNvPr id="14" name="Text 12"/>
          <p:cNvSpPr/>
          <p:nvPr/>
        </p:nvSpPr>
        <p:spPr>
          <a:xfrm>
            <a:off x="1021080" y="4013200"/>
            <a:ext cx="305915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10% o menos, según la meta de la sección 3.5 del informe.</a:t>
            </a:r>
            <a:endParaRPr lang="en-US" sz="1300" dirty="0"/>
          </a:p>
        </p:txBody>
      </p:sp>
      <p:sp>
        <p:nvSpPr>
          <p:cNvPr id="15" name="Shape 13"/>
          <p:cNvSpPr/>
          <p:nvPr/>
        </p:nvSpPr>
        <p:spPr>
          <a:xfrm>
            <a:off x="4405789" y="3488060"/>
            <a:ext cx="3380343" cy="1423670"/>
          </a:xfrm>
          <a:prstGeom prst="roundRect">
            <a:avLst>
              <a:gd name="adj" fmla="val 6913"/>
            </a:avLst>
          </a:prstGeom>
          <a:solidFill>
            <a:srgbClr val="FCFBF7"/>
          </a:solidFill>
          <a:ln w="6350">
            <a:solidFill>
              <a:srgbClr val="DAD6C8"/>
            </a:solidFill>
            <a:prstDash val="solid"/>
          </a:ln>
        </p:spPr>
      </p:sp>
      <p:sp>
        <p:nvSpPr>
          <p:cNvPr id="16" name="Text 14"/>
          <p:cNvSpPr/>
          <p:nvPr/>
        </p:nvSpPr>
        <p:spPr>
          <a:xfrm>
            <a:off x="4610894" y="3693158"/>
            <a:ext cx="31720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Cobertura de automatización</a:t>
            </a:r>
            <a:endParaRPr lang="en-US" sz="1600" dirty="0"/>
          </a:p>
        </p:txBody>
      </p:sp>
      <p:sp>
        <p:nvSpPr>
          <p:cNvPr id="17" name="Text 15"/>
          <p:cNvSpPr/>
          <p:nvPr/>
        </p:nvSpPr>
        <p:spPr>
          <a:xfrm>
            <a:off x="4610894" y="4013200"/>
            <a:ext cx="305923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16 de 16 casos (hoy 13), con la suite ejecutada en Chrome y Firefox.</a:t>
            </a:r>
            <a:endParaRPr lang="en-US" sz="1300" dirty="0"/>
          </a:p>
        </p:txBody>
      </p:sp>
      <p:sp>
        <p:nvSpPr>
          <p:cNvPr id="18" name="Shape 16"/>
          <p:cNvSpPr/>
          <p:nvPr/>
        </p:nvSpPr>
        <p:spPr>
          <a:xfrm>
            <a:off x="7995682" y="3488060"/>
            <a:ext cx="3380343" cy="1423670"/>
          </a:xfrm>
          <a:prstGeom prst="roundRect">
            <a:avLst>
              <a:gd name="adj" fmla="val 6913"/>
            </a:avLst>
          </a:prstGeom>
          <a:solidFill>
            <a:srgbClr val="FCFBF7"/>
          </a:solidFill>
          <a:ln w="6350">
            <a:solidFill>
              <a:srgbClr val="DAD6C8"/>
            </a:solidFill>
            <a:prstDash val="solid"/>
          </a:ln>
        </p:spPr>
      </p:sp>
      <p:sp>
        <p:nvSpPr>
          <p:cNvPr id="19" name="Text 17"/>
          <p:cNvSpPr/>
          <p:nvPr/>
        </p:nvSpPr>
        <p:spPr>
          <a:xfrm>
            <a:off x="8200787" y="3693158"/>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33F"/>
                </a:solidFill>
                <a:latin typeface="DM Sans" pitchFamily="34" charset="0"/>
                <a:ea typeface="DM Sans" pitchFamily="34" charset="-122"/>
                <a:cs typeface="DM Sans" pitchFamily="34" charset="-120"/>
              </a:rPr>
              <a:t>Prevención automática</a:t>
            </a:r>
            <a:endParaRPr lang="en-US" sz="1600" dirty="0"/>
          </a:p>
        </p:txBody>
      </p:sp>
      <p:sp>
        <p:nvSpPr>
          <p:cNvPr id="20" name="Text 18"/>
          <p:cNvSpPr/>
          <p:nvPr/>
        </p:nvSpPr>
        <p:spPr>
          <a:xfrm>
            <a:off x="8200787" y="4013200"/>
            <a:ext cx="305923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El verificador de idioma (P4) y la suite Cypress (P3) corren en cada cambio, sin intervención manual.</a:t>
            </a:r>
            <a:endParaRPr lang="en-US" sz="1300" dirty="0"/>
          </a:p>
        </p:txBody>
      </p:sp>
      <p:sp>
        <p:nvSpPr>
          <p:cNvPr id="21" name="Text 19"/>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DM Sans" pitchFamily="34" charset="0"/>
                <a:ea typeface="DM Sans" pitchFamily="34" charset="-122"/>
                <a:cs typeface="DM Sans" pitchFamily="34" charset="-120"/>
              </a:rPr>
              <a:t>Fuente: informe final, sección 19</a:t>
            </a:r>
            <a:endParaRPr lang="en-US" sz="12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DM Sans" pitchFamily="34" charset="0"/>
                <a:ea typeface="DM Sans" pitchFamily="34" charset="-122"/>
                <a:cs typeface="DM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9822B"/>
        </a:solidFill>
      </p:bgPr>
    </p:bg>
    <p:spTree>
      <p:nvGrpSpPr>
        <p:cNvPr id="1" name=""/>
        <p:cNvGrpSpPr/>
        <p:nvPr/>
      </p:nvGrpSpPr>
      <p:grpSpPr>
        <a:xfrm>
          <a:off x="0" y="0"/>
          <a:ext cx="0" cy="0"/>
          <a:chOff x="0" y="0"/>
          <a:chExt cx="0" cy="0"/>
        </a:xfrm>
      </p:grpSpPr>
      <p:sp>
        <p:nvSpPr>
          <p:cNvPr id="2" name="Text 0"/>
          <p:cNvSpPr/>
          <p:nvPr/>
        </p:nvSpPr>
        <p:spPr>
          <a:xfrm>
            <a:off x="812800" y="1559558"/>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2233F"/>
                </a:solidFill>
                <a:latin typeface="DM Sans" pitchFamily="34" charset="0"/>
                <a:ea typeface="DM Sans" pitchFamily="34" charset="-122"/>
                <a:cs typeface="DM Sans" pitchFamily="34" charset="-120"/>
              </a:rPr>
              <a:t>COSTO DE NO MITIGAR</a:t>
            </a:r>
            <a:endParaRPr lang="en-US" sz="1400" dirty="0"/>
          </a:p>
        </p:txBody>
      </p:sp>
      <p:sp>
        <p:nvSpPr>
          <p:cNvPr id="3" name="Text 1"/>
          <p:cNvSpPr/>
          <p:nvPr>
            <p:ph type="title"/>
          </p:nvPr>
        </p:nvSpPr>
        <p:spPr>
          <a:xfrm>
            <a:off x="812800" y="2062485"/>
            <a:ext cx="10883392" cy="153416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33F"/>
                </a:solidFill>
                <a:latin typeface="DM Sans" pitchFamily="34" charset="0"/>
                <a:ea typeface="DM Sans" pitchFamily="34" charset="-122"/>
                <a:cs typeface="DM Sans" pitchFamily="34" charset="-120"/>
              </a:rPr>
              <a:t>Corregir los dos bugs de prioridad alta cuesta USD 1,045 y elimina el riesgo de negocio más importante</a:t>
            </a:r>
            <a:endParaRPr lang="en-US" sz="3600" dirty="0"/>
          </a:p>
        </p:txBody>
      </p:sp>
      <p:sp>
        <p:nvSpPr>
          <p:cNvPr id="4" name="Text 2"/>
          <p:cNvSpPr/>
          <p:nvPr/>
        </p:nvSpPr>
        <p:spPr>
          <a:xfrm>
            <a:off x="812800" y="382524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33F"/>
                </a:solidFill>
                <a:latin typeface="DM Sans" pitchFamily="34" charset="0"/>
                <a:ea typeface="DM Sans" pitchFamily="34" charset="-122"/>
                <a:cs typeface="DM Sans" pitchFamily="34" charset="-120"/>
              </a:rPr>
              <a:t>BUG-10:</a:t>
            </a:r>
            <a:r>
              <a:rPr lang="en-US" sz="1500" dirty="0">
                <a:solidFill>
                  <a:srgbClr val="12233F"/>
                </a:solidFill>
                <a:latin typeface="DM Sans" pitchFamily="34" charset="0"/>
                <a:ea typeface="DM Sans" pitchFamily="34" charset="-122"/>
                <a:cs typeface="DM Sans" pitchFamily="34" charset="-120"/>
              </a:rPr>
              <a:t> una orden entregada y facturada puede quedar cancelada, con diferencias entre lo facturado, el inventario y la cuenta del cliente.</a:t>
            </a:r>
            <a:endParaRPr lang="en-US" sz="1500" dirty="0"/>
          </a:p>
        </p:txBody>
      </p:sp>
      <p:sp>
        <p:nvSpPr>
          <p:cNvPr id="5" name="Text 3"/>
          <p:cNvSpPr/>
          <p:nvPr/>
        </p:nvSpPr>
        <p:spPr>
          <a:xfrm>
            <a:off x="812800" y="44602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33F"/>
                </a:solidFill>
                <a:latin typeface="DM Sans" pitchFamily="34" charset="0"/>
                <a:ea typeface="DM Sans" pitchFamily="34" charset="-122"/>
                <a:cs typeface="DM Sans" pitchFamily="34" charset="-120"/>
              </a:rPr>
              <a:t>BUG-05:</a:t>
            </a:r>
            <a:r>
              <a:rPr lang="en-US" sz="1500" dirty="0">
                <a:solidFill>
                  <a:srgbClr val="12233F"/>
                </a:solidFill>
                <a:latin typeface="DM Sans" pitchFamily="34" charset="0"/>
                <a:ea typeface="DM Sans" pitchFamily="34" charset="-122"/>
                <a:cs typeface="DM Sans" pitchFamily="34" charset="-120"/>
              </a:rPr>
              <a:t> las líneas con cantidad cero ensucian reportes y flujos de entrega y facturación.</a:t>
            </a:r>
            <a:endParaRPr lang="en-US" sz="1500" dirty="0"/>
          </a:p>
        </p:txBody>
      </p:sp>
      <p:sp>
        <p:nvSpPr>
          <p:cNvPr id="6" name="Text 4"/>
          <p:cNvSpPr/>
          <p:nvPr/>
        </p:nvSpPr>
        <p:spPr>
          <a:xfrm>
            <a:off x="812800" y="48285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33F"/>
                </a:solidFill>
                <a:latin typeface="DM Sans" pitchFamily="34" charset="0"/>
                <a:ea typeface="DM Sans" pitchFamily="34" charset="-122"/>
                <a:cs typeface="DM Sans" pitchFamily="34" charset="-120"/>
              </a:rPr>
              <a:t>Los demás:</a:t>
            </a:r>
            <a:r>
              <a:rPr lang="en-US" sz="1500" dirty="0">
                <a:solidFill>
                  <a:srgbClr val="12233F"/>
                </a:solidFill>
                <a:latin typeface="DM Sans" pitchFamily="34" charset="0"/>
                <a:ea typeface="DM Sans" pitchFamily="34" charset="-122"/>
                <a:cs typeface="DM Sans" pitchFamily="34" charset="-120"/>
              </a:rPr>
              <a:t> no afectan datos, pero bajan la confianza del usuario y generan consultas de soporte repetidas.</a:t>
            </a:r>
            <a:endParaRPr lang="en-US" sz="1500" dirty="0"/>
          </a:p>
        </p:txBody>
      </p:sp>
      <p:sp>
        <p:nvSpPr>
          <p:cNvPr id="7" name="Text 5"/>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33F"/>
                </a:solidFill>
                <a:latin typeface="DM Sans" pitchFamily="34" charset="0"/>
                <a:ea typeface="DM Sans" pitchFamily="34" charset="-122"/>
                <a:cs typeface="DM Sans" pitchFamily="34" charset="-120"/>
              </a:rPr>
              <a:t>No se estima en dinero: depende del uso real del sistema · Fuente: informe final, secciones 20 y 17</a:t>
            </a:r>
            <a:endParaRPr lang="en-US" sz="1200" dirty="0"/>
          </a:p>
        </p:txBody>
      </p:sp>
      <p:sp>
        <p:nvSpPr>
          <p:cNvPr id="8"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233F"/>
                </a:solidFill>
                <a:latin typeface="DM Sans" pitchFamily="34" charset="0"/>
                <a:ea typeface="DM Sans" pitchFamily="34" charset="-122"/>
                <a:cs typeface="DM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812800" y="2562858"/>
            <a:ext cx="762000" cy="50800"/>
          </a:xfrm>
          <a:prstGeom prst="rect">
            <a:avLst/>
          </a:prstGeom>
          <a:solidFill>
            <a:srgbClr val="D9822B"/>
          </a:solidFill>
          <a:ln/>
        </p:spPr>
      </p:sp>
      <p:sp>
        <p:nvSpPr>
          <p:cNvPr id="3" name="Text 1"/>
          <p:cNvSpPr/>
          <p:nvPr>
            <p:ph type="title"/>
          </p:nvPr>
        </p:nvSpPr>
        <p:spPr>
          <a:xfrm>
            <a:off x="812800" y="2816858"/>
            <a:ext cx="512775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DM Sans" pitchFamily="34" charset="0"/>
                <a:ea typeface="DM Sans" pitchFamily="34" charset="-122"/>
                <a:cs typeface="DM Sans" pitchFamily="34" charset="-120"/>
              </a:rPr>
              <a:t>Preguntas</a:t>
            </a:r>
            <a:endParaRPr lang="en-US" sz="3600" dirty="0"/>
          </a:p>
        </p:txBody>
      </p:sp>
      <p:sp>
        <p:nvSpPr>
          <p:cNvPr id="4" name="Text 2"/>
          <p:cNvSpPr/>
          <p:nvPr/>
        </p:nvSpPr>
        <p:spPr>
          <a:xfrm>
            <a:off x="812800" y="3522985"/>
            <a:ext cx="51277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DM Sans" pitchFamily="34" charset="0"/>
                <a:ea typeface="DM Sans" pitchFamily="34" charset="-122"/>
                <a:cs typeface="DM Sans" pitchFamily="34" charset="-120"/>
              </a:rPr>
              <a:t>Gracias. El informe completo incluye matriz de trazabilidad, fichas de bugs y evidencias por caso.</a:t>
            </a:r>
            <a:endParaRPr lang="en-US" sz="1600" dirty="0"/>
          </a:p>
        </p:txBody>
      </p:sp>
      <p:sp>
        <p:nvSpPr>
          <p:cNvPr id="5" name="Text 3"/>
          <p:cNvSpPr/>
          <p:nvPr/>
        </p:nvSpPr>
        <p:spPr>
          <a:xfrm>
            <a:off x="6400800" y="1859285"/>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04F"/>
                </a:solidFill>
                <a:latin typeface="DM Sans" pitchFamily="34" charset="0"/>
                <a:ea typeface="DM Sans" pitchFamily="34" charset="-122"/>
                <a:cs typeface="DM Sans" pitchFamily="34" charset="-120"/>
              </a:rPr>
              <a:t>EQUIPO Y ROLES SCRUM</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10960" y="2245360"/>
          <a:ext cx="4968240" cy="2550160"/>
        </p:xfrm>
        <a:graphic>
          <a:graphicData uri="http://schemas.openxmlformats.org/drawingml/2006/table">
            <a:tbl>
              <a:tblPr/>
              <a:tblGrid>
                <a:gridCol w="2235708"/>
                <a:gridCol w="2732532"/>
              </a:tblGrid>
              <a:tr h="38354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Scrum Master</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Cristhiam Samayoa</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r h="38354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Product Owner</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Edgar Díaz</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r h="38354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QA</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Emilio Schaad</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r h="38354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SQA</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Guillermo Ortiz</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r h="38354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Developer</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Herber Godoy</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r h="632460">
                <a:tc>
                  <a:txBody>
                    <a:bodyPr/>
                    <a:lstStyle/>
                    <a:p>
                      <a:pPr indent="0" marL="0">
                        <a:lnSpc>
                          <a:spcPts val="1960"/>
                        </a:lnSpc>
                        <a:buNone/>
                      </a:pPr>
                      <a:r>
                        <a:rPr lang="en-US" sz="1400" dirty="0">
                          <a:solidFill>
                            <a:srgbClr val="AEB9C9"/>
                          </a:solidFill>
                          <a:latin typeface="DM Sans" pitchFamily="34" charset="0"/>
                          <a:ea typeface="DM Sans" pitchFamily="34" charset="-122"/>
                          <a:cs typeface="DM Sans" pitchFamily="34" charset="-120"/>
                        </a:rPr>
                        <a:t>Líder Técnico y Arquitecto</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indent="0" marL="0">
                        <a:lnSpc>
                          <a:spcPts val="1960"/>
                        </a:lnSpc>
                        <a:buNone/>
                      </a:pPr>
                      <a:r>
                        <a:rPr lang="en-US" sz="1400" dirty="0">
                          <a:solidFill>
                            <a:srgbClr val="F5F3EC"/>
                          </a:solidFill>
                          <a:latin typeface="DM Sans" pitchFamily="34" charset="0"/>
                          <a:ea typeface="DM Sans" pitchFamily="34" charset="-122"/>
                          <a:cs typeface="DM Sans" pitchFamily="34" charset="-120"/>
                        </a:rPr>
                        <a:t>Daniel Contreras</a:t>
                      </a:r>
                      <a:endParaRPr lang="en-US" sz="1400" dirty="0">
                        <a:latin typeface="DM Sans" charset="0"/>
                        <a:ea typeface="DM Sans" charset="0"/>
                        <a:cs typeface="DM Sans" charset="0"/>
                      </a:endParaRPr>
                    </a:p>
                  </a:txBody>
                  <a:tcPr marL="62230" marR="62230" marT="62230" marB="62230" anchor="t">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r>
            </a:tbl>
          </a:graphicData>
        </a:graphic>
      </p:graphicFrame>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9C9"/>
                </a:solidFill>
                <a:latin typeface="DM Sans" pitchFamily="34" charset="0"/>
                <a:ea typeface="DM Sans" pitchFamily="34" charset="-122"/>
                <a:cs typeface="DM Sans" pitchFamily="34" charset="-120"/>
              </a:rPr>
              <a:t>Universidad Mariano Gálvez de Guatemala · Plan Sábado</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9C9"/>
                </a:solidFill>
                <a:latin typeface="DM Sans" pitchFamily="34" charset="0"/>
                <a:ea typeface="DM Sans" pitchFamily="34" charset="-122"/>
                <a:cs typeface="DM Sans" pitchFamily="34" charset="-120"/>
              </a:rPr>
              <a:t>21</a:t>
            </a:r>
            <a:endParaRPr lang="en-US" sz="1200" dirty="0"/>
          </a:p>
        </p:txBody>
      </p:sp>
    </p:spTree>
  </p:cSld>
  <p:clrMapOvr>
    <a:masterClrMapping/>
  </p:clrMapOvr>
</p:sld>
</file>

<file path=ppt/theme/theme1.xml><?xml version="1.0" encoding="utf-8"?>
<a:theme xmlns:a="http://schemas.openxmlformats.org/drawingml/2006/main" name="QA FrontAccounting 2.4.20 — Resumen ejecutivo">
  <a:themeElements>
    <a:clrScheme name="QA FrontAccounting 2.4.20 — Resumen ejecutivo">
      <a:dk1>
        <a:srgbClr val="12233F"/>
      </a:dk1>
      <a:lt1>
        <a:srgbClr val="F5F3EC"/>
      </a:lt1>
      <a:dk2>
        <a:srgbClr val="4B576A"/>
      </a:dk2>
      <a:lt2>
        <a:srgbClr val="DEDEDB"/>
      </a:lt2>
      <a:accent1>
        <a:srgbClr val="D9822B"/>
      </a:accent1>
      <a:accent2>
        <a:srgbClr val="9A4F0C"/>
      </a:accent2>
      <a:accent3>
        <a:srgbClr val="2F5D8C"/>
      </a:accent3>
      <a:accent4>
        <a:srgbClr val="E8A04F"/>
      </a:accent4>
      <a:accent5>
        <a:srgbClr val="7C8CA3"/>
      </a:accent5>
      <a:accent6>
        <a:srgbClr val="B3391F"/>
      </a:accent6>
      <a:hlink>
        <a:srgbClr val="0563C1"/>
      </a:hlink>
      <a:folHlink>
        <a:srgbClr val="954F72"/>
      </a:folHlink>
    </a:clrScheme>
    <a:fontScheme name="QA FrontAccounting 2.4.20 — Resumen ejecutivo">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 FrontAccounting 2.4.20 — Resumen ejecutivo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2026-10-28T15:10:49Z</dcterms:created>
  <dcterms:modified xsi:type="dcterms:W3CDTF">2026-10-28T15:10:49Z</dcterms:modified>
</cp:coreProperties>
</file>