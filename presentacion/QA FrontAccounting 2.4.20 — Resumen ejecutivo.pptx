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95" d="100"/>
          <a:sy n="95" d="100"/>
        </p:scale>
        <p:origin x="178" y="7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presProps" Target="pres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51767786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Presentación del proyecto final del curso de Aseguramiento de la Calidad de Software. Aplicamos el ciclo completo de QA a FrontAccounting 2.4.20, trabajando con SCRUM en tres sprints y una revisión final. Esta presentación resume resultados, hallazgos y recomendaciones; el detalle está en el informe.</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Probamos los cuatro módulos con más impacto de negocio. Una venta descuenta inventario y una compra lo aumenta, por eso se prueban juntos. La verificación de asientos contables se hizo solo como parte de Ventas y Compras. Las pruebas se ejecutaron entre el 12 y el 16 de octubre en Chrome y Edge.</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 ejecutaron los 16 casos: 13 aprobaron y 3 fallaron, para 81.3%. Se confirmaron 10 bugs reproducidos con evidencia. Con 16 casos, 12 aprobados habrían dado 75% y la meta de 80% no se habría cumplido; por eso el margen es estrecho.</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Cinco de las seis metas se cumplen. La que no se cumple es la densidad de defectos: 10 bugs sobre 16 casos da 0.63 y la meta era 0.4 como máximo. La reserva sobre la suite automatizada se explica en la diapositiva 8. Las métricas de proceso como efectividad de detección y tasa de reapertura no se midieron porque no hubo ciclo de corrección ni regresión.</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TC-03 es un defecto menor de usabilidad: el acceso sí se rechaza, pero el mensaje no indica que faltan campos. TC-13 y TC-15 afectan reglas de negocio de Ventas y son los dos hallazgos prioritarios. TC-15 es el más grave porque cambia el estado de una orden que ya tiene entregas y factura.</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Este es el mensaje central de la presentación. Se entregó y facturó la orden #15, y el sistema aún ofrece el botón Cancelar Orden y lo ejecuta. Causa probable: la cancelación no verifica si la orden ya tiene entregas o facturas. No se asignó prioridad crítica porque ningún riesgo evaluado alcanzó 9 en la escala del informe.</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Siete de los diez bugs son de severidad baja y la mayoría se concentra en el archivo de idioma. Los dos defectos funcionales, BUG-05 y BUG-10, son los que justifican atención prioritaria. La densidad de defectos de 0.63 sale de 10 bugs entre 16 casos ejecutados.</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corrida se hizo con Cypress 16.2.0 en modo headless, sobre el ambiente QA. Los números de cobertura y éxito cumplen las metas, pero varios scripts solo registran el comportamiento y no afirman el resultado esperado, así que no pueden fallar. Esa es la razón de la reserva sobre la tasa de éxito de la suite. La corrida final debería hacerse en Chrome y, si es posible, en Firefox.</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Tres ideas para llevarse. Uno: el proceso de QA cumplió su parte, se ejecutó todo y se superó la meta de aprobación. Dos: el producto tiene una brecha en reglas de negocio de Ventas. Tres: la suite automatizada todavía no es una red de seguridad confiable. Queda pendiente cerrar las evidencias y comunicar los defectos de mayor riesgo.</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primera recomendación es la prioritaria porque ataca los dos defectos de mayor riesgo. Recordar que FrontAccounting es software de terceros y su código no se modificó en este proyecto: el ciclo del bug llega hasta hallazgo verificado y reportado, con una recomendación de corrección.</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Estas lecciones están marcadas en el informe como temas para validar por el equipo en la retrospectiva. La primera es la más importante: una prueba que solo registra el comportamiento no puede fallar.</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Cierre y espacio para preguntas. Daniel Contreras asume dos roles compatibles (Líder Técnico y Arquitecto) por el tamaño del grupo.</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and body">
    <p:bg>
      <p:bgPr>
        <a:solidFill>
          <a:srgbClr val="F5F3EC"/>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12800" y="812800"/>
            <a:ext cx="10566400" cy="502920"/>
          </a:xfrm>
          <a:prstGeom prst="rect">
            <a:avLst/>
          </a:prstGeom>
          <a:noFill/>
          <a:ln/>
        </p:spPr>
        <p:txBody>
          <a:bodyPr wrap="square" lIns="0" tIns="0" rIns="0" bIns="0" rtlCol="0" anchor="t"/>
          <a:lstStyle>
            <a:lvl1pPr marL="0" indent="0" algn="l">
              <a:lnSpc>
                <a:spcPct val="115000"/>
              </a:lnSpc>
              <a:buNone/>
              <a:defRPr lang="en-US" sz="3600" dirty="0">
                <a:solidFill>
                  <a:srgbClr val="12233F"/>
                </a:solidFill>
                <a:latin typeface="DM Sans" pitchFamily="34" charset="0"/>
                <a:ea typeface="DM Sans" pitchFamily="34" charset="-122"/>
                <a:cs typeface="DM Sans" pitchFamily="34" charset="-120"/>
              </a:defRPr>
            </a:lvl1pPr>
          </a:lstStyle>
          <a:p>
            <a:pPr marL="0" indent="0" algn="l">
              <a:lnSpc>
                <a:spcPct val="115000"/>
              </a:lnSpc>
              <a:buNone/>
            </a:pPr>
            <a:endParaRPr lang="en-US" sz="3600" dirty="0"/>
          </a:p>
        </p:txBody>
      </p:sp>
      <p:sp>
        <p:nvSpPr>
          <p:cNvPr id="3" name="Text Placeholder 2"/>
          <p:cNvSpPr>
            <a:spLocks noGrp="1"/>
          </p:cNvSpPr>
          <p:nvPr>
            <p:ph type="body" idx="101"/>
          </p:nvPr>
        </p:nvSpPr>
        <p:spPr>
          <a:xfrm>
            <a:off x="812800" y="1620520"/>
            <a:ext cx="10566400" cy="4424680"/>
          </a:xfrm>
          <a:prstGeom prst="rect">
            <a:avLst/>
          </a:prstGeom>
          <a:noFill/>
          <a:ln/>
        </p:spPr>
        <p:txBody>
          <a:bodyPr wrap="square" lIns="0" tIns="0" rIns="0" bIns="0" rtlCol="0" anchor="t"/>
          <a:lstStyle>
            <a:lvl1pPr marL="0" indent="0" algn="l">
              <a:lnSpc>
                <a:spcPct val="140000"/>
              </a:lnSpc>
              <a:buNone/>
              <a:defRPr lang="en-US" sz="1600" dirty="0">
                <a:solidFill>
                  <a:srgbClr val="12233F"/>
                </a:solidFill>
                <a:latin typeface="DM Sans" pitchFamily="34" charset="0"/>
                <a:ea typeface="DM Sans" pitchFamily="34" charset="-122"/>
                <a:cs typeface="DM Sans" pitchFamily="34" charset="-120"/>
              </a:defRPr>
            </a:lvl1pPr>
          </a:lstStyle>
          <a:p>
            <a:pPr marL="0" indent="0" algn="l">
              <a:lnSpc>
                <a:spcPct val="140000"/>
              </a:lnSpc>
              <a:buNone/>
            </a:pPr>
            <a:endParaRPr lang="en-US" sz="1600" dirty="0"/>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5F3EC"/>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12800" y="812800"/>
            <a:ext cx="10566400" cy="502920"/>
          </a:xfrm>
          <a:prstGeom prst="rect">
            <a:avLst/>
          </a:prstGeom>
          <a:noFill/>
          <a:ln/>
        </p:spPr>
        <p:txBody>
          <a:bodyPr wrap="square" lIns="0" tIns="0" rIns="0" bIns="0" rtlCol="0" anchor="t"/>
          <a:lstStyle>
            <a:lvl1pPr marL="0" indent="0" algn="l">
              <a:lnSpc>
                <a:spcPct val="115000"/>
              </a:lnSpc>
              <a:buNone/>
              <a:defRPr lang="en-US" sz="3600" dirty="0">
                <a:solidFill>
                  <a:srgbClr val="12233F"/>
                </a:solidFill>
                <a:latin typeface="DM Sans" pitchFamily="34" charset="0"/>
                <a:ea typeface="DM Sans" pitchFamily="34" charset="-122"/>
                <a:cs typeface="DM Sans" pitchFamily="34" charset="-120"/>
              </a:defRPr>
            </a:lvl1pPr>
          </a:lstStyle>
          <a:p>
            <a:pPr marL="0" indent="0" algn="l">
              <a:lnSpc>
                <a:spcPct val="115000"/>
              </a:lnSpc>
              <a:buNone/>
            </a:pPr>
            <a:endParaRPr lang="en-US" sz="3600" dirty="0"/>
          </a:p>
        </p:txBody>
      </p:sp>
      <p:sp>
        <p:nvSpPr>
          <p:cNvPr id="3" name="Text Placeholder 2"/>
          <p:cNvSpPr>
            <a:spLocks noGrp="1"/>
          </p:cNvSpPr>
          <p:nvPr>
            <p:ph type="body" idx="101"/>
          </p:nvPr>
        </p:nvSpPr>
        <p:spPr>
          <a:xfrm>
            <a:off x="812800" y="1620520"/>
            <a:ext cx="10566400" cy="4424680"/>
          </a:xfrm>
          <a:prstGeom prst="rect">
            <a:avLst/>
          </a:prstGeom>
          <a:noFill/>
          <a:ln/>
        </p:spPr>
        <p:txBody>
          <a:bodyPr wrap="square" lIns="0" tIns="0" rIns="0" bIns="0" rtlCol="0" anchor="t"/>
          <a:lstStyle>
            <a:lvl1pPr marL="0" indent="0" algn="l">
              <a:lnSpc>
                <a:spcPct val="140000"/>
              </a:lnSpc>
              <a:buNone/>
              <a:defRPr lang="en-US" sz="1600" dirty="0">
                <a:solidFill>
                  <a:srgbClr val="12233F"/>
                </a:solidFill>
                <a:latin typeface="DM Sans" pitchFamily="34" charset="0"/>
                <a:ea typeface="DM Sans" pitchFamily="34" charset="-122"/>
                <a:cs typeface="DM Sans" pitchFamily="34" charset="-120"/>
              </a:defRPr>
            </a:lvl1pPr>
          </a:lstStyle>
          <a:p>
            <a:pPr marL="0" indent="0" algn="l">
              <a:lnSpc>
                <a:spcPct val="140000"/>
              </a:lnSpc>
              <a:buNone/>
            </a:pPr>
            <a:endParaRPr lang="en-US" sz="1600" dirty="0"/>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2233F"/>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74320"/>
          </a:xfrm>
          <a:prstGeom prst="rect">
            <a:avLst/>
          </a:prstGeom>
          <a:noFill/>
          <a:ln/>
        </p:spPr>
        <p:txBody>
          <a:bodyPr wrap="square" lIns="0" tIns="0" rIns="0" bIns="0" rtlCol="0" anchor="t">
            <a:normAutofit/>
          </a:bodyPr>
          <a:lstStyle/>
          <a:p>
            <a:pPr marL="0" indent="0" algn="l">
              <a:lnSpc>
                <a:spcPts val="1960"/>
              </a:lnSpc>
              <a:buNone/>
            </a:pPr>
            <a:r>
              <a:rPr lang="en-US" sz="1400" b="1" kern="0" spc="150" dirty="0">
                <a:solidFill>
                  <a:srgbClr val="E8A04F"/>
                </a:solidFill>
                <a:latin typeface="DM Sans" pitchFamily="34" charset="0"/>
                <a:ea typeface="DM Sans" pitchFamily="34" charset="-122"/>
                <a:cs typeface="DM Sans" pitchFamily="34" charset="-120"/>
              </a:rPr>
              <a:t>ASEGURAMIENTO DE LA CALIDAD DE SOFTWARE · PROYECTO FINAL</a:t>
            </a:r>
            <a:endParaRPr lang="en-US" sz="1400" dirty="0"/>
          </a:p>
        </p:txBody>
      </p:sp>
      <p:sp>
        <p:nvSpPr>
          <p:cNvPr id="3" name="Shape 1"/>
          <p:cNvSpPr/>
          <p:nvPr/>
        </p:nvSpPr>
        <p:spPr>
          <a:xfrm>
            <a:off x="812800" y="2499360"/>
            <a:ext cx="762000" cy="50800"/>
          </a:xfrm>
          <a:prstGeom prst="rect">
            <a:avLst/>
          </a:prstGeom>
          <a:solidFill>
            <a:srgbClr val="D9822B"/>
          </a:solidFill>
          <a:ln/>
        </p:spPr>
        <p:txBody>
          <a:bodyPr/>
          <a:lstStyle/>
          <a:p>
            <a:endParaRPr lang="es-GT"/>
          </a:p>
        </p:txBody>
      </p:sp>
      <p:sp>
        <p:nvSpPr>
          <p:cNvPr id="4" name="Text 2"/>
          <p:cNvSpPr>
            <a:spLocks noGrp="1"/>
          </p:cNvSpPr>
          <p:nvPr>
            <p:ph type="title"/>
          </p:nvPr>
        </p:nvSpPr>
        <p:spPr>
          <a:xfrm>
            <a:off x="812800" y="2753360"/>
            <a:ext cx="10883392" cy="528320"/>
          </a:xfrm>
          <a:prstGeom prst="rect">
            <a:avLst/>
          </a:prstGeom>
          <a:noFill/>
          <a:ln/>
        </p:spPr>
        <p:txBody>
          <a:bodyPr wrap="square" lIns="0" tIns="0" rIns="0" bIns="0" rtlCol="0" anchor="t">
            <a:normAutofit/>
          </a:bodyPr>
          <a:lstStyle/>
          <a:p>
            <a:pPr marL="0" indent="0" algn="l">
              <a:lnSpc>
                <a:spcPts val="3960"/>
              </a:lnSpc>
              <a:buNone/>
            </a:pPr>
            <a:r>
              <a:rPr lang="en-US" sz="3600" b="1" i="0" dirty="0">
                <a:solidFill>
                  <a:srgbClr val="F5F3EC"/>
                </a:solidFill>
                <a:latin typeface="DM Sans" pitchFamily="34" charset="0"/>
                <a:ea typeface="DM Sans" pitchFamily="34" charset="-122"/>
                <a:cs typeface="DM Sans" pitchFamily="34" charset="-120"/>
              </a:rPr>
              <a:t>Informe final de QA: FrontAccounting 2.4.20</a:t>
            </a:r>
            <a:endParaRPr lang="en-US" sz="3600" dirty="0"/>
          </a:p>
        </p:txBody>
      </p:sp>
      <p:sp>
        <p:nvSpPr>
          <p:cNvPr id="5" name="Text 3"/>
          <p:cNvSpPr/>
          <p:nvPr/>
        </p:nvSpPr>
        <p:spPr>
          <a:xfrm>
            <a:off x="812800" y="3459480"/>
            <a:ext cx="10883392" cy="345440"/>
          </a:xfrm>
          <a:prstGeom prst="rect">
            <a:avLst/>
          </a:prstGeom>
          <a:noFill/>
          <a:ln/>
        </p:spPr>
        <p:txBody>
          <a:bodyPr wrap="square" lIns="0" tIns="0" rIns="0" bIns="0" rtlCol="0" anchor="t">
            <a:normAutofit/>
          </a:bodyPr>
          <a:lstStyle/>
          <a:p>
            <a:pPr marL="0" indent="0" algn="l">
              <a:lnSpc>
                <a:spcPts val="2520"/>
              </a:lnSpc>
              <a:buNone/>
            </a:pPr>
            <a:r>
              <a:rPr lang="en-US" sz="1800" dirty="0">
                <a:solidFill>
                  <a:srgbClr val="C9D3E0"/>
                </a:solidFill>
                <a:latin typeface="DM Sans" pitchFamily="34" charset="0"/>
                <a:ea typeface="DM Sans" pitchFamily="34" charset="-122"/>
                <a:cs typeface="DM Sans" pitchFamily="34" charset="-120"/>
              </a:rPr>
              <a:t>Resumen ejecutivo del ciclo completo de pruebas con SCRUM</a:t>
            </a:r>
            <a:endParaRPr lang="en-US" sz="1800" dirty="0"/>
          </a:p>
        </p:txBody>
      </p:sp>
      <p:sp>
        <p:nvSpPr>
          <p:cNvPr id="6" name="Text 4"/>
          <p:cNvSpPr/>
          <p:nvPr/>
        </p:nvSpPr>
        <p:spPr>
          <a:xfrm>
            <a:off x="812800" y="5217160"/>
            <a:ext cx="10883392" cy="274320"/>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F5F3EC"/>
                </a:solidFill>
                <a:latin typeface="DM Sans" pitchFamily="34" charset="0"/>
                <a:ea typeface="DM Sans" pitchFamily="34" charset="-122"/>
                <a:cs typeface="DM Sans" pitchFamily="34" charset="-120"/>
              </a:rPr>
              <a:t>Universidad Mariano Gálvez de Guatemala · Plan Sábado · Docente: Hernán Velasquez</a:t>
            </a:r>
            <a:endParaRPr lang="en-US" sz="1400" dirty="0"/>
          </a:p>
        </p:txBody>
      </p:sp>
      <p:sp>
        <p:nvSpPr>
          <p:cNvPr id="7" name="Text 5"/>
          <p:cNvSpPr/>
          <p:nvPr/>
        </p:nvSpPr>
        <p:spPr>
          <a:xfrm>
            <a:off x="812800" y="5542280"/>
            <a:ext cx="10883392" cy="23876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AEB9C9"/>
                </a:solidFill>
                <a:latin typeface="DM Sans" pitchFamily="34" charset="0"/>
                <a:ea typeface="DM Sans" pitchFamily="34" charset="-122"/>
                <a:cs typeface="DM Sans" pitchFamily="34" charset="-120"/>
              </a:rPr>
              <a:t>Cristhiam Samayoa · Daniel Contreras · Edgar Díaz · Emilio Schaad · Guillermo Ortiz · Herber Godoy</a:t>
            </a:r>
            <a:endParaRPr lang="en-US" sz="1200" dirty="0"/>
          </a:p>
        </p:txBody>
      </p:sp>
      <p:sp>
        <p:nvSpPr>
          <p:cNvPr id="8" name="Text 6"/>
          <p:cNvSpPr/>
          <p:nvPr/>
        </p:nvSpPr>
        <p:spPr>
          <a:xfrm>
            <a:off x="812800" y="5831840"/>
            <a:ext cx="10883392" cy="23876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AEB9C9"/>
                </a:solidFill>
                <a:latin typeface="DM Sans" pitchFamily="34" charset="0"/>
                <a:ea typeface="DM Sans" pitchFamily="34" charset="-122"/>
                <a:cs typeface="DM Sans" pitchFamily="34" charset="-120"/>
              </a:rPr>
              <a:t>Guatemala, 17 de octubre de 2026</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3EC"/>
        </a:solidFill>
        <a:effectLst/>
      </p:bgPr>
    </p:bg>
    <p:spTree>
      <p:nvGrpSpPr>
        <p:cNvPr id="1" name=""/>
        <p:cNvGrpSpPr/>
        <p:nvPr/>
      </p:nvGrpSpPr>
      <p:grpSpPr>
        <a:xfrm>
          <a:off x="0" y="0"/>
          <a:ext cx="0" cy="0"/>
          <a:chOff x="0" y="0"/>
          <a:chExt cx="0" cy="0"/>
        </a:xfrm>
      </p:grpSpPr>
      <p:sp>
        <p:nvSpPr>
          <p:cNvPr id="2" name="Text 0"/>
          <p:cNvSpPr>
            <a:spLocks noGrp="1"/>
          </p:cNvSpPr>
          <p:nvPr>
            <p:ph type="title"/>
          </p:nvPr>
        </p:nvSpPr>
        <p:spPr>
          <a:xfrm>
            <a:off x="812800" y="812800"/>
            <a:ext cx="10883392" cy="528320"/>
          </a:xfrm>
          <a:prstGeom prst="rect">
            <a:avLst/>
          </a:prstGeom>
          <a:noFill/>
          <a:ln/>
        </p:spPr>
        <p:txBody>
          <a:bodyPr wrap="square" lIns="0" tIns="0" rIns="0" bIns="0" rtlCol="0" anchor="t">
            <a:normAutofit/>
          </a:bodyPr>
          <a:lstStyle/>
          <a:p>
            <a:pPr marL="0" indent="0" algn="l">
              <a:lnSpc>
                <a:spcPts val="3960"/>
              </a:lnSpc>
              <a:buNone/>
            </a:pPr>
            <a:r>
              <a:rPr lang="en-US" sz="3600" b="1" i="0" dirty="0">
                <a:solidFill>
                  <a:srgbClr val="12233F"/>
                </a:solidFill>
                <a:latin typeface="DM Sans" pitchFamily="34" charset="0"/>
                <a:ea typeface="DM Sans" pitchFamily="34" charset="-122"/>
                <a:cs typeface="DM Sans" pitchFamily="34" charset="-120"/>
              </a:rPr>
              <a:t>Contexto y alcance</a:t>
            </a:r>
            <a:endParaRPr lang="en-US" sz="3600" dirty="0"/>
          </a:p>
        </p:txBody>
      </p:sp>
      <p:sp>
        <p:nvSpPr>
          <p:cNvPr id="3" name="Shape 1"/>
          <p:cNvSpPr/>
          <p:nvPr/>
        </p:nvSpPr>
        <p:spPr>
          <a:xfrm>
            <a:off x="815975" y="1623695"/>
            <a:ext cx="3380264" cy="2132330"/>
          </a:xfrm>
          <a:prstGeom prst="roundRect">
            <a:avLst>
              <a:gd name="adj" fmla="val 4616"/>
            </a:avLst>
          </a:prstGeom>
          <a:solidFill>
            <a:srgbClr val="FCFBF7"/>
          </a:solidFill>
          <a:ln w="6350">
            <a:solidFill>
              <a:srgbClr val="DAD6C8"/>
            </a:solidFill>
            <a:prstDash val="solid"/>
          </a:ln>
        </p:spPr>
        <p:txBody>
          <a:bodyPr/>
          <a:lstStyle/>
          <a:p>
            <a:endParaRPr lang="es-GT"/>
          </a:p>
        </p:txBody>
      </p:sp>
      <p:sp>
        <p:nvSpPr>
          <p:cNvPr id="4" name="Text 2"/>
          <p:cNvSpPr/>
          <p:nvPr/>
        </p:nvSpPr>
        <p:spPr>
          <a:xfrm>
            <a:off x="1071880" y="1879600"/>
            <a:ext cx="2954507" cy="299720"/>
          </a:xfrm>
          <a:prstGeom prst="rect">
            <a:avLst/>
          </a:prstGeom>
          <a:noFill/>
          <a:ln/>
        </p:spPr>
        <p:txBody>
          <a:bodyPr wrap="square" lIns="0" tIns="0" rIns="0" bIns="0" rtlCol="0" anchor="t">
            <a:normAutofit/>
          </a:bodyPr>
          <a:lstStyle/>
          <a:p>
            <a:pPr marL="0" indent="0" algn="l">
              <a:lnSpc>
                <a:spcPts val="2160"/>
              </a:lnSpc>
              <a:buNone/>
            </a:pPr>
            <a:r>
              <a:rPr lang="en-US" sz="1800" b="1" dirty="0">
                <a:solidFill>
                  <a:srgbClr val="12233F"/>
                </a:solidFill>
                <a:latin typeface="DM Sans" pitchFamily="34" charset="0"/>
                <a:ea typeface="DM Sans" pitchFamily="34" charset="-122"/>
                <a:cs typeface="DM Sans" pitchFamily="34" charset="-120"/>
              </a:rPr>
              <a:t>Sistema bajo prueba</a:t>
            </a:r>
            <a:endParaRPr lang="en-US" sz="1800" dirty="0"/>
          </a:p>
        </p:txBody>
      </p:sp>
      <p:sp>
        <p:nvSpPr>
          <p:cNvPr id="5" name="Text 3"/>
          <p:cNvSpPr/>
          <p:nvPr/>
        </p:nvSpPr>
        <p:spPr>
          <a:xfrm>
            <a:off x="1071880" y="2255520"/>
            <a:ext cx="2954507" cy="1021080"/>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4A5568"/>
                </a:solidFill>
                <a:latin typeface="DM Sans" pitchFamily="34" charset="0"/>
                <a:ea typeface="DM Sans" pitchFamily="34" charset="-122"/>
                <a:cs typeface="DM Sans" pitchFamily="34" charset="-120"/>
              </a:rPr>
              <a:t>FrontAccounting 2.4.20, un ERP y sistema contable web (PHP + MySQL). Ambiente de QA en Render, no de producción.</a:t>
            </a:r>
            <a:endParaRPr lang="en-US" sz="1400" dirty="0"/>
          </a:p>
        </p:txBody>
      </p:sp>
      <p:sp>
        <p:nvSpPr>
          <p:cNvPr id="6" name="Shape 4"/>
          <p:cNvSpPr/>
          <p:nvPr/>
        </p:nvSpPr>
        <p:spPr>
          <a:xfrm>
            <a:off x="4405789" y="1623695"/>
            <a:ext cx="3380343" cy="2132330"/>
          </a:xfrm>
          <a:prstGeom prst="roundRect">
            <a:avLst>
              <a:gd name="adj" fmla="val 4616"/>
            </a:avLst>
          </a:prstGeom>
          <a:solidFill>
            <a:srgbClr val="FCFBF7"/>
          </a:solidFill>
          <a:ln w="6350">
            <a:solidFill>
              <a:srgbClr val="DAD6C8"/>
            </a:solidFill>
            <a:prstDash val="solid"/>
          </a:ln>
        </p:spPr>
        <p:txBody>
          <a:bodyPr/>
          <a:lstStyle/>
          <a:p>
            <a:endParaRPr lang="es-GT"/>
          </a:p>
        </p:txBody>
      </p:sp>
      <p:sp>
        <p:nvSpPr>
          <p:cNvPr id="7" name="Text 5"/>
          <p:cNvSpPr/>
          <p:nvPr/>
        </p:nvSpPr>
        <p:spPr>
          <a:xfrm>
            <a:off x="4661694" y="1879600"/>
            <a:ext cx="2954589" cy="299720"/>
          </a:xfrm>
          <a:prstGeom prst="rect">
            <a:avLst/>
          </a:prstGeom>
          <a:noFill/>
          <a:ln/>
        </p:spPr>
        <p:txBody>
          <a:bodyPr wrap="square" lIns="0" tIns="0" rIns="0" bIns="0" rtlCol="0" anchor="t">
            <a:normAutofit/>
          </a:bodyPr>
          <a:lstStyle/>
          <a:p>
            <a:pPr marL="0" indent="0" algn="l">
              <a:lnSpc>
                <a:spcPts val="2160"/>
              </a:lnSpc>
              <a:buNone/>
            </a:pPr>
            <a:r>
              <a:rPr lang="en-US" sz="1800" b="1" dirty="0">
                <a:solidFill>
                  <a:srgbClr val="12233F"/>
                </a:solidFill>
                <a:latin typeface="DM Sans" pitchFamily="34" charset="0"/>
                <a:ea typeface="DM Sans" pitchFamily="34" charset="-122"/>
                <a:cs typeface="DM Sans" pitchFamily="34" charset="-120"/>
              </a:rPr>
              <a:t>Alcance</a:t>
            </a:r>
            <a:endParaRPr lang="en-US" sz="1800" dirty="0"/>
          </a:p>
        </p:txBody>
      </p:sp>
      <p:sp>
        <p:nvSpPr>
          <p:cNvPr id="8" name="Text 6"/>
          <p:cNvSpPr/>
          <p:nvPr/>
        </p:nvSpPr>
        <p:spPr>
          <a:xfrm>
            <a:off x="4661694" y="2255520"/>
            <a:ext cx="2954589" cy="1021080"/>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4A5568"/>
                </a:solidFill>
                <a:latin typeface="DM Sans" pitchFamily="34" charset="0"/>
                <a:ea typeface="DM Sans" pitchFamily="34" charset="-122"/>
                <a:cs typeface="DM Sans" pitchFamily="34" charset="-120"/>
              </a:rPr>
              <a:t>Seguridad, Ventas, Compras e Inventario: los módulos de mayor uso y riesgo. Manufactura, Activos Fijos y Dimensiones quedan fuera.</a:t>
            </a:r>
            <a:endParaRPr lang="en-US" sz="1400" dirty="0"/>
          </a:p>
        </p:txBody>
      </p:sp>
      <p:sp>
        <p:nvSpPr>
          <p:cNvPr id="9" name="Shape 7"/>
          <p:cNvSpPr/>
          <p:nvPr/>
        </p:nvSpPr>
        <p:spPr>
          <a:xfrm>
            <a:off x="7995682" y="1623695"/>
            <a:ext cx="3380343" cy="2132330"/>
          </a:xfrm>
          <a:prstGeom prst="roundRect">
            <a:avLst>
              <a:gd name="adj" fmla="val 4616"/>
            </a:avLst>
          </a:prstGeom>
          <a:solidFill>
            <a:srgbClr val="FCFBF7"/>
          </a:solidFill>
          <a:ln w="6350">
            <a:solidFill>
              <a:srgbClr val="DAD6C8"/>
            </a:solidFill>
            <a:prstDash val="solid"/>
          </a:ln>
        </p:spPr>
        <p:txBody>
          <a:bodyPr/>
          <a:lstStyle/>
          <a:p>
            <a:endParaRPr lang="es-GT"/>
          </a:p>
        </p:txBody>
      </p:sp>
      <p:sp>
        <p:nvSpPr>
          <p:cNvPr id="10" name="Text 8"/>
          <p:cNvSpPr/>
          <p:nvPr/>
        </p:nvSpPr>
        <p:spPr>
          <a:xfrm>
            <a:off x="8251587" y="1879600"/>
            <a:ext cx="2954589" cy="299720"/>
          </a:xfrm>
          <a:prstGeom prst="rect">
            <a:avLst/>
          </a:prstGeom>
          <a:noFill/>
          <a:ln/>
        </p:spPr>
        <p:txBody>
          <a:bodyPr wrap="square" lIns="0" tIns="0" rIns="0" bIns="0" rtlCol="0" anchor="t">
            <a:normAutofit/>
          </a:bodyPr>
          <a:lstStyle/>
          <a:p>
            <a:pPr marL="0" indent="0" algn="l">
              <a:lnSpc>
                <a:spcPts val="2160"/>
              </a:lnSpc>
              <a:buNone/>
            </a:pPr>
            <a:r>
              <a:rPr lang="en-US" sz="1800" b="1" dirty="0">
                <a:solidFill>
                  <a:srgbClr val="12233F"/>
                </a:solidFill>
                <a:latin typeface="DM Sans" pitchFamily="34" charset="0"/>
                <a:ea typeface="DM Sans" pitchFamily="34" charset="-122"/>
                <a:cs typeface="DM Sans" pitchFamily="34" charset="-120"/>
              </a:rPr>
              <a:t>Metodología</a:t>
            </a:r>
            <a:endParaRPr lang="en-US" sz="1800" dirty="0"/>
          </a:p>
        </p:txBody>
      </p:sp>
      <p:sp>
        <p:nvSpPr>
          <p:cNvPr id="11" name="Text 9"/>
          <p:cNvSpPr/>
          <p:nvPr/>
        </p:nvSpPr>
        <p:spPr>
          <a:xfrm>
            <a:off x="8251587" y="2255520"/>
            <a:ext cx="2954589" cy="1270000"/>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4A5568"/>
                </a:solidFill>
                <a:latin typeface="DM Sans" pitchFamily="34" charset="0"/>
                <a:ea typeface="DM Sans" pitchFamily="34" charset="-122"/>
                <a:cs typeface="DM Sans" pitchFamily="34" charset="-120"/>
              </a:rPr>
              <a:t>SCRUM en tres sprints y una revisión final. Cinco técnicas de diseño: clases de equivalencia, valores límite, tablas de decisión, pairwise y transición de estados.</a:t>
            </a:r>
            <a:endParaRPr lang="en-US" sz="1400" dirty="0"/>
          </a:p>
        </p:txBody>
      </p:sp>
      <p:sp>
        <p:nvSpPr>
          <p:cNvPr id="12" name="Shape 10"/>
          <p:cNvSpPr/>
          <p:nvPr/>
        </p:nvSpPr>
        <p:spPr>
          <a:xfrm>
            <a:off x="838200" y="4064000"/>
            <a:ext cx="0" cy="685800"/>
          </a:xfrm>
          <a:prstGeom prst="line">
            <a:avLst/>
          </a:prstGeom>
          <a:noFill/>
          <a:ln w="50800">
            <a:solidFill>
              <a:srgbClr val="D9822B"/>
            </a:solidFill>
            <a:prstDash val="solid"/>
          </a:ln>
        </p:spPr>
        <p:txBody>
          <a:bodyPr/>
          <a:lstStyle/>
          <a:p>
            <a:endParaRPr lang="es-GT"/>
          </a:p>
        </p:txBody>
      </p:sp>
      <p:sp>
        <p:nvSpPr>
          <p:cNvPr id="13" name="Text 11"/>
          <p:cNvSpPr/>
          <p:nvPr/>
        </p:nvSpPr>
        <p:spPr>
          <a:xfrm>
            <a:off x="1066800" y="4114800"/>
            <a:ext cx="10621772" cy="309880"/>
          </a:xfrm>
          <a:prstGeom prst="rect">
            <a:avLst/>
          </a:prstGeom>
          <a:noFill/>
          <a:ln/>
        </p:spPr>
        <p:txBody>
          <a:bodyPr wrap="square" lIns="0" tIns="0" rIns="0" bIns="0" rtlCol="0" anchor="t">
            <a:normAutofit/>
          </a:bodyPr>
          <a:lstStyle/>
          <a:p>
            <a:pPr marL="0" indent="0" algn="l">
              <a:lnSpc>
                <a:spcPts val="2240"/>
              </a:lnSpc>
              <a:buNone/>
            </a:pPr>
            <a:r>
              <a:rPr lang="en-US" sz="1600" b="1" dirty="0">
                <a:solidFill>
                  <a:srgbClr val="12233F"/>
                </a:solidFill>
                <a:latin typeface="DM Sans" pitchFamily="34" charset="0"/>
                <a:ea typeface="DM Sans" pitchFamily="34" charset="-122"/>
                <a:cs typeface="DM Sans" pitchFamily="34" charset="-120"/>
              </a:rPr>
              <a:t>Ejecución manual del 12 al 16 de octubre de 2026</a:t>
            </a:r>
            <a:endParaRPr lang="en-US" sz="1600" dirty="0"/>
          </a:p>
        </p:txBody>
      </p:sp>
      <p:sp>
        <p:nvSpPr>
          <p:cNvPr id="14" name="Text 12"/>
          <p:cNvSpPr/>
          <p:nvPr/>
        </p:nvSpPr>
        <p:spPr>
          <a:xfrm>
            <a:off x="1066800" y="4450080"/>
            <a:ext cx="10621772" cy="274320"/>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4A5568"/>
                </a:solidFill>
                <a:latin typeface="DM Sans" pitchFamily="34" charset="0"/>
                <a:ea typeface="DM Sans" pitchFamily="34" charset="-122"/>
                <a:cs typeface="DM Sans" pitchFamily="34" charset="-120"/>
              </a:rPr>
              <a:t>Prioridad de calidad: adecuación funcional, seguridad, fiabilidad y usabilidad (ISO/IEC 25010).</a:t>
            </a:r>
            <a:endParaRPr lang="en-US" sz="1400" dirty="0"/>
          </a:p>
        </p:txBody>
      </p:sp>
      <p:sp>
        <p:nvSpPr>
          <p:cNvPr id="15" name="Text 13"/>
          <p:cNvSpPr/>
          <p:nvPr/>
        </p:nvSpPr>
        <p:spPr>
          <a:xfrm>
            <a:off x="812800" y="6238241"/>
            <a:ext cx="7848600" cy="23876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5B6472"/>
                </a:solidFill>
                <a:latin typeface="DM Sans" pitchFamily="34" charset="0"/>
                <a:ea typeface="DM Sans" pitchFamily="34" charset="-122"/>
                <a:cs typeface="DM Sans" pitchFamily="34" charset="-120"/>
              </a:rPr>
              <a:t>Informe final de QA · FrontAccounting 2.4.20</a:t>
            </a:r>
            <a:endParaRPr lang="en-US" sz="1200" dirty="0"/>
          </a:p>
        </p:txBody>
      </p:sp>
      <p:sp>
        <p:nvSpPr>
          <p:cNvPr id="16" name="Text 14"/>
          <p:cNvSpPr/>
          <p:nvPr/>
        </p:nvSpPr>
        <p:spPr>
          <a:xfrm>
            <a:off x="10058400" y="6238241"/>
            <a:ext cx="1320800" cy="238760"/>
          </a:xfrm>
          <a:prstGeom prst="rect">
            <a:avLst/>
          </a:prstGeom>
          <a:noFill/>
          <a:ln/>
        </p:spPr>
        <p:txBody>
          <a:bodyPr wrap="square" lIns="0" tIns="0" rIns="0" bIns="0" rtlCol="0" anchor="t">
            <a:normAutofit/>
          </a:bodyPr>
          <a:lstStyle/>
          <a:p>
            <a:pPr marL="0" indent="0" algn="r">
              <a:lnSpc>
                <a:spcPts val="1680"/>
              </a:lnSpc>
              <a:buNone/>
            </a:pPr>
            <a:r>
              <a:rPr lang="en-US" sz="1200" dirty="0">
                <a:solidFill>
                  <a:srgbClr val="5B6472"/>
                </a:solidFill>
                <a:latin typeface="DM Sans" pitchFamily="34" charset="0"/>
                <a:ea typeface="DM Sans" pitchFamily="34" charset="-122"/>
                <a:cs typeface="DM Sans" pitchFamily="34" charset="-120"/>
              </a:rPr>
              <a:t>2</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3EC"/>
        </a:solidFill>
        <a:effectLst/>
      </p:bgPr>
    </p:bg>
    <p:spTree>
      <p:nvGrpSpPr>
        <p:cNvPr id="1" name=""/>
        <p:cNvGrpSpPr/>
        <p:nvPr/>
      </p:nvGrpSpPr>
      <p:grpSpPr>
        <a:xfrm>
          <a:off x="0" y="0"/>
          <a:ext cx="0" cy="0"/>
          <a:chOff x="0" y="0"/>
          <a:chExt cx="0" cy="0"/>
        </a:xfrm>
      </p:grpSpPr>
      <p:sp>
        <p:nvSpPr>
          <p:cNvPr id="2" name="Text 0"/>
          <p:cNvSpPr>
            <a:spLocks noGrp="1"/>
          </p:cNvSpPr>
          <p:nvPr>
            <p:ph type="title"/>
          </p:nvPr>
        </p:nvSpPr>
        <p:spPr>
          <a:xfrm>
            <a:off x="812800" y="812800"/>
            <a:ext cx="10883392" cy="528320"/>
          </a:xfrm>
          <a:prstGeom prst="rect">
            <a:avLst/>
          </a:prstGeom>
          <a:noFill/>
          <a:ln/>
        </p:spPr>
        <p:txBody>
          <a:bodyPr wrap="square" lIns="0" tIns="0" rIns="0" bIns="0" rtlCol="0" anchor="t">
            <a:normAutofit/>
          </a:bodyPr>
          <a:lstStyle/>
          <a:p>
            <a:pPr marL="0" indent="0" algn="l">
              <a:lnSpc>
                <a:spcPts val="3960"/>
              </a:lnSpc>
              <a:buNone/>
            </a:pPr>
            <a:r>
              <a:rPr lang="en-US" sz="3600" b="1" i="0" dirty="0">
                <a:solidFill>
                  <a:srgbClr val="12233F"/>
                </a:solidFill>
                <a:latin typeface="DM Sans" pitchFamily="34" charset="0"/>
                <a:ea typeface="DM Sans" pitchFamily="34" charset="-122"/>
                <a:cs typeface="DM Sans" pitchFamily="34" charset="-120"/>
              </a:rPr>
              <a:t>Resultados de la ejecución manual</a:t>
            </a:r>
            <a:endParaRPr lang="en-US" sz="3600" dirty="0"/>
          </a:p>
        </p:txBody>
      </p:sp>
      <p:sp>
        <p:nvSpPr>
          <p:cNvPr id="3" name="Shape 1"/>
          <p:cNvSpPr/>
          <p:nvPr/>
        </p:nvSpPr>
        <p:spPr>
          <a:xfrm>
            <a:off x="815975" y="1623695"/>
            <a:ext cx="2482850" cy="1756410"/>
          </a:xfrm>
          <a:prstGeom prst="roundRect">
            <a:avLst>
              <a:gd name="adj" fmla="val 5604"/>
            </a:avLst>
          </a:prstGeom>
          <a:solidFill>
            <a:srgbClr val="FCFBF7"/>
          </a:solidFill>
          <a:ln w="6350">
            <a:solidFill>
              <a:srgbClr val="DAD6C8"/>
            </a:solidFill>
            <a:prstDash val="solid"/>
          </a:ln>
        </p:spPr>
        <p:txBody>
          <a:bodyPr/>
          <a:lstStyle/>
          <a:p>
            <a:endParaRPr lang="es-GT"/>
          </a:p>
        </p:txBody>
      </p:sp>
      <p:sp>
        <p:nvSpPr>
          <p:cNvPr id="4" name="Text 2"/>
          <p:cNvSpPr/>
          <p:nvPr/>
        </p:nvSpPr>
        <p:spPr>
          <a:xfrm>
            <a:off x="1046480" y="1854200"/>
            <a:ext cx="2082495" cy="772160"/>
          </a:xfrm>
          <a:prstGeom prst="rect">
            <a:avLst/>
          </a:prstGeom>
          <a:noFill/>
          <a:ln/>
        </p:spPr>
        <p:txBody>
          <a:bodyPr wrap="square" lIns="0" tIns="0" rIns="0" bIns="0" rtlCol="0" anchor="t">
            <a:normAutofit/>
          </a:bodyPr>
          <a:lstStyle/>
          <a:p>
            <a:pPr marL="0" indent="0" algn="l">
              <a:lnSpc>
                <a:spcPts val="5880"/>
              </a:lnSpc>
              <a:buNone/>
            </a:pPr>
            <a:r>
              <a:rPr lang="en-US" sz="5600" b="1" dirty="0">
                <a:solidFill>
                  <a:srgbClr val="12233F"/>
                </a:solidFill>
                <a:latin typeface="DM Sans" pitchFamily="34" charset="0"/>
                <a:ea typeface="DM Sans" pitchFamily="34" charset="-122"/>
                <a:cs typeface="DM Sans" pitchFamily="34" charset="-120"/>
              </a:rPr>
              <a:t>16</a:t>
            </a:r>
            <a:endParaRPr lang="en-US" sz="5600" dirty="0"/>
          </a:p>
        </p:txBody>
      </p:sp>
      <p:sp>
        <p:nvSpPr>
          <p:cNvPr id="5" name="Text 3"/>
          <p:cNvSpPr/>
          <p:nvPr/>
        </p:nvSpPr>
        <p:spPr>
          <a:xfrm>
            <a:off x="1046480" y="2651761"/>
            <a:ext cx="2082495" cy="523240"/>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4A5568"/>
                </a:solidFill>
                <a:latin typeface="DM Sans" pitchFamily="34" charset="0"/>
                <a:ea typeface="DM Sans" pitchFamily="34" charset="-122"/>
                <a:cs typeface="DM Sans" pitchFamily="34" charset="-120"/>
              </a:rPr>
              <a:t>casos diseñados y ejecutados (100%)</a:t>
            </a:r>
            <a:endParaRPr lang="en-US" sz="1400" dirty="0"/>
          </a:p>
        </p:txBody>
      </p:sp>
      <p:sp>
        <p:nvSpPr>
          <p:cNvPr id="6" name="Shape 4"/>
          <p:cNvSpPr/>
          <p:nvPr/>
        </p:nvSpPr>
        <p:spPr>
          <a:xfrm>
            <a:off x="3508375" y="1623695"/>
            <a:ext cx="2482850" cy="1756410"/>
          </a:xfrm>
          <a:prstGeom prst="roundRect">
            <a:avLst>
              <a:gd name="adj" fmla="val 5604"/>
            </a:avLst>
          </a:prstGeom>
          <a:solidFill>
            <a:srgbClr val="FCFBF7"/>
          </a:solidFill>
          <a:ln w="6350">
            <a:solidFill>
              <a:srgbClr val="DAD6C8"/>
            </a:solidFill>
            <a:prstDash val="solid"/>
          </a:ln>
        </p:spPr>
        <p:txBody>
          <a:bodyPr/>
          <a:lstStyle/>
          <a:p>
            <a:endParaRPr lang="es-GT"/>
          </a:p>
        </p:txBody>
      </p:sp>
      <p:sp>
        <p:nvSpPr>
          <p:cNvPr id="7" name="Text 5"/>
          <p:cNvSpPr/>
          <p:nvPr/>
        </p:nvSpPr>
        <p:spPr>
          <a:xfrm>
            <a:off x="3738880" y="1854200"/>
            <a:ext cx="2082495" cy="772160"/>
          </a:xfrm>
          <a:prstGeom prst="rect">
            <a:avLst/>
          </a:prstGeom>
          <a:noFill/>
          <a:ln/>
        </p:spPr>
        <p:txBody>
          <a:bodyPr wrap="square" lIns="0" tIns="0" rIns="0" bIns="0" rtlCol="0" anchor="t">
            <a:normAutofit/>
          </a:bodyPr>
          <a:lstStyle/>
          <a:p>
            <a:pPr marL="0" indent="0" algn="l">
              <a:lnSpc>
                <a:spcPts val="5880"/>
              </a:lnSpc>
              <a:buNone/>
            </a:pPr>
            <a:r>
              <a:rPr lang="en-US" sz="5600" b="1" dirty="0">
                <a:solidFill>
                  <a:srgbClr val="2F5D8C"/>
                </a:solidFill>
                <a:latin typeface="DM Sans" pitchFamily="34" charset="0"/>
                <a:ea typeface="DM Sans" pitchFamily="34" charset="-122"/>
                <a:cs typeface="DM Sans" pitchFamily="34" charset="-120"/>
              </a:rPr>
              <a:t>13</a:t>
            </a:r>
            <a:endParaRPr lang="en-US" sz="5600" dirty="0"/>
          </a:p>
        </p:txBody>
      </p:sp>
      <p:sp>
        <p:nvSpPr>
          <p:cNvPr id="8" name="Text 6"/>
          <p:cNvSpPr/>
          <p:nvPr/>
        </p:nvSpPr>
        <p:spPr>
          <a:xfrm>
            <a:off x="3738880" y="2651761"/>
            <a:ext cx="2082495" cy="274320"/>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4A5568"/>
                </a:solidFill>
                <a:latin typeface="DM Sans" pitchFamily="34" charset="0"/>
                <a:ea typeface="DM Sans" pitchFamily="34" charset="-122"/>
                <a:cs typeface="DM Sans" pitchFamily="34" charset="-120"/>
              </a:rPr>
              <a:t>aprobados (81.3%)</a:t>
            </a:r>
            <a:endParaRPr lang="en-US" sz="1400" dirty="0"/>
          </a:p>
        </p:txBody>
      </p:sp>
      <p:sp>
        <p:nvSpPr>
          <p:cNvPr id="9" name="Shape 7"/>
          <p:cNvSpPr/>
          <p:nvPr/>
        </p:nvSpPr>
        <p:spPr>
          <a:xfrm>
            <a:off x="6200775" y="1623695"/>
            <a:ext cx="2482850" cy="1756410"/>
          </a:xfrm>
          <a:prstGeom prst="roundRect">
            <a:avLst>
              <a:gd name="adj" fmla="val 5604"/>
            </a:avLst>
          </a:prstGeom>
          <a:solidFill>
            <a:srgbClr val="FCFBF7"/>
          </a:solidFill>
          <a:ln w="6350">
            <a:solidFill>
              <a:srgbClr val="DAD6C8"/>
            </a:solidFill>
            <a:prstDash val="solid"/>
          </a:ln>
        </p:spPr>
        <p:txBody>
          <a:bodyPr/>
          <a:lstStyle/>
          <a:p>
            <a:endParaRPr lang="es-GT"/>
          </a:p>
        </p:txBody>
      </p:sp>
      <p:sp>
        <p:nvSpPr>
          <p:cNvPr id="10" name="Text 8"/>
          <p:cNvSpPr/>
          <p:nvPr/>
        </p:nvSpPr>
        <p:spPr>
          <a:xfrm>
            <a:off x="6431280" y="1854200"/>
            <a:ext cx="2082495" cy="772160"/>
          </a:xfrm>
          <a:prstGeom prst="rect">
            <a:avLst/>
          </a:prstGeom>
          <a:noFill/>
          <a:ln/>
        </p:spPr>
        <p:txBody>
          <a:bodyPr wrap="square" lIns="0" tIns="0" rIns="0" bIns="0" rtlCol="0" anchor="t">
            <a:normAutofit/>
          </a:bodyPr>
          <a:lstStyle/>
          <a:p>
            <a:pPr marL="0" indent="0" algn="l">
              <a:lnSpc>
                <a:spcPts val="5880"/>
              </a:lnSpc>
              <a:buNone/>
            </a:pPr>
            <a:r>
              <a:rPr lang="en-US" sz="5600" b="1" dirty="0">
                <a:solidFill>
                  <a:srgbClr val="B3391F"/>
                </a:solidFill>
                <a:latin typeface="DM Sans" pitchFamily="34" charset="0"/>
                <a:ea typeface="DM Sans" pitchFamily="34" charset="-122"/>
                <a:cs typeface="DM Sans" pitchFamily="34" charset="-120"/>
              </a:rPr>
              <a:t>3</a:t>
            </a:r>
            <a:endParaRPr lang="en-US" sz="5600" dirty="0"/>
          </a:p>
        </p:txBody>
      </p:sp>
      <p:sp>
        <p:nvSpPr>
          <p:cNvPr id="11" name="Text 9"/>
          <p:cNvSpPr/>
          <p:nvPr/>
        </p:nvSpPr>
        <p:spPr>
          <a:xfrm>
            <a:off x="6431280" y="2651761"/>
            <a:ext cx="2082495" cy="523240"/>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4A5568"/>
                </a:solidFill>
                <a:latin typeface="DM Sans" pitchFamily="34" charset="0"/>
                <a:ea typeface="DM Sans" pitchFamily="34" charset="-122"/>
                <a:cs typeface="DM Sans" pitchFamily="34" charset="-120"/>
              </a:rPr>
              <a:t>fallidos: TC-03, TC-13 y TC-15</a:t>
            </a:r>
            <a:endParaRPr lang="en-US" sz="1400" dirty="0"/>
          </a:p>
        </p:txBody>
      </p:sp>
      <p:sp>
        <p:nvSpPr>
          <p:cNvPr id="12" name="Shape 10"/>
          <p:cNvSpPr/>
          <p:nvPr/>
        </p:nvSpPr>
        <p:spPr>
          <a:xfrm>
            <a:off x="8893175" y="1623695"/>
            <a:ext cx="2482850" cy="1756410"/>
          </a:xfrm>
          <a:prstGeom prst="roundRect">
            <a:avLst>
              <a:gd name="adj" fmla="val 5604"/>
            </a:avLst>
          </a:prstGeom>
          <a:solidFill>
            <a:srgbClr val="FCFBF7"/>
          </a:solidFill>
          <a:ln w="6350">
            <a:solidFill>
              <a:srgbClr val="DAD6C8"/>
            </a:solidFill>
            <a:prstDash val="solid"/>
          </a:ln>
        </p:spPr>
        <p:txBody>
          <a:bodyPr/>
          <a:lstStyle/>
          <a:p>
            <a:endParaRPr lang="es-GT"/>
          </a:p>
        </p:txBody>
      </p:sp>
      <p:sp>
        <p:nvSpPr>
          <p:cNvPr id="13" name="Text 11"/>
          <p:cNvSpPr/>
          <p:nvPr/>
        </p:nvSpPr>
        <p:spPr>
          <a:xfrm>
            <a:off x="9123680" y="1854200"/>
            <a:ext cx="2082495" cy="772160"/>
          </a:xfrm>
          <a:prstGeom prst="rect">
            <a:avLst/>
          </a:prstGeom>
          <a:noFill/>
          <a:ln/>
        </p:spPr>
        <p:txBody>
          <a:bodyPr wrap="square" lIns="0" tIns="0" rIns="0" bIns="0" rtlCol="0" anchor="t">
            <a:normAutofit/>
          </a:bodyPr>
          <a:lstStyle/>
          <a:p>
            <a:pPr marL="0" indent="0" algn="l">
              <a:lnSpc>
                <a:spcPts val="5880"/>
              </a:lnSpc>
              <a:buNone/>
            </a:pPr>
            <a:r>
              <a:rPr lang="en-US" sz="5600" b="1" dirty="0">
                <a:solidFill>
                  <a:srgbClr val="12233F"/>
                </a:solidFill>
                <a:latin typeface="DM Sans" pitchFamily="34" charset="0"/>
                <a:ea typeface="DM Sans" pitchFamily="34" charset="-122"/>
                <a:cs typeface="DM Sans" pitchFamily="34" charset="-120"/>
              </a:rPr>
              <a:t>10</a:t>
            </a:r>
            <a:endParaRPr lang="en-US" sz="5600" dirty="0"/>
          </a:p>
        </p:txBody>
      </p:sp>
      <p:sp>
        <p:nvSpPr>
          <p:cNvPr id="14" name="Text 12"/>
          <p:cNvSpPr/>
          <p:nvPr/>
        </p:nvSpPr>
        <p:spPr>
          <a:xfrm>
            <a:off x="9123680" y="2651761"/>
            <a:ext cx="2082495" cy="523240"/>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4A5568"/>
                </a:solidFill>
                <a:latin typeface="DM Sans" pitchFamily="34" charset="0"/>
                <a:ea typeface="DM Sans" pitchFamily="34" charset="-122"/>
                <a:cs typeface="DM Sans" pitchFamily="34" charset="-120"/>
              </a:rPr>
              <a:t>bugs reproducidos y documentados</a:t>
            </a:r>
            <a:endParaRPr lang="en-US" sz="1400" dirty="0"/>
          </a:p>
        </p:txBody>
      </p:sp>
      <p:sp>
        <p:nvSpPr>
          <p:cNvPr id="15" name="Shape 13"/>
          <p:cNvSpPr/>
          <p:nvPr/>
        </p:nvSpPr>
        <p:spPr>
          <a:xfrm>
            <a:off x="838200" y="3688080"/>
            <a:ext cx="0" cy="685800"/>
          </a:xfrm>
          <a:prstGeom prst="line">
            <a:avLst/>
          </a:prstGeom>
          <a:noFill/>
          <a:ln w="50800">
            <a:solidFill>
              <a:srgbClr val="D9822B"/>
            </a:solidFill>
            <a:prstDash val="solid"/>
          </a:ln>
        </p:spPr>
        <p:txBody>
          <a:bodyPr/>
          <a:lstStyle/>
          <a:p>
            <a:endParaRPr lang="es-GT"/>
          </a:p>
        </p:txBody>
      </p:sp>
      <p:sp>
        <p:nvSpPr>
          <p:cNvPr id="16" name="Text 14"/>
          <p:cNvSpPr/>
          <p:nvPr/>
        </p:nvSpPr>
        <p:spPr>
          <a:xfrm>
            <a:off x="1066800" y="3738880"/>
            <a:ext cx="10621772" cy="309880"/>
          </a:xfrm>
          <a:prstGeom prst="rect">
            <a:avLst/>
          </a:prstGeom>
          <a:noFill/>
          <a:ln/>
        </p:spPr>
        <p:txBody>
          <a:bodyPr wrap="square" lIns="0" tIns="0" rIns="0" bIns="0" rtlCol="0" anchor="t">
            <a:normAutofit/>
          </a:bodyPr>
          <a:lstStyle/>
          <a:p>
            <a:pPr marL="0" indent="0" algn="l">
              <a:lnSpc>
                <a:spcPts val="2240"/>
              </a:lnSpc>
              <a:buNone/>
            </a:pPr>
            <a:r>
              <a:rPr lang="en-US" sz="1600" b="1" dirty="0">
                <a:solidFill>
                  <a:srgbClr val="12233F"/>
                </a:solidFill>
                <a:latin typeface="DM Sans" pitchFamily="34" charset="0"/>
                <a:ea typeface="DM Sans" pitchFamily="34" charset="-122"/>
                <a:cs typeface="DM Sans" pitchFamily="34" charset="-120"/>
              </a:rPr>
              <a:t>La tasa de aprobación supera la meta de 80% por 1.3 puntos porcentuales.</a:t>
            </a:r>
            <a:endParaRPr lang="en-US" sz="1600" dirty="0"/>
          </a:p>
        </p:txBody>
      </p:sp>
      <p:sp>
        <p:nvSpPr>
          <p:cNvPr id="17" name="Text 15"/>
          <p:cNvSpPr/>
          <p:nvPr/>
        </p:nvSpPr>
        <p:spPr>
          <a:xfrm>
            <a:off x="1066800" y="4074161"/>
            <a:ext cx="10621772" cy="274320"/>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4A5568"/>
                </a:solidFill>
                <a:latin typeface="DM Sans" pitchFamily="34" charset="0"/>
                <a:ea typeface="DM Sans" pitchFamily="34" charset="-122"/>
                <a:cs typeface="DM Sans" pitchFamily="34" charset="-120"/>
              </a:rPr>
              <a:t>Margen estrecho: un solo caso fallido más habría dejado la meta sin cumplir.</a:t>
            </a:r>
            <a:endParaRPr lang="en-US" sz="1400" dirty="0"/>
          </a:p>
        </p:txBody>
      </p:sp>
      <p:sp>
        <p:nvSpPr>
          <p:cNvPr id="18" name="Text 16"/>
          <p:cNvSpPr/>
          <p:nvPr/>
        </p:nvSpPr>
        <p:spPr>
          <a:xfrm>
            <a:off x="812800" y="6238241"/>
            <a:ext cx="7848600" cy="23876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5B6472"/>
                </a:solidFill>
                <a:latin typeface="DM Sans" pitchFamily="34" charset="0"/>
                <a:ea typeface="DM Sans" pitchFamily="34" charset="-122"/>
                <a:cs typeface="DM Sans" pitchFamily="34" charset="-120"/>
              </a:rPr>
              <a:t>Fuente: informe final, secciones 5 y 6</a:t>
            </a:r>
            <a:endParaRPr lang="en-US" sz="1200" dirty="0"/>
          </a:p>
        </p:txBody>
      </p:sp>
      <p:sp>
        <p:nvSpPr>
          <p:cNvPr id="19" name="Text 17"/>
          <p:cNvSpPr/>
          <p:nvPr/>
        </p:nvSpPr>
        <p:spPr>
          <a:xfrm>
            <a:off x="10058400" y="6238241"/>
            <a:ext cx="1320800" cy="238760"/>
          </a:xfrm>
          <a:prstGeom prst="rect">
            <a:avLst/>
          </a:prstGeom>
          <a:noFill/>
          <a:ln/>
        </p:spPr>
        <p:txBody>
          <a:bodyPr wrap="square" lIns="0" tIns="0" rIns="0" bIns="0" rtlCol="0" anchor="t">
            <a:normAutofit/>
          </a:bodyPr>
          <a:lstStyle/>
          <a:p>
            <a:pPr marL="0" indent="0" algn="r">
              <a:lnSpc>
                <a:spcPts val="1680"/>
              </a:lnSpc>
              <a:buNone/>
            </a:pPr>
            <a:r>
              <a:rPr lang="en-US" sz="1200" dirty="0">
                <a:solidFill>
                  <a:srgbClr val="5B6472"/>
                </a:solidFill>
                <a:latin typeface="DM Sans" pitchFamily="34" charset="0"/>
                <a:ea typeface="DM Sans" pitchFamily="34" charset="-122"/>
                <a:cs typeface="DM Sans" pitchFamily="34" charset="-120"/>
              </a:rPr>
              <a:t>3</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3EC"/>
        </a:solidFill>
        <a:effectLst/>
      </p:bgPr>
    </p:bg>
    <p:spTree>
      <p:nvGrpSpPr>
        <p:cNvPr id="1" name=""/>
        <p:cNvGrpSpPr/>
        <p:nvPr/>
      </p:nvGrpSpPr>
      <p:grpSpPr>
        <a:xfrm>
          <a:off x="0" y="0"/>
          <a:ext cx="0" cy="0"/>
          <a:chOff x="0" y="0"/>
          <a:chExt cx="0" cy="0"/>
        </a:xfrm>
      </p:grpSpPr>
      <p:sp>
        <p:nvSpPr>
          <p:cNvPr id="2" name="Text 0"/>
          <p:cNvSpPr>
            <a:spLocks noGrp="1"/>
          </p:cNvSpPr>
          <p:nvPr>
            <p:ph type="title"/>
          </p:nvPr>
        </p:nvSpPr>
        <p:spPr>
          <a:xfrm>
            <a:off x="812800" y="812800"/>
            <a:ext cx="10883392" cy="528320"/>
          </a:xfrm>
          <a:prstGeom prst="rect">
            <a:avLst/>
          </a:prstGeom>
          <a:noFill/>
          <a:ln/>
        </p:spPr>
        <p:txBody>
          <a:bodyPr wrap="square" lIns="0" tIns="0" rIns="0" bIns="0" rtlCol="0" anchor="t">
            <a:normAutofit/>
          </a:bodyPr>
          <a:lstStyle/>
          <a:p>
            <a:pPr marL="0" indent="0" algn="l">
              <a:lnSpc>
                <a:spcPts val="3960"/>
              </a:lnSpc>
              <a:buNone/>
            </a:pPr>
            <a:r>
              <a:rPr lang="en-US" sz="3600" b="1" i="0" dirty="0">
                <a:solidFill>
                  <a:srgbClr val="12233F"/>
                </a:solidFill>
                <a:latin typeface="DM Sans" pitchFamily="34" charset="0"/>
                <a:ea typeface="DM Sans" pitchFamily="34" charset="-122"/>
                <a:cs typeface="DM Sans" pitchFamily="34" charset="-120"/>
              </a:rPr>
              <a:t>Cumplimiento de metas</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822960" y="1579880"/>
          <a:ext cx="10556240" cy="2684780"/>
        </p:xfrm>
        <a:graphic>
          <a:graphicData uri="http://schemas.openxmlformats.org/drawingml/2006/table">
            <a:tbl>
              <a:tblPr/>
              <a:tblGrid>
                <a:gridCol w="3483559">
                  <a:extLst>
                    <a:ext uri="{9D8B030D-6E8A-4147-A177-3AD203B41FA5}">
                      <a16:colId xmlns:a16="http://schemas.microsoft.com/office/drawing/2014/main" val="20000"/>
                    </a:ext>
                  </a:extLst>
                </a:gridCol>
                <a:gridCol w="1372311">
                  <a:extLst>
                    <a:ext uri="{9D8B030D-6E8A-4147-A177-3AD203B41FA5}">
                      <a16:colId xmlns:a16="http://schemas.microsoft.com/office/drawing/2014/main" val="20001"/>
                    </a:ext>
                  </a:extLst>
                </a:gridCol>
                <a:gridCol w="3377997">
                  <a:extLst>
                    <a:ext uri="{9D8B030D-6E8A-4147-A177-3AD203B41FA5}">
                      <a16:colId xmlns:a16="http://schemas.microsoft.com/office/drawing/2014/main" val="20002"/>
                    </a:ext>
                  </a:extLst>
                </a:gridCol>
                <a:gridCol w="2322373">
                  <a:extLst>
                    <a:ext uri="{9D8B030D-6E8A-4147-A177-3AD203B41FA5}">
                      <a16:colId xmlns:a16="http://schemas.microsoft.com/office/drawing/2014/main" val="20003"/>
                    </a:ext>
                  </a:extLst>
                </a:gridCol>
              </a:tblGrid>
              <a:tr h="383540">
                <a:tc>
                  <a:txBody>
                    <a:bodyPr/>
                    <a:lstStyle/>
                    <a:p>
                      <a:pPr marL="0" indent="0">
                        <a:lnSpc>
                          <a:spcPts val="1960"/>
                        </a:lnSpc>
                        <a:buNone/>
                      </a:pPr>
                      <a:r>
                        <a:rPr lang="en-US" sz="1400" b="1" dirty="0">
                          <a:solidFill>
                            <a:srgbClr val="F5F3EC"/>
                          </a:solidFill>
                          <a:latin typeface="DM Sans" pitchFamily="34" charset="0"/>
                          <a:ea typeface="DM Sans" pitchFamily="34" charset="-122"/>
                          <a:cs typeface="DM Sans" pitchFamily="34" charset="-120"/>
                        </a:rPr>
                        <a:t>Métrica</a:t>
                      </a:r>
                      <a:endParaRPr lang="en-US" sz="1400" dirty="0">
                        <a:latin typeface="DM Sans" charset="0"/>
                        <a:ea typeface="DM Sans" charset="0"/>
                        <a:cs typeface="DM Sans" charset="0"/>
                      </a:endParaRPr>
                    </a:p>
                  </a:txBody>
                  <a:tcPr marL="62230" marR="62230" marT="62230" marB="62230">
                    <a:lnL w="12700" cap="flat" cmpd="sng" algn="ctr">
                      <a:solidFill>
                        <a:srgbClr val="C4C2BC"/>
                      </a:solidFill>
                      <a:prstDash val="solid"/>
                      <a:round/>
                      <a:headEnd type="none" w="med" len="med"/>
                      <a:tailEnd type="none" w="med" len="med"/>
                    </a:lnL>
                    <a:lnR w="12700" cap="flat" cmpd="sng" algn="ctr">
                      <a:solidFill>
                        <a:srgbClr val="122035"/>
                      </a:solidFill>
                      <a:prstDash val="solid"/>
                      <a:round/>
                      <a:headEnd type="none" w="med" len="med"/>
                      <a:tailEnd type="none" w="med" len="med"/>
                    </a:lnR>
                    <a:lnT w="12700" cap="flat" cmpd="sng" algn="ctr">
                      <a:solidFill>
                        <a:srgbClr val="C4C2BC"/>
                      </a:solidFill>
                      <a:prstDash val="solid"/>
                      <a:round/>
                      <a:headEnd type="none" w="med" len="med"/>
                      <a:tailEnd type="none" w="med" len="med"/>
                    </a:lnT>
                    <a:lnB w="12700" cap="flat" cmpd="sng" algn="ctr">
                      <a:solidFill>
                        <a:srgbClr val="122035"/>
                      </a:solidFill>
                      <a:prstDash val="solid"/>
                      <a:round/>
                      <a:headEnd type="none" w="med" len="med"/>
                      <a:tailEnd type="none" w="med" len="med"/>
                    </a:lnB>
                    <a:solidFill>
                      <a:srgbClr val="12233F"/>
                    </a:solidFill>
                  </a:tcPr>
                </a:tc>
                <a:tc>
                  <a:txBody>
                    <a:bodyPr/>
                    <a:lstStyle/>
                    <a:p>
                      <a:pPr marL="0" indent="0">
                        <a:lnSpc>
                          <a:spcPts val="1960"/>
                        </a:lnSpc>
                        <a:buNone/>
                      </a:pPr>
                      <a:r>
                        <a:rPr lang="en-US" sz="1400" b="1" dirty="0">
                          <a:solidFill>
                            <a:srgbClr val="F5F3EC"/>
                          </a:solidFill>
                          <a:latin typeface="DM Sans" pitchFamily="34" charset="0"/>
                          <a:ea typeface="DM Sans" pitchFamily="34" charset="-122"/>
                          <a:cs typeface="DM Sans" pitchFamily="34" charset="-120"/>
                        </a:rPr>
                        <a:t>Meta</a:t>
                      </a:r>
                      <a:endParaRPr lang="en-US" sz="1400" dirty="0">
                        <a:latin typeface="DM Sans" charset="0"/>
                        <a:ea typeface="DM Sans" charset="0"/>
                        <a:cs typeface="DM Sans" charset="0"/>
                      </a:endParaRPr>
                    </a:p>
                  </a:txBody>
                  <a:tcPr marL="62230" marR="62230" marT="62230" marB="62230">
                    <a:lnL w="12700" cap="flat" cmpd="sng" algn="ctr">
                      <a:solidFill>
                        <a:srgbClr val="122035"/>
                      </a:solidFill>
                      <a:prstDash val="solid"/>
                      <a:round/>
                      <a:headEnd type="none" w="med" len="med"/>
                      <a:tailEnd type="none" w="med" len="med"/>
                    </a:lnL>
                    <a:lnR w="12700" cap="flat" cmpd="sng" algn="ctr">
                      <a:solidFill>
                        <a:srgbClr val="122035"/>
                      </a:solidFill>
                      <a:prstDash val="solid"/>
                      <a:round/>
                      <a:headEnd type="none" w="med" len="med"/>
                      <a:tailEnd type="none" w="med" len="med"/>
                    </a:lnR>
                    <a:lnT w="12700" cap="flat" cmpd="sng" algn="ctr">
                      <a:solidFill>
                        <a:srgbClr val="C4C2BC"/>
                      </a:solidFill>
                      <a:prstDash val="solid"/>
                      <a:round/>
                      <a:headEnd type="none" w="med" len="med"/>
                      <a:tailEnd type="none" w="med" len="med"/>
                    </a:lnT>
                    <a:lnB w="12700" cap="flat" cmpd="sng" algn="ctr">
                      <a:solidFill>
                        <a:srgbClr val="122035"/>
                      </a:solidFill>
                      <a:prstDash val="solid"/>
                      <a:round/>
                      <a:headEnd type="none" w="med" len="med"/>
                      <a:tailEnd type="none" w="med" len="med"/>
                    </a:lnB>
                    <a:solidFill>
                      <a:srgbClr val="12233F"/>
                    </a:solidFill>
                  </a:tcPr>
                </a:tc>
                <a:tc>
                  <a:txBody>
                    <a:bodyPr/>
                    <a:lstStyle/>
                    <a:p>
                      <a:pPr marL="0" indent="0">
                        <a:lnSpc>
                          <a:spcPts val="1960"/>
                        </a:lnSpc>
                        <a:buNone/>
                      </a:pPr>
                      <a:r>
                        <a:rPr lang="en-US" sz="1400" b="1" dirty="0">
                          <a:solidFill>
                            <a:srgbClr val="F5F3EC"/>
                          </a:solidFill>
                          <a:latin typeface="DM Sans" pitchFamily="34" charset="0"/>
                          <a:ea typeface="DM Sans" pitchFamily="34" charset="-122"/>
                          <a:cs typeface="DM Sans" pitchFamily="34" charset="-120"/>
                        </a:rPr>
                        <a:t>Resultado</a:t>
                      </a:r>
                      <a:endParaRPr lang="en-US" sz="1400" dirty="0">
                        <a:latin typeface="DM Sans" charset="0"/>
                        <a:ea typeface="DM Sans" charset="0"/>
                        <a:cs typeface="DM Sans" charset="0"/>
                      </a:endParaRPr>
                    </a:p>
                  </a:txBody>
                  <a:tcPr marL="62230" marR="62230" marT="62230" marB="62230">
                    <a:lnL w="12700" cap="flat" cmpd="sng" algn="ctr">
                      <a:solidFill>
                        <a:srgbClr val="122035"/>
                      </a:solidFill>
                      <a:prstDash val="solid"/>
                      <a:round/>
                      <a:headEnd type="none" w="med" len="med"/>
                      <a:tailEnd type="none" w="med" len="med"/>
                    </a:lnL>
                    <a:lnR w="12700" cap="flat" cmpd="sng" algn="ctr">
                      <a:solidFill>
                        <a:srgbClr val="122035"/>
                      </a:solidFill>
                      <a:prstDash val="solid"/>
                      <a:round/>
                      <a:headEnd type="none" w="med" len="med"/>
                      <a:tailEnd type="none" w="med" len="med"/>
                    </a:lnR>
                    <a:lnT w="12700" cap="flat" cmpd="sng" algn="ctr">
                      <a:solidFill>
                        <a:srgbClr val="C4C2BC"/>
                      </a:solidFill>
                      <a:prstDash val="solid"/>
                      <a:round/>
                      <a:headEnd type="none" w="med" len="med"/>
                      <a:tailEnd type="none" w="med" len="med"/>
                    </a:lnT>
                    <a:lnB w="12700" cap="flat" cmpd="sng" algn="ctr">
                      <a:solidFill>
                        <a:srgbClr val="122035"/>
                      </a:solidFill>
                      <a:prstDash val="solid"/>
                      <a:round/>
                      <a:headEnd type="none" w="med" len="med"/>
                      <a:tailEnd type="none" w="med" len="med"/>
                    </a:lnB>
                    <a:solidFill>
                      <a:srgbClr val="12233F"/>
                    </a:solidFill>
                  </a:tcPr>
                </a:tc>
                <a:tc>
                  <a:txBody>
                    <a:bodyPr/>
                    <a:lstStyle/>
                    <a:p>
                      <a:pPr marL="0" indent="0">
                        <a:lnSpc>
                          <a:spcPts val="1960"/>
                        </a:lnSpc>
                        <a:buNone/>
                      </a:pPr>
                      <a:r>
                        <a:rPr lang="en-US" sz="1400" b="1" dirty="0">
                          <a:solidFill>
                            <a:srgbClr val="F5F3EC"/>
                          </a:solidFill>
                          <a:latin typeface="DM Sans" pitchFamily="34" charset="0"/>
                          <a:ea typeface="DM Sans" pitchFamily="34" charset="-122"/>
                          <a:cs typeface="DM Sans" pitchFamily="34" charset="-120"/>
                        </a:rPr>
                        <a:t>Estado</a:t>
                      </a:r>
                      <a:endParaRPr lang="en-US" sz="1400" dirty="0">
                        <a:latin typeface="DM Sans" charset="0"/>
                        <a:ea typeface="DM Sans" charset="0"/>
                        <a:cs typeface="DM Sans" charset="0"/>
                      </a:endParaRPr>
                    </a:p>
                  </a:txBody>
                  <a:tcPr marL="62230" marR="62230" marT="62230" marB="62230">
                    <a:lnL w="12700" cap="flat" cmpd="sng" algn="ctr">
                      <a:solidFill>
                        <a:srgbClr val="122035"/>
                      </a:solidFill>
                      <a:prstDash val="solid"/>
                      <a:round/>
                      <a:headEnd type="none" w="med" len="med"/>
                      <a:tailEnd type="none" w="med" len="med"/>
                    </a:lnL>
                    <a:lnR w="12700" cap="flat" cmpd="sng" algn="ctr">
                      <a:solidFill>
                        <a:srgbClr val="122035"/>
                      </a:solidFill>
                      <a:prstDash val="solid"/>
                      <a:round/>
                      <a:headEnd type="none" w="med" len="med"/>
                      <a:tailEnd type="none" w="med" len="med"/>
                    </a:lnR>
                    <a:lnT w="12700" cap="flat" cmpd="sng" algn="ctr">
                      <a:solidFill>
                        <a:srgbClr val="C4C2BC"/>
                      </a:solidFill>
                      <a:prstDash val="solid"/>
                      <a:round/>
                      <a:headEnd type="none" w="med" len="med"/>
                      <a:tailEnd type="none" w="med" len="med"/>
                    </a:lnT>
                    <a:lnB w="12700" cap="flat" cmpd="sng" algn="ctr">
                      <a:solidFill>
                        <a:srgbClr val="122035"/>
                      </a:solidFill>
                      <a:prstDash val="solid"/>
                      <a:round/>
                      <a:headEnd type="none" w="med" len="med"/>
                      <a:tailEnd type="none" w="med" len="med"/>
                    </a:lnB>
                    <a:solidFill>
                      <a:srgbClr val="12233F"/>
                    </a:solidFill>
                  </a:tcPr>
                </a:tc>
                <a:extLst>
                  <a:ext uri="{0D108BD9-81ED-4DB2-BD59-A6C34878D82A}">
                    <a16:rowId xmlns:a16="http://schemas.microsoft.com/office/drawing/2014/main" val="10000"/>
                  </a:ext>
                </a:extLst>
              </a:tr>
              <a:tr h="383540">
                <a:tc>
                  <a:txBody>
                    <a:bodyPr/>
                    <a:lstStyle/>
                    <a:p>
                      <a:pPr marL="0" indent="0">
                        <a:lnSpc>
                          <a:spcPts val="1960"/>
                        </a:lnSpc>
                        <a:buNone/>
                      </a:pPr>
                      <a:r>
                        <a:rPr lang="en-US" sz="1400" dirty="0">
                          <a:solidFill>
                            <a:srgbClr val="12233F"/>
                          </a:solidFill>
                          <a:latin typeface="DM Sans" pitchFamily="34" charset="0"/>
                          <a:ea typeface="DM Sans" pitchFamily="34" charset="-122"/>
                          <a:cs typeface="DM Sans" pitchFamily="34" charset="-120"/>
                        </a:rPr>
                        <a:t>Casos ejecutados</a:t>
                      </a:r>
                      <a:endParaRPr lang="en-US" sz="1400" dirty="0">
                        <a:latin typeface="DM Sans" charset="0"/>
                        <a:ea typeface="DM Sans" charset="0"/>
                        <a:cs typeface="DM Sans" charset="0"/>
                      </a:endParaRPr>
                    </a:p>
                  </a:txBody>
                  <a:tcPr marL="62230" marR="62230" marT="62230" marB="62230">
                    <a:lnL w="12700" cap="flat" cmpd="sng" algn="ctr">
                      <a:solidFill>
                        <a:srgbClr val="C4C2BC"/>
                      </a:solidFill>
                      <a:prstDash val="solid"/>
                      <a:round/>
                      <a:headEnd type="none" w="med" len="med"/>
                      <a:tailEnd type="none" w="med" len="med"/>
                    </a:lnL>
                    <a:lnR w="12700" cap="flat" cmpd="sng" algn="ctr">
                      <a:solidFill>
                        <a:srgbClr val="C4C2BC"/>
                      </a:solidFill>
                      <a:prstDash val="solid"/>
                      <a:round/>
                      <a:headEnd type="none" w="med" len="med"/>
                      <a:tailEnd type="none" w="med" len="med"/>
                    </a:lnR>
                    <a:lnT w="12700" cap="flat" cmpd="sng" algn="ctr">
                      <a:solidFill>
                        <a:srgbClr val="122035"/>
                      </a:solidFill>
                      <a:prstDash val="solid"/>
                      <a:round/>
                      <a:headEnd type="none" w="med" len="med"/>
                      <a:tailEnd type="none" w="med" len="med"/>
                    </a:lnT>
                    <a:lnB w="12700" cap="flat" cmpd="sng" algn="ctr">
                      <a:solidFill>
                        <a:srgbClr val="C4C2BC"/>
                      </a:solidFill>
                      <a:prstDash val="solid"/>
                      <a:round/>
                      <a:headEnd type="none" w="med" len="med"/>
                      <a:tailEnd type="none" w="med" len="med"/>
                    </a:lnB>
                  </a:tcPr>
                </a:tc>
                <a:tc>
                  <a:txBody>
                    <a:bodyPr/>
                    <a:lstStyle/>
                    <a:p>
                      <a:pPr marL="0" indent="0">
                        <a:lnSpc>
                          <a:spcPts val="1960"/>
                        </a:lnSpc>
                        <a:buNone/>
                      </a:pPr>
                      <a:r>
                        <a:rPr lang="en-US" sz="1400" dirty="0">
                          <a:solidFill>
                            <a:srgbClr val="12233F"/>
                          </a:solidFill>
                          <a:latin typeface="DM Sans" pitchFamily="34" charset="0"/>
                          <a:ea typeface="DM Sans" pitchFamily="34" charset="-122"/>
                          <a:cs typeface="DM Sans" pitchFamily="34" charset="-120"/>
                        </a:rPr>
                        <a:t>100%</a:t>
                      </a:r>
                      <a:endParaRPr lang="en-US" sz="1400" dirty="0">
                        <a:latin typeface="DM Sans" charset="0"/>
                        <a:ea typeface="DM Sans" charset="0"/>
                        <a:cs typeface="DM Sans" charset="0"/>
                      </a:endParaRPr>
                    </a:p>
                  </a:txBody>
                  <a:tcPr marL="62230" marR="62230" marT="62230" marB="62230">
                    <a:lnL w="12700" cap="flat" cmpd="sng" algn="ctr">
                      <a:solidFill>
                        <a:srgbClr val="C4C2BC"/>
                      </a:solidFill>
                      <a:prstDash val="solid"/>
                      <a:round/>
                      <a:headEnd type="none" w="med" len="med"/>
                      <a:tailEnd type="none" w="med" len="med"/>
                    </a:lnL>
                    <a:lnR w="12700" cap="flat" cmpd="sng" algn="ctr">
                      <a:solidFill>
                        <a:srgbClr val="C4C2BC"/>
                      </a:solidFill>
                      <a:prstDash val="solid"/>
                      <a:round/>
                      <a:headEnd type="none" w="med" len="med"/>
                      <a:tailEnd type="none" w="med" len="med"/>
                    </a:lnR>
                    <a:lnT w="12700" cap="flat" cmpd="sng" algn="ctr">
                      <a:solidFill>
                        <a:srgbClr val="122035"/>
                      </a:solidFill>
                      <a:prstDash val="solid"/>
                      <a:round/>
                      <a:headEnd type="none" w="med" len="med"/>
                      <a:tailEnd type="none" w="med" len="med"/>
                    </a:lnT>
                    <a:lnB w="12700" cap="flat" cmpd="sng" algn="ctr">
                      <a:solidFill>
                        <a:srgbClr val="C4C2BC"/>
                      </a:solidFill>
                      <a:prstDash val="solid"/>
                      <a:round/>
                      <a:headEnd type="none" w="med" len="med"/>
                      <a:tailEnd type="none" w="med" len="med"/>
                    </a:lnB>
                  </a:tcPr>
                </a:tc>
                <a:tc>
                  <a:txBody>
                    <a:bodyPr/>
                    <a:lstStyle/>
                    <a:p>
                      <a:pPr marL="0" indent="0">
                        <a:lnSpc>
                          <a:spcPts val="1960"/>
                        </a:lnSpc>
                        <a:buNone/>
                      </a:pPr>
                      <a:r>
                        <a:rPr lang="en-US" sz="1400" dirty="0">
                          <a:solidFill>
                            <a:srgbClr val="12233F"/>
                          </a:solidFill>
                          <a:latin typeface="DM Sans" pitchFamily="34" charset="0"/>
                          <a:ea typeface="DM Sans" pitchFamily="34" charset="-122"/>
                          <a:cs typeface="DM Sans" pitchFamily="34" charset="-120"/>
                        </a:rPr>
                        <a:t>16 de 16</a:t>
                      </a:r>
                      <a:endParaRPr lang="en-US" sz="1400" dirty="0">
                        <a:latin typeface="DM Sans" charset="0"/>
                        <a:ea typeface="DM Sans" charset="0"/>
                        <a:cs typeface="DM Sans" charset="0"/>
                      </a:endParaRPr>
                    </a:p>
                  </a:txBody>
                  <a:tcPr marL="62230" marR="62230" marT="62230" marB="62230">
                    <a:lnL w="12700" cap="flat" cmpd="sng" algn="ctr">
                      <a:solidFill>
                        <a:srgbClr val="C4C2BC"/>
                      </a:solidFill>
                      <a:prstDash val="solid"/>
                      <a:round/>
                      <a:headEnd type="none" w="med" len="med"/>
                      <a:tailEnd type="none" w="med" len="med"/>
                    </a:lnL>
                    <a:lnR w="12700" cap="flat" cmpd="sng" algn="ctr">
                      <a:solidFill>
                        <a:srgbClr val="C4C2BC"/>
                      </a:solidFill>
                      <a:prstDash val="solid"/>
                      <a:round/>
                      <a:headEnd type="none" w="med" len="med"/>
                      <a:tailEnd type="none" w="med" len="med"/>
                    </a:lnR>
                    <a:lnT w="12700" cap="flat" cmpd="sng" algn="ctr">
                      <a:solidFill>
                        <a:srgbClr val="122035"/>
                      </a:solidFill>
                      <a:prstDash val="solid"/>
                      <a:round/>
                      <a:headEnd type="none" w="med" len="med"/>
                      <a:tailEnd type="none" w="med" len="med"/>
                    </a:lnT>
                    <a:lnB w="12700" cap="flat" cmpd="sng" algn="ctr">
                      <a:solidFill>
                        <a:srgbClr val="C4C2BC"/>
                      </a:solidFill>
                      <a:prstDash val="solid"/>
                      <a:round/>
                      <a:headEnd type="none" w="med" len="med"/>
                      <a:tailEnd type="none" w="med" len="med"/>
                    </a:lnB>
                  </a:tcPr>
                </a:tc>
                <a:tc>
                  <a:txBody>
                    <a:bodyPr/>
                    <a:lstStyle/>
                    <a:p>
                      <a:pPr marL="0" indent="0">
                        <a:lnSpc>
                          <a:spcPts val="1960"/>
                        </a:lnSpc>
                        <a:buNone/>
                      </a:pPr>
                      <a:r>
                        <a:rPr lang="en-US" sz="1400" dirty="0">
                          <a:solidFill>
                            <a:srgbClr val="2E7D4F"/>
                          </a:solidFill>
                          <a:latin typeface="DM Sans" pitchFamily="34" charset="0"/>
                          <a:ea typeface="DM Sans" pitchFamily="34" charset="-122"/>
                          <a:cs typeface="DM Sans" pitchFamily="34" charset="-120"/>
                        </a:rPr>
                        <a:t>Cumple</a:t>
                      </a:r>
                      <a:endParaRPr lang="en-US" sz="1400" dirty="0">
                        <a:latin typeface="DM Sans" charset="0"/>
                        <a:ea typeface="DM Sans" charset="0"/>
                        <a:cs typeface="DM Sans" charset="0"/>
                      </a:endParaRPr>
                    </a:p>
                  </a:txBody>
                  <a:tcPr marL="62230" marR="62230" marT="62230" marB="62230">
                    <a:lnL w="12700" cap="flat" cmpd="sng" algn="ctr">
                      <a:solidFill>
                        <a:srgbClr val="C4C2BC"/>
                      </a:solidFill>
                      <a:prstDash val="solid"/>
                      <a:round/>
                      <a:headEnd type="none" w="med" len="med"/>
                      <a:tailEnd type="none" w="med" len="med"/>
                    </a:lnL>
                    <a:lnR w="12700" cap="flat" cmpd="sng" algn="ctr">
                      <a:solidFill>
                        <a:srgbClr val="C4C2BC"/>
                      </a:solidFill>
                      <a:prstDash val="solid"/>
                      <a:round/>
                      <a:headEnd type="none" w="med" len="med"/>
                      <a:tailEnd type="none" w="med" len="med"/>
                    </a:lnR>
                    <a:lnT w="12700" cap="flat" cmpd="sng" algn="ctr">
                      <a:solidFill>
                        <a:srgbClr val="122035"/>
                      </a:solidFill>
                      <a:prstDash val="solid"/>
                      <a:round/>
                      <a:headEnd type="none" w="med" len="med"/>
                      <a:tailEnd type="none" w="med" len="med"/>
                    </a:lnT>
                    <a:lnB w="12700" cap="flat" cmpd="sng" algn="ctr">
                      <a:solidFill>
                        <a:srgbClr val="C4C2BC"/>
                      </a:solidFill>
                      <a:prstDash val="solid"/>
                      <a:round/>
                      <a:headEnd type="none" w="med" len="med"/>
                      <a:tailEnd type="none" w="med" len="med"/>
                    </a:lnB>
                  </a:tcPr>
                </a:tc>
                <a:extLst>
                  <a:ext uri="{0D108BD9-81ED-4DB2-BD59-A6C34878D82A}">
                    <a16:rowId xmlns:a16="http://schemas.microsoft.com/office/drawing/2014/main" val="10001"/>
                  </a:ext>
                </a:extLst>
              </a:tr>
              <a:tr h="383540">
                <a:tc>
                  <a:txBody>
                    <a:bodyPr/>
                    <a:lstStyle/>
                    <a:p>
                      <a:pPr marL="0" indent="0">
                        <a:lnSpc>
                          <a:spcPts val="1960"/>
                        </a:lnSpc>
                        <a:buNone/>
                      </a:pPr>
                      <a:r>
                        <a:rPr lang="en-US" sz="1400" dirty="0">
                          <a:solidFill>
                            <a:srgbClr val="12233F"/>
                          </a:solidFill>
                          <a:latin typeface="DM Sans" pitchFamily="34" charset="0"/>
                          <a:ea typeface="DM Sans" pitchFamily="34" charset="-122"/>
                          <a:cs typeface="DM Sans" pitchFamily="34" charset="-120"/>
                        </a:rPr>
                        <a:t>Tasa de casos aprobados</a:t>
                      </a:r>
                      <a:endParaRPr lang="en-US" sz="1400" dirty="0">
                        <a:latin typeface="DM Sans" charset="0"/>
                        <a:ea typeface="DM Sans" charset="0"/>
                        <a:cs typeface="DM Sans" charset="0"/>
                      </a:endParaRPr>
                    </a:p>
                  </a:txBody>
                  <a:tcPr marL="62230" marR="62230" marT="62230" marB="62230">
                    <a:lnL w="12700" cap="flat" cmpd="sng" algn="ctr">
                      <a:solidFill>
                        <a:srgbClr val="C4C2BC"/>
                      </a:solidFill>
                      <a:prstDash val="solid"/>
                      <a:round/>
                      <a:headEnd type="none" w="med" len="med"/>
                      <a:tailEnd type="none" w="med" len="med"/>
                    </a:lnL>
                    <a:lnR w="12700" cap="flat" cmpd="sng" algn="ctr">
                      <a:solidFill>
                        <a:srgbClr val="BCBAB1"/>
                      </a:solidFill>
                      <a:prstDash val="solid"/>
                      <a:round/>
                      <a:headEnd type="none" w="med" len="med"/>
                      <a:tailEnd type="none" w="med" len="med"/>
                    </a:lnR>
                    <a:lnT w="12700" cap="flat" cmpd="sng" algn="ctr">
                      <a:solidFill>
                        <a:srgbClr val="C4C2BC"/>
                      </a:solidFill>
                      <a:prstDash val="solid"/>
                      <a:round/>
                      <a:headEnd type="none" w="med" len="med"/>
                      <a:tailEnd type="none" w="med" len="med"/>
                    </a:lnT>
                    <a:lnB w="12700" cap="flat" cmpd="sng" algn="ctr">
                      <a:solidFill>
                        <a:srgbClr val="BCBAB1"/>
                      </a:solidFill>
                      <a:prstDash val="solid"/>
                      <a:round/>
                      <a:headEnd type="none" w="med" len="med"/>
                      <a:tailEnd type="none" w="med" len="med"/>
                    </a:lnB>
                    <a:solidFill>
                      <a:srgbClr val="ECE9DE"/>
                    </a:solidFill>
                  </a:tcPr>
                </a:tc>
                <a:tc>
                  <a:txBody>
                    <a:bodyPr/>
                    <a:lstStyle/>
                    <a:p>
                      <a:pPr marL="0" indent="0">
                        <a:lnSpc>
                          <a:spcPts val="1960"/>
                        </a:lnSpc>
                        <a:buNone/>
                      </a:pPr>
                      <a:r>
                        <a:rPr lang="en-US" sz="1400" dirty="0">
                          <a:solidFill>
                            <a:srgbClr val="12233F"/>
                          </a:solidFill>
                          <a:latin typeface="DM Sans" pitchFamily="34" charset="0"/>
                          <a:ea typeface="DM Sans" pitchFamily="34" charset="-122"/>
                          <a:cs typeface="DM Sans" pitchFamily="34" charset="-120"/>
                        </a:rPr>
                        <a:t>≥ 80%</a:t>
                      </a:r>
                      <a:endParaRPr lang="en-US" sz="1400" dirty="0">
                        <a:latin typeface="DM Sans" charset="0"/>
                        <a:ea typeface="DM Sans" charset="0"/>
                        <a:cs typeface="DM Sans" charset="0"/>
                      </a:endParaRPr>
                    </a:p>
                  </a:txBody>
                  <a:tcPr marL="62230" marR="62230" marT="62230" marB="62230">
                    <a:lnL w="12700" cap="flat" cmpd="sng" algn="ctr">
                      <a:solidFill>
                        <a:srgbClr val="BCBAB1"/>
                      </a:solidFill>
                      <a:prstDash val="solid"/>
                      <a:round/>
                      <a:headEnd type="none" w="med" len="med"/>
                      <a:tailEnd type="none" w="med" len="med"/>
                    </a:lnL>
                    <a:lnR w="12700" cap="flat" cmpd="sng" algn="ctr">
                      <a:solidFill>
                        <a:srgbClr val="BCBAB1"/>
                      </a:solidFill>
                      <a:prstDash val="solid"/>
                      <a:round/>
                      <a:headEnd type="none" w="med" len="med"/>
                      <a:tailEnd type="none" w="med" len="med"/>
                    </a:lnR>
                    <a:lnT w="12700" cap="flat" cmpd="sng" algn="ctr">
                      <a:solidFill>
                        <a:srgbClr val="C4C2BC"/>
                      </a:solidFill>
                      <a:prstDash val="solid"/>
                      <a:round/>
                      <a:headEnd type="none" w="med" len="med"/>
                      <a:tailEnd type="none" w="med" len="med"/>
                    </a:lnT>
                    <a:lnB w="12700" cap="flat" cmpd="sng" algn="ctr">
                      <a:solidFill>
                        <a:srgbClr val="BCBAB1"/>
                      </a:solidFill>
                      <a:prstDash val="solid"/>
                      <a:round/>
                      <a:headEnd type="none" w="med" len="med"/>
                      <a:tailEnd type="none" w="med" len="med"/>
                    </a:lnB>
                    <a:solidFill>
                      <a:srgbClr val="ECE9DE"/>
                    </a:solidFill>
                  </a:tcPr>
                </a:tc>
                <a:tc>
                  <a:txBody>
                    <a:bodyPr/>
                    <a:lstStyle/>
                    <a:p>
                      <a:pPr marL="0" indent="0">
                        <a:lnSpc>
                          <a:spcPts val="1960"/>
                        </a:lnSpc>
                        <a:buNone/>
                      </a:pPr>
                      <a:r>
                        <a:rPr lang="en-US" sz="1400" dirty="0">
                          <a:solidFill>
                            <a:srgbClr val="12233F"/>
                          </a:solidFill>
                          <a:latin typeface="DM Sans" pitchFamily="34" charset="0"/>
                          <a:ea typeface="DM Sans" pitchFamily="34" charset="-122"/>
                          <a:cs typeface="DM Sans" pitchFamily="34" charset="-120"/>
                        </a:rPr>
                        <a:t>81.3% (13 de 16)</a:t>
                      </a:r>
                      <a:endParaRPr lang="en-US" sz="1400" dirty="0">
                        <a:latin typeface="DM Sans" charset="0"/>
                        <a:ea typeface="DM Sans" charset="0"/>
                        <a:cs typeface="DM Sans" charset="0"/>
                      </a:endParaRPr>
                    </a:p>
                  </a:txBody>
                  <a:tcPr marL="62230" marR="62230" marT="62230" marB="62230">
                    <a:lnL w="12700" cap="flat" cmpd="sng" algn="ctr">
                      <a:solidFill>
                        <a:srgbClr val="BCBAB1"/>
                      </a:solidFill>
                      <a:prstDash val="solid"/>
                      <a:round/>
                      <a:headEnd type="none" w="med" len="med"/>
                      <a:tailEnd type="none" w="med" len="med"/>
                    </a:lnL>
                    <a:lnR w="12700" cap="flat" cmpd="sng" algn="ctr">
                      <a:solidFill>
                        <a:srgbClr val="BCBAB1"/>
                      </a:solidFill>
                      <a:prstDash val="solid"/>
                      <a:round/>
                      <a:headEnd type="none" w="med" len="med"/>
                      <a:tailEnd type="none" w="med" len="med"/>
                    </a:lnR>
                    <a:lnT w="12700" cap="flat" cmpd="sng" algn="ctr">
                      <a:solidFill>
                        <a:srgbClr val="C4C2BC"/>
                      </a:solidFill>
                      <a:prstDash val="solid"/>
                      <a:round/>
                      <a:headEnd type="none" w="med" len="med"/>
                      <a:tailEnd type="none" w="med" len="med"/>
                    </a:lnT>
                    <a:lnB w="12700" cap="flat" cmpd="sng" algn="ctr">
                      <a:solidFill>
                        <a:srgbClr val="BCBAB1"/>
                      </a:solidFill>
                      <a:prstDash val="solid"/>
                      <a:round/>
                      <a:headEnd type="none" w="med" len="med"/>
                      <a:tailEnd type="none" w="med" len="med"/>
                    </a:lnB>
                    <a:solidFill>
                      <a:srgbClr val="ECE9DE"/>
                    </a:solidFill>
                  </a:tcPr>
                </a:tc>
                <a:tc>
                  <a:txBody>
                    <a:bodyPr/>
                    <a:lstStyle/>
                    <a:p>
                      <a:pPr marL="0" indent="0">
                        <a:lnSpc>
                          <a:spcPts val="1960"/>
                        </a:lnSpc>
                        <a:buNone/>
                      </a:pPr>
                      <a:r>
                        <a:rPr lang="en-US" sz="1400" dirty="0">
                          <a:solidFill>
                            <a:srgbClr val="2E7D4F"/>
                          </a:solidFill>
                          <a:latin typeface="DM Sans" pitchFamily="34" charset="0"/>
                          <a:ea typeface="DM Sans" pitchFamily="34" charset="-122"/>
                          <a:cs typeface="DM Sans" pitchFamily="34" charset="-120"/>
                        </a:rPr>
                        <a:t>Cumple</a:t>
                      </a:r>
                      <a:endParaRPr lang="en-US" sz="1400" dirty="0">
                        <a:latin typeface="DM Sans" charset="0"/>
                        <a:ea typeface="DM Sans" charset="0"/>
                        <a:cs typeface="DM Sans" charset="0"/>
                      </a:endParaRPr>
                    </a:p>
                  </a:txBody>
                  <a:tcPr marL="62230" marR="62230" marT="62230" marB="62230">
                    <a:lnL w="12700" cap="flat" cmpd="sng" algn="ctr">
                      <a:solidFill>
                        <a:srgbClr val="BCBAB1"/>
                      </a:solidFill>
                      <a:prstDash val="solid"/>
                      <a:round/>
                      <a:headEnd type="none" w="med" len="med"/>
                      <a:tailEnd type="none" w="med" len="med"/>
                    </a:lnL>
                    <a:lnR w="12700" cap="flat" cmpd="sng" algn="ctr">
                      <a:solidFill>
                        <a:srgbClr val="BCBAB1"/>
                      </a:solidFill>
                      <a:prstDash val="solid"/>
                      <a:round/>
                      <a:headEnd type="none" w="med" len="med"/>
                      <a:tailEnd type="none" w="med" len="med"/>
                    </a:lnR>
                    <a:lnT w="12700" cap="flat" cmpd="sng" algn="ctr">
                      <a:solidFill>
                        <a:srgbClr val="C4C2BC"/>
                      </a:solidFill>
                      <a:prstDash val="solid"/>
                      <a:round/>
                      <a:headEnd type="none" w="med" len="med"/>
                      <a:tailEnd type="none" w="med" len="med"/>
                    </a:lnT>
                    <a:lnB w="12700" cap="flat" cmpd="sng" algn="ctr">
                      <a:solidFill>
                        <a:srgbClr val="BCBAB1"/>
                      </a:solidFill>
                      <a:prstDash val="solid"/>
                      <a:round/>
                      <a:headEnd type="none" w="med" len="med"/>
                      <a:tailEnd type="none" w="med" len="med"/>
                    </a:lnB>
                    <a:solidFill>
                      <a:srgbClr val="ECE9DE"/>
                    </a:solidFill>
                  </a:tcPr>
                </a:tc>
                <a:extLst>
                  <a:ext uri="{0D108BD9-81ED-4DB2-BD59-A6C34878D82A}">
                    <a16:rowId xmlns:a16="http://schemas.microsoft.com/office/drawing/2014/main" val="10002"/>
                  </a:ext>
                </a:extLst>
              </a:tr>
              <a:tr h="383540">
                <a:tc>
                  <a:txBody>
                    <a:bodyPr/>
                    <a:lstStyle/>
                    <a:p>
                      <a:pPr marL="0" indent="0">
                        <a:lnSpc>
                          <a:spcPts val="1960"/>
                        </a:lnSpc>
                        <a:buNone/>
                      </a:pPr>
                      <a:r>
                        <a:rPr lang="en-US" sz="1400" dirty="0">
                          <a:solidFill>
                            <a:srgbClr val="12233F"/>
                          </a:solidFill>
                          <a:latin typeface="DM Sans" pitchFamily="34" charset="0"/>
                          <a:ea typeface="DM Sans" pitchFamily="34" charset="-122"/>
                          <a:cs typeface="DM Sans" pitchFamily="34" charset="-120"/>
                        </a:rPr>
                        <a:t>Cobertura funcional</a:t>
                      </a:r>
                      <a:endParaRPr lang="en-US" sz="1400" dirty="0">
                        <a:latin typeface="DM Sans" charset="0"/>
                        <a:ea typeface="DM Sans" charset="0"/>
                        <a:cs typeface="DM Sans" charset="0"/>
                      </a:endParaRPr>
                    </a:p>
                  </a:txBody>
                  <a:tcPr marL="62230" marR="62230" marT="62230" marB="62230">
                    <a:lnL w="12700" cap="flat" cmpd="sng" algn="ctr">
                      <a:solidFill>
                        <a:srgbClr val="C4C2BC"/>
                      </a:solidFill>
                      <a:prstDash val="solid"/>
                      <a:round/>
                      <a:headEnd type="none" w="med" len="med"/>
                      <a:tailEnd type="none" w="med" len="med"/>
                    </a:lnL>
                    <a:lnR w="12700" cap="flat" cmpd="sng" algn="ctr">
                      <a:solidFill>
                        <a:srgbClr val="C4C2BC"/>
                      </a:solidFill>
                      <a:prstDash val="solid"/>
                      <a:round/>
                      <a:headEnd type="none" w="med" len="med"/>
                      <a:tailEnd type="none" w="med" len="med"/>
                    </a:lnR>
                    <a:lnT w="12700" cap="flat" cmpd="sng" algn="ctr">
                      <a:solidFill>
                        <a:srgbClr val="BCBAB1"/>
                      </a:solidFill>
                      <a:prstDash val="solid"/>
                      <a:round/>
                      <a:headEnd type="none" w="med" len="med"/>
                      <a:tailEnd type="none" w="med" len="med"/>
                    </a:lnT>
                    <a:lnB w="12700" cap="flat" cmpd="sng" algn="ctr">
                      <a:solidFill>
                        <a:srgbClr val="C4C2BC"/>
                      </a:solidFill>
                      <a:prstDash val="solid"/>
                      <a:round/>
                      <a:headEnd type="none" w="med" len="med"/>
                      <a:tailEnd type="none" w="med" len="med"/>
                    </a:lnB>
                  </a:tcPr>
                </a:tc>
                <a:tc>
                  <a:txBody>
                    <a:bodyPr/>
                    <a:lstStyle/>
                    <a:p>
                      <a:pPr marL="0" indent="0">
                        <a:lnSpc>
                          <a:spcPts val="1960"/>
                        </a:lnSpc>
                        <a:buNone/>
                      </a:pPr>
                      <a:r>
                        <a:rPr lang="en-US" sz="1400" dirty="0">
                          <a:solidFill>
                            <a:srgbClr val="12233F"/>
                          </a:solidFill>
                          <a:latin typeface="DM Sans" pitchFamily="34" charset="0"/>
                          <a:ea typeface="DM Sans" pitchFamily="34" charset="-122"/>
                          <a:cs typeface="DM Sans" pitchFamily="34" charset="-120"/>
                        </a:rPr>
                        <a:t>≥ 90%</a:t>
                      </a:r>
                      <a:endParaRPr lang="en-US" sz="1400" dirty="0">
                        <a:latin typeface="DM Sans" charset="0"/>
                        <a:ea typeface="DM Sans" charset="0"/>
                        <a:cs typeface="DM Sans" charset="0"/>
                      </a:endParaRPr>
                    </a:p>
                  </a:txBody>
                  <a:tcPr marL="62230" marR="62230" marT="62230" marB="62230">
                    <a:lnL w="12700" cap="flat" cmpd="sng" algn="ctr">
                      <a:solidFill>
                        <a:srgbClr val="C4C2BC"/>
                      </a:solidFill>
                      <a:prstDash val="solid"/>
                      <a:round/>
                      <a:headEnd type="none" w="med" len="med"/>
                      <a:tailEnd type="none" w="med" len="med"/>
                    </a:lnL>
                    <a:lnR w="12700" cap="flat" cmpd="sng" algn="ctr">
                      <a:solidFill>
                        <a:srgbClr val="C4C2BC"/>
                      </a:solidFill>
                      <a:prstDash val="solid"/>
                      <a:round/>
                      <a:headEnd type="none" w="med" len="med"/>
                      <a:tailEnd type="none" w="med" len="med"/>
                    </a:lnR>
                    <a:lnT w="12700" cap="flat" cmpd="sng" algn="ctr">
                      <a:solidFill>
                        <a:srgbClr val="BCBAB1"/>
                      </a:solidFill>
                      <a:prstDash val="solid"/>
                      <a:round/>
                      <a:headEnd type="none" w="med" len="med"/>
                      <a:tailEnd type="none" w="med" len="med"/>
                    </a:lnT>
                    <a:lnB w="12700" cap="flat" cmpd="sng" algn="ctr">
                      <a:solidFill>
                        <a:srgbClr val="C4C2BC"/>
                      </a:solidFill>
                      <a:prstDash val="solid"/>
                      <a:round/>
                      <a:headEnd type="none" w="med" len="med"/>
                      <a:tailEnd type="none" w="med" len="med"/>
                    </a:lnB>
                  </a:tcPr>
                </a:tc>
                <a:tc>
                  <a:txBody>
                    <a:bodyPr/>
                    <a:lstStyle/>
                    <a:p>
                      <a:pPr marL="0" indent="0">
                        <a:lnSpc>
                          <a:spcPts val="1960"/>
                        </a:lnSpc>
                        <a:buNone/>
                      </a:pPr>
                      <a:r>
                        <a:rPr lang="en-US" sz="1400" dirty="0">
                          <a:solidFill>
                            <a:srgbClr val="12233F"/>
                          </a:solidFill>
                          <a:latin typeface="DM Sans" pitchFamily="34" charset="0"/>
                          <a:ea typeface="DM Sans" pitchFamily="34" charset="-122"/>
                          <a:cs typeface="DM Sans" pitchFamily="34" charset="-120"/>
                        </a:rPr>
                        <a:t>100% (9 de 9 requisitos)</a:t>
                      </a:r>
                      <a:endParaRPr lang="en-US" sz="1400" dirty="0">
                        <a:latin typeface="DM Sans" charset="0"/>
                        <a:ea typeface="DM Sans" charset="0"/>
                        <a:cs typeface="DM Sans" charset="0"/>
                      </a:endParaRPr>
                    </a:p>
                  </a:txBody>
                  <a:tcPr marL="62230" marR="62230" marT="62230" marB="62230">
                    <a:lnL w="12700" cap="flat" cmpd="sng" algn="ctr">
                      <a:solidFill>
                        <a:srgbClr val="C4C2BC"/>
                      </a:solidFill>
                      <a:prstDash val="solid"/>
                      <a:round/>
                      <a:headEnd type="none" w="med" len="med"/>
                      <a:tailEnd type="none" w="med" len="med"/>
                    </a:lnL>
                    <a:lnR w="12700" cap="flat" cmpd="sng" algn="ctr">
                      <a:solidFill>
                        <a:srgbClr val="C4C2BC"/>
                      </a:solidFill>
                      <a:prstDash val="solid"/>
                      <a:round/>
                      <a:headEnd type="none" w="med" len="med"/>
                      <a:tailEnd type="none" w="med" len="med"/>
                    </a:lnR>
                    <a:lnT w="12700" cap="flat" cmpd="sng" algn="ctr">
                      <a:solidFill>
                        <a:srgbClr val="BCBAB1"/>
                      </a:solidFill>
                      <a:prstDash val="solid"/>
                      <a:round/>
                      <a:headEnd type="none" w="med" len="med"/>
                      <a:tailEnd type="none" w="med" len="med"/>
                    </a:lnT>
                    <a:lnB w="12700" cap="flat" cmpd="sng" algn="ctr">
                      <a:solidFill>
                        <a:srgbClr val="C4C2BC"/>
                      </a:solidFill>
                      <a:prstDash val="solid"/>
                      <a:round/>
                      <a:headEnd type="none" w="med" len="med"/>
                      <a:tailEnd type="none" w="med" len="med"/>
                    </a:lnB>
                  </a:tcPr>
                </a:tc>
                <a:tc>
                  <a:txBody>
                    <a:bodyPr/>
                    <a:lstStyle/>
                    <a:p>
                      <a:pPr marL="0" indent="0">
                        <a:lnSpc>
                          <a:spcPts val="1960"/>
                        </a:lnSpc>
                        <a:buNone/>
                      </a:pPr>
                      <a:r>
                        <a:rPr lang="en-US" sz="1400" dirty="0">
                          <a:solidFill>
                            <a:srgbClr val="2E7D4F"/>
                          </a:solidFill>
                          <a:latin typeface="DM Sans" pitchFamily="34" charset="0"/>
                          <a:ea typeface="DM Sans" pitchFamily="34" charset="-122"/>
                          <a:cs typeface="DM Sans" pitchFamily="34" charset="-120"/>
                        </a:rPr>
                        <a:t>Cumple</a:t>
                      </a:r>
                      <a:endParaRPr lang="en-US" sz="1400" dirty="0">
                        <a:latin typeface="DM Sans" charset="0"/>
                        <a:ea typeface="DM Sans" charset="0"/>
                        <a:cs typeface="DM Sans" charset="0"/>
                      </a:endParaRPr>
                    </a:p>
                  </a:txBody>
                  <a:tcPr marL="62230" marR="62230" marT="62230" marB="62230">
                    <a:lnL w="12700" cap="flat" cmpd="sng" algn="ctr">
                      <a:solidFill>
                        <a:srgbClr val="C4C2BC"/>
                      </a:solidFill>
                      <a:prstDash val="solid"/>
                      <a:round/>
                      <a:headEnd type="none" w="med" len="med"/>
                      <a:tailEnd type="none" w="med" len="med"/>
                    </a:lnL>
                    <a:lnR w="12700" cap="flat" cmpd="sng" algn="ctr">
                      <a:solidFill>
                        <a:srgbClr val="C4C2BC"/>
                      </a:solidFill>
                      <a:prstDash val="solid"/>
                      <a:round/>
                      <a:headEnd type="none" w="med" len="med"/>
                      <a:tailEnd type="none" w="med" len="med"/>
                    </a:lnR>
                    <a:lnT w="12700" cap="flat" cmpd="sng" algn="ctr">
                      <a:solidFill>
                        <a:srgbClr val="BCBAB1"/>
                      </a:solidFill>
                      <a:prstDash val="solid"/>
                      <a:round/>
                      <a:headEnd type="none" w="med" len="med"/>
                      <a:tailEnd type="none" w="med" len="med"/>
                    </a:lnT>
                    <a:lnB w="12700" cap="flat" cmpd="sng" algn="ctr">
                      <a:solidFill>
                        <a:srgbClr val="C4C2BC"/>
                      </a:solidFill>
                      <a:prstDash val="solid"/>
                      <a:round/>
                      <a:headEnd type="none" w="med" len="med"/>
                      <a:tailEnd type="none" w="med" len="med"/>
                    </a:lnB>
                  </a:tcPr>
                </a:tc>
                <a:extLst>
                  <a:ext uri="{0D108BD9-81ED-4DB2-BD59-A6C34878D82A}">
                    <a16:rowId xmlns:a16="http://schemas.microsoft.com/office/drawing/2014/main" val="10003"/>
                  </a:ext>
                </a:extLst>
              </a:tr>
              <a:tr h="383540">
                <a:tc>
                  <a:txBody>
                    <a:bodyPr/>
                    <a:lstStyle/>
                    <a:p>
                      <a:pPr marL="0" indent="0">
                        <a:lnSpc>
                          <a:spcPts val="1960"/>
                        </a:lnSpc>
                        <a:buNone/>
                      </a:pPr>
                      <a:r>
                        <a:rPr lang="en-US" sz="1400" dirty="0">
                          <a:solidFill>
                            <a:srgbClr val="12233F"/>
                          </a:solidFill>
                          <a:latin typeface="DM Sans" pitchFamily="34" charset="0"/>
                          <a:ea typeface="DM Sans" pitchFamily="34" charset="-122"/>
                          <a:cs typeface="DM Sans" pitchFamily="34" charset="-120"/>
                        </a:rPr>
                        <a:t>Densidad de defectos</a:t>
                      </a:r>
                      <a:endParaRPr lang="en-US" sz="1400" dirty="0">
                        <a:latin typeface="DM Sans" charset="0"/>
                        <a:ea typeface="DM Sans" charset="0"/>
                        <a:cs typeface="DM Sans" charset="0"/>
                      </a:endParaRPr>
                    </a:p>
                  </a:txBody>
                  <a:tcPr marL="62230" marR="62230" marT="62230" marB="62230">
                    <a:lnL w="12700" cap="flat" cmpd="sng" algn="ctr">
                      <a:solidFill>
                        <a:srgbClr val="C4C2BC"/>
                      </a:solidFill>
                      <a:prstDash val="solid"/>
                      <a:round/>
                      <a:headEnd type="none" w="med" len="med"/>
                      <a:tailEnd type="none" w="med" len="med"/>
                    </a:lnL>
                    <a:lnR w="12700" cap="flat" cmpd="sng" algn="ctr">
                      <a:solidFill>
                        <a:srgbClr val="BCBAB1"/>
                      </a:solidFill>
                      <a:prstDash val="solid"/>
                      <a:round/>
                      <a:headEnd type="none" w="med" len="med"/>
                      <a:tailEnd type="none" w="med" len="med"/>
                    </a:lnR>
                    <a:lnT w="12700" cap="flat" cmpd="sng" algn="ctr">
                      <a:solidFill>
                        <a:srgbClr val="C4C2BC"/>
                      </a:solidFill>
                      <a:prstDash val="solid"/>
                      <a:round/>
                      <a:headEnd type="none" w="med" len="med"/>
                      <a:tailEnd type="none" w="med" len="med"/>
                    </a:lnT>
                    <a:lnB w="12700" cap="flat" cmpd="sng" algn="ctr">
                      <a:solidFill>
                        <a:srgbClr val="BCBAB1"/>
                      </a:solidFill>
                      <a:prstDash val="solid"/>
                      <a:round/>
                      <a:headEnd type="none" w="med" len="med"/>
                      <a:tailEnd type="none" w="med" len="med"/>
                    </a:lnB>
                    <a:solidFill>
                      <a:srgbClr val="ECE9DE"/>
                    </a:solidFill>
                  </a:tcPr>
                </a:tc>
                <a:tc>
                  <a:txBody>
                    <a:bodyPr/>
                    <a:lstStyle/>
                    <a:p>
                      <a:pPr marL="0" indent="0">
                        <a:lnSpc>
                          <a:spcPts val="1960"/>
                        </a:lnSpc>
                        <a:buNone/>
                      </a:pPr>
                      <a:r>
                        <a:rPr lang="en-US" sz="1400" dirty="0">
                          <a:solidFill>
                            <a:srgbClr val="12233F"/>
                          </a:solidFill>
                          <a:latin typeface="DM Sans" pitchFamily="34" charset="0"/>
                          <a:ea typeface="DM Sans" pitchFamily="34" charset="-122"/>
                          <a:cs typeface="DM Sans" pitchFamily="34" charset="-120"/>
                        </a:rPr>
                        <a:t>≤ 0.4</a:t>
                      </a:r>
                      <a:endParaRPr lang="en-US" sz="1400" dirty="0">
                        <a:latin typeface="DM Sans" charset="0"/>
                        <a:ea typeface="DM Sans" charset="0"/>
                        <a:cs typeface="DM Sans" charset="0"/>
                      </a:endParaRPr>
                    </a:p>
                  </a:txBody>
                  <a:tcPr marL="62230" marR="62230" marT="62230" marB="62230">
                    <a:lnL w="12700" cap="flat" cmpd="sng" algn="ctr">
                      <a:solidFill>
                        <a:srgbClr val="BCBAB1"/>
                      </a:solidFill>
                      <a:prstDash val="solid"/>
                      <a:round/>
                      <a:headEnd type="none" w="med" len="med"/>
                      <a:tailEnd type="none" w="med" len="med"/>
                    </a:lnL>
                    <a:lnR w="12700" cap="flat" cmpd="sng" algn="ctr">
                      <a:solidFill>
                        <a:srgbClr val="BCBAB1"/>
                      </a:solidFill>
                      <a:prstDash val="solid"/>
                      <a:round/>
                      <a:headEnd type="none" w="med" len="med"/>
                      <a:tailEnd type="none" w="med" len="med"/>
                    </a:lnR>
                    <a:lnT w="12700" cap="flat" cmpd="sng" algn="ctr">
                      <a:solidFill>
                        <a:srgbClr val="C4C2BC"/>
                      </a:solidFill>
                      <a:prstDash val="solid"/>
                      <a:round/>
                      <a:headEnd type="none" w="med" len="med"/>
                      <a:tailEnd type="none" w="med" len="med"/>
                    </a:lnT>
                    <a:lnB w="12700" cap="flat" cmpd="sng" algn="ctr">
                      <a:solidFill>
                        <a:srgbClr val="BCBAB1"/>
                      </a:solidFill>
                      <a:prstDash val="solid"/>
                      <a:round/>
                      <a:headEnd type="none" w="med" len="med"/>
                      <a:tailEnd type="none" w="med" len="med"/>
                    </a:lnB>
                    <a:solidFill>
                      <a:srgbClr val="ECE9DE"/>
                    </a:solidFill>
                  </a:tcPr>
                </a:tc>
                <a:tc>
                  <a:txBody>
                    <a:bodyPr/>
                    <a:lstStyle/>
                    <a:p>
                      <a:pPr marL="0" indent="0">
                        <a:lnSpc>
                          <a:spcPts val="1960"/>
                        </a:lnSpc>
                        <a:buNone/>
                      </a:pPr>
                      <a:r>
                        <a:rPr lang="en-US" sz="1400" dirty="0">
                          <a:solidFill>
                            <a:srgbClr val="12233F"/>
                          </a:solidFill>
                          <a:latin typeface="DM Sans" pitchFamily="34" charset="0"/>
                          <a:ea typeface="DM Sans" pitchFamily="34" charset="-122"/>
                          <a:cs typeface="DM Sans" pitchFamily="34" charset="-120"/>
                        </a:rPr>
                        <a:t>0.63 (10 bugs / 16 casos)</a:t>
                      </a:r>
                      <a:endParaRPr lang="en-US" sz="1400" dirty="0">
                        <a:latin typeface="DM Sans" charset="0"/>
                        <a:ea typeface="DM Sans" charset="0"/>
                        <a:cs typeface="DM Sans" charset="0"/>
                      </a:endParaRPr>
                    </a:p>
                  </a:txBody>
                  <a:tcPr marL="62230" marR="62230" marT="62230" marB="62230">
                    <a:lnL w="12700" cap="flat" cmpd="sng" algn="ctr">
                      <a:solidFill>
                        <a:srgbClr val="BCBAB1"/>
                      </a:solidFill>
                      <a:prstDash val="solid"/>
                      <a:round/>
                      <a:headEnd type="none" w="med" len="med"/>
                      <a:tailEnd type="none" w="med" len="med"/>
                    </a:lnL>
                    <a:lnR w="12700" cap="flat" cmpd="sng" algn="ctr">
                      <a:solidFill>
                        <a:srgbClr val="BCBAB1"/>
                      </a:solidFill>
                      <a:prstDash val="solid"/>
                      <a:round/>
                      <a:headEnd type="none" w="med" len="med"/>
                      <a:tailEnd type="none" w="med" len="med"/>
                    </a:lnR>
                    <a:lnT w="12700" cap="flat" cmpd="sng" algn="ctr">
                      <a:solidFill>
                        <a:srgbClr val="C4C2BC"/>
                      </a:solidFill>
                      <a:prstDash val="solid"/>
                      <a:round/>
                      <a:headEnd type="none" w="med" len="med"/>
                      <a:tailEnd type="none" w="med" len="med"/>
                    </a:lnT>
                    <a:lnB w="12700" cap="flat" cmpd="sng" algn="ctr">
                      <a:solidFill>
                        <a:srgbClr val="BCBAB1"/>
                      </a:solidFill>
                      <a:prstDash val="solid"/>
                      <a:round/>
                      <a:headEnd type="none" w="med" len="med"/>
                      <a:tailEnd type="none" w="med" len="med"/>
                    </a:lnB>
                    <a:solidFill>
                      <a:srgbClr val="ECE9DE"/>
                    </a:solidFill>
                  </a:tcPr>
                </a:tc>
                <a:tc>
                  <a:txBody>
                    <a:bodyPr/>
                    <a:lstStyle/>
                    <a:p>
                      <a:pPr marL="0" indent="0">
                        <a:lnSpc>
                          <a:spcPts val="1960"/>
                        </a:lnSpc>
                        <a:buNone/>
                      </a:pPr>
                      <a:r>
                        <a:rPr lang="en-US" sz="1400" dirty="0">
                          <a:solidFill>
                            <a:srgbClr val="B3391F"/>
                          </a:solidFill>
                          <a:latin typeface="DM Sans" pitchFamily="34" charset="0"/>
                          <a:ea typeface="DM Sans" pitchFamily="34" charset="-122"/>
                          <a:cs typeface="DM Sans" pitchFamily="34" charset="-120"/>
                        </a:rPr>
                        <a:t>No cumple</a:t>
                      </a:r>
                      <a:endParaRPr lang="en-US" sz="1400" dirty="0">
                        <a:latin typeface="DM Sans" charset="0"/>
                        <a:ea typeface="DM Sans" charset="0"/>
                        <a:cs typeface="DM Sans" charset="0"/>
                      </a:endParaRPr>
                    </a:p>
                  </a:txBody>
                  <a:tcPr marL="62230" marR="62230" marT="62230" marB="62230">
                    <a:lnL w="12700" cap="flat" cmpd="sng" algn="ctr">
                      <a:solidFill>
                        <a:srgbClr val="BCBAB1"/>
                      </a:solidFill>
                      <a:prstDash val="solid"/>
                      <a:round/>
                      <a:headEnd type="none" w="med" len="med"/>
                      <a:tailEnd type="none" w="med" len="med"/>
                    </a:lnL>
                    <a:lnR w="12700" cap="flat" cmpd="sng" algn="ctr">
                      <a:solidFill>
                        <a:srgbClr val="BCBAB1"/>
                      </a:solidFill>
                      <a:prstDash val="solid"/>
                      <a:round/>
                      <a:headEnd type="none" w="med" len="med"/>
                      <a:tailEnd type="none" w="med" len="med"/>
                    </a:lnR>
                    <a:lnT w="12700" cap="flat" cmpd="sng" algn="ctr">
                      <a:solidFill>
                        <a:srgbClr val="C4C2BC"/>
                      </a:solidFill>
                      <a:prstDash val="solid"/>
                      <a:round/>
                      <a:headEnd type="none" w="med" len="med"/>
                      <a:tailEnd type="none" w="med" len="med"/>
                    </a:lnT>
                    <a:lnB w="12700" cap="flat" cmpd="sng" algn="ctr">
                      <a:solidFill>
                        <a:srgbClr val="BCBAB1"/>
                      </a:solidFill>
                      <a:prstDash val="solid"/>
                      <a:round/>
                      <a:headEnd type="none" w="med" len="med"/>
                      <a:tailEnd type="none" w="med" len="med"/>
                    </a:lnB>
                    <a:solidFill>
                      <a:srgbClr val="ECE9DE"/>
                    </a:solidFill>
                  </a:tcPr>
                </a:tc>
                <a:extLst>
                  <a:ext uri="{0D108BD9-81ED-4DB2-BD59-A6C34878D82A}">
                    <a16:rowId xmlns:a16="http://schemas.microsoft.com/office/drawing/2014/main" val="10004"/>
                  </a:ext>
                </a:extLst>
              </a:tr>
              <a:tr h="383540">
                <a:tc>
                  <a:txBody>
                    <a:bodyPr/>
                    <a:lstStyle/>
                    <a:p>
                      <a:pPr marL="0" indent="0">
                        <a:lnSpc>
                          <a:spcPts val="1960"/>
                        </a:lnSpc>
                        <a:buNone/>
                      </a:pPr>
                      <a:r>
                        <a:rPr lang="en-US" sz="1400" dirty="0">
                          <a:solidFill>
                            <a:srgbClr val="12233F"/>
                          </a:solidFill>
                          <a:latin typeface="DM Sans" pitchFamily="34" charset="0"/>
                          <a:ea typeface="DM Sans" pitchFamily="34" charset="-122"/>
                          <a:cs typeface="DM Sans" pitchFamily="34" charset="-120"/>
                        </a:rPr>
                        <a:t>Cobertura de automatización</a:t>
                      </a:r>
                      <a:endParaRPr lang="en-US" sz="1400" dirty="0">
                        <a:latin typeface="DM Sans" charset="0"/>
                        <a:ea typeface="DM Sans" charset="0"/>
                        <a:cs typeface="DM Sans" charset="0"/>
                      </a:endParaRPr>
                    </a:p>
                  </a:txBody>
                  <a:tcPr marL="62230" marR="62230" marT="62230" marB="62230">
                    <a:lnL w="12700" cap="flat" cmpd="sng" algn="ctr">
                      <a:solidFill>
                        <a:srgbClr val="C4C2BC"/>
                      </a:solidFill>
                      <a:prstDash val="solid"/>
                      <a:round/>
                      <a:headEnd type="none" w="med" len="med"/>
                      <a:tailEnd type="none" w="med" len="med"/>
                    </a:lnL>
                    <a:lnR w="12700" cap="flat" cmpd="sng" algn="ctr">
                      <a:solidFill>
                        <a:srgbClr val="C4C2BC"/>
                      </a:solidFill>
                      <a:prstDash val="solid"/>
                      <a:round/>
                      <a:headEnd type="none" w="med" len="med"/>
                      <a:tailEnd type="none" w="med" len="med"/>
                    </a:lnR>
                    <a:lnT w="12700" cap="flat" cmpd="sng" algn="ctr">
                      <a:solidFill>
                        <a:srgbClr val="BCBAB1"/>
                      </a:solidFill>
                      <a:prstDash val="solid"/>
                      <a:round/>
                      <a:headEnd type="none" w="med" len="med"/>
                      <a:tailEnd type="none" w="med" len="med"/>
                    </a:lnT>
                    <a:lnB w="12700" cap="flat" cmpd="sng" algn="ctr">
                      <a:solidFill>
                        <a:srgbClr val="C4C2BC"/>
                      </a:solidFill>
                      <a:prstDash val="solid"/>
                      <a:round/>
                      <a:headEnd type="none" w="med" len="med"/>
                      <a:tailEnd type="none" w="med" len="med"/>
                    </a:lnB>
                  </a:tcPr>
                </a:tc>
                <a:tc>
                  <a:txBody>
                    <a:bodyPr/>
                    <a:lstStyle/>
                    <a:p>
                      <a:pPr marL="0" indent="0">
                        <a:lnSpc>
                          <a:spcPts val="1960"/>
                        </a:lnSpc>
                        <a:buNone/>
                      </a:pPr>
                      <a:r>
                        <a:rPr lang="en-US" sz="1400" dirty="0">
                          <a:solidFill>
                            <a:srgbClr val="12233F"/>
                          </a:solidFill>
                          <a:latin typeface="DM Sans" pitchFamily="34" charset="0"/>
                          <a:ea typeface="DM Sans" pitchFamily="34" charset="-122"/>
                          <a:cs typeface="DM Sans" pitchFamily="34" charset="-120"/>
                        </a:rPr>
                        <a:t>≥ 40%</a:t>
                      </a:r>
                      <a:endParaRPr lang="en-US" sz="1400" dirty="0">
                        <a:latin typeface="DM Sans" charset="0"/>
                        <a:ea typeface="DM Sans" charset="0"/>
                        <a:cs typeface="DM Sans" charset="0"/>
                      </a:endParaRPr>
                    </a:p>
                  </a:txBody>
                  <a:tcPr marL="62230" marR="62230" marT="62230" marB="62230">
                    <a:lnL w="12700" cap="flat" cmpd="sng" algn="ctr">
                      <a:solidFill>
                        <a:srgbClr val="C4C2BC"/>
                      </a:solidFill>
                      <a:prstDash val="solid"/>
                      <a:round/>
                      <a:headEnd type="none" w="med" len="med"/>
                      <a:tailEnd type="none" w="med" len="med"/>
                    </a:lnL>
                    <a:lnR w="12700" cap="flat" cmpd="sng" algn="ctr">
                      <a:solidFill>
                        <a:srgbClr val="C4C2BC"/>
                      </a:solidFill>
                      <a:prstDash val="solid"/>
                      <a:round/>
                      <a:headEnd type="none" w="med" len="med"/>
                      <a:tailEnd type="none" w="med" len="med"/>
                    </a:lnR>
                    <a:lnT w="12700" cap="flat" cmpd="sng" algn="ctr">
                      <a:solidFill>
                        <a:srgbClr val="BCBAB1"/>
                      </a:solidFill>
                      <a:prstDash val="solid"/>
                      <a:round/>
                      <a:headEnd type="none" w="med" len="med"/>
                      <a:tailEnd type="none" w="med" len="med"/>
                    </a:lnT>
                    <a:lnB w="12700" cap="flat" cmpd="sng" algn="ctr">
                      <a:solidFill>
                        <a:srgbClr val="C4C2BC"/>
                      </a:solidFill>
                      <a:prstDash val="solid"/>
                      <a:round/>
                      <a:headEnd type="none" w="med" len="med"/>
                      <a:tailEnd type="none" w="med" len="med"/>
                    </a:lnB>
                  </a:tcPr>
                </a:tc>
                <a:tc>
                  <a:txBody>
                    <a:bodyPr/>
                    <a:lstStyle/>
                    <a:p>
                      <a:pPr marL="0" indent="0">
                        <a:lnSpc>
                          <a:spcPts val="1960"/>
                        </a:lnSpc>
                        <a:buNone/>
                      </a:pPr>
                      <a:r>
                        <a:rPr lang="en-US" sz="1400" dirty="0">
                          <a:solidFill>
                            <a:srgbClr val="12233F"/>
                          </a:solidFill>
                          <a:latin typeface="DM Sans" pitchFamily="34" charset="0"/>
                          <a:ea typeface="DM Sans" pitchFamily="34" charset="-122"/>
                          <a:cs typeface="DM Sans" pitchFamily="34" charset="-120"/>
                        </a:rPr>
                        <a:t>81% (13 de 16)</a:t>
                      </a:r>
                      <a:endParaRPr lang="en-US" sz="1400" dirty="0">
                        <a:latin typeface="DM Sans" charset="0"/>
                        <a:ea typeface="DM Sans" charset="0"/>
                        <a:cs typeface="DM Sans" charset="0"/>
                      </a:endParaRPr>
                    </a:p>
                  </a:txBody>
                  <a:tcPr marL="62230" marR="62230" marT="62230" marB="62230">
                    <a:lnL w="12700" cap="flat" cmpd="sng" algn="ctr">
                      <a:solidFill>
                        <a:srgbClr val="C4C2BC"/>
                      </a:solidFill>
                      <a:prstDash val="solid"/>
                      <a:round/>
                      <a:headEnd type="none" w="med" len="med"/>
                      <a:tailEnd type="none" w="med" len="med"/>
                    </a:lnL>
                    <a:lnR w="12700" cap="flat" cmpd="sng" algn="ctr">
                      <a:solidFill>
                        <a:srgbClr val="C4C2BC"/>
                      </a:solidFill>
                      <a:prstDash val="solid"/>
                      <a:round/>
                      <a:headEnd type="none" w="med" len="med"/>
                      <a:tailEnd type="none" w="med" len="med"/>
                    </a:lnR>
                    <a:lnT w="12700" cap="flat" cmpd="sng" algn="ctr">
                      <a:solidFill>
                        <a:srgbClr val="BCBAB1"/>
                      </a:solidFill>
                      <a:prstDash val="solid"/>
                      <a:round/>
                      <a:headEnd type="none" w="med" len="med"/>
                      <a:tailEnd type="none" w="med" len="med"/>
                    </a:lnT>
                    <a:lnB w="12700" cap="flat" cmpd="sng" algn="ctr">
                      <a:solidFill>
                        <a:srgbClr val="C4C2BC"/>
                      </a:solidFill>
                      <a:prstDash val="solid"/>
                      <a:round/>
                      <a:headEnd type="none" w="med" len="med"/>
                      <a:tailEnd type="none" w="med" len="med"/>
                    </a:lnB>
                  </a:tcPr>
                </a:tc>
                <a:tc>
                  <a:txBody>
                    <a:bodyPr/>
                    <a:lstStyle/>
                    <a:p>
                      <a:pPr marL="0" indent="0">
                        <a:lnSpc>
                          <a:spcPts val="1960"/>
                        </a:lnSpc>
                        <a:buNone/>
                      </a:pPr>
                      <a:r>
                        <a:rPr lang="en-US" sz="1400" dirty="0">
                          <a:solidFill>
                            <a:srgbClr val="2E7D4F"/>
                          </a:solidFill>
                          <a:latin typeface="DM Sans" pitchFamily="34" charset="0"/>
                          <a:ea typeface="DM Sans" pitchFamily="34" charset="-122"/>
                          <a:cs typeface="DM Sans" pitchFamily="34" charset="-120"/>
                        </a:rPr>
                        <a:t>Cumple</a:t>
                      </a:r>
                      <a:endParaRPr lang="en-US" sz="1400" dirty="0">
                        <a:latin typeface="DM Sans" charset="0"/>
                        <a:ea typeface="DM Sans" charset="0"/>
                        <a:cs typeface="DM Sans" charset="0"/>
                      </a:endParaRPr>
                    </a:p>
                  </a:txBody>
                  <a:tcPr marL="62230" marR="62230" marT="62230" marB="62230">
                    <a:lnL w="12700" cap="flat" cmpd="sng" algn="ctr">
                      <a:solidFill>
                        <a:srgbClr val="C4C2BC"/>
                      </a:solidFill>
                      <a:prstDash val="solid"/>
                      <a:round/>
                      <a:headEnd type="none" w="med" len="med"/>
                      <a:tailEnd type="none" w="med" len="med"/>
                    </a:lnL>
                    <a:lnR w="12700" cap="flat" cmpd="sng" algn="ctr">
                      <a:solidFill>
                        <a:srgbClr val="C4C2BC"/>
                      </a:solidFill>
                      <a:prstDash val="solid"/>
                      <a:round/>
                      <a:headEnd type="none" w="med" len="med"/>
                      <a:tailEnd type="none" w="med" len="med"/>
                    </a:lnR>
                    <a:lnT w="12700" cap="flat" cmpd="sng" algn="ctr">
                      <a:solidFill>
                        <a:srgbClr val="BCBAB1"/>
                      </a:solidFill>
                      <a:prstDash val="solid"/>
                      <a:round/>
                      <a:headEnd type="none" w="med" len="med"/>
                      <a:tailEnd type="none" w="med" len="med"/>
                    </a:lnT>
                    <a:lnB w="12700" cap="flat" cmpd="sng" algn="ctr">
                      <a:solidFill>
                        <a:srgbClr val="C4C2BC"/>
                      </a:solidFill>
                      <a:prstDash val="solid"/>
                      <a:round/>
                      <a:headEnd type="none" w="med" len="med"/>
                      <a:tailEnd type="none" w="med" len="med"/>
                    </a:lnB>
                  </a:tcPr>
                </a:tc>
                <a:extLst>
                  <a:ext uri="{0D108BD9-81ED-4DB2-BD59-A6C34878D82A}">
                    <a16:rowId xmlns:a16="http://schemas.microsoft.com/office/drawing/2014/main" val="10005"/>
                  </a:ext>
                </a:extLst>
              </a:tr>
              <a:tr h="383540">
                <a:tc>
                  <a:txBody>
                    <a:bodyPr/>
                    <a:lstStyle/>
                    <a:p>
                      <a:pPr marL="0" indent="0">
                        <a:lnSpc>
                          <a:spcPts val="1960"/>
                        </a:lnSpc>
                        <a:buNone/>
                      </a:pPr>
                      <a:r>
                        <a:rPr lang="en-US" sz="1400" dirty="0">
                          <a:solidFill>
                            <a:srgbClr val="12233F"/>
                          </a:solidFill>
                          <a:latin typeface="DM Sans" pitchFamily="34" charset="0"/>
                          <a:ea typeface="DM Sans" pitchFamily="34" charset="-122"/>
                          <a:cs typeface="DM Sans" pitchFamily="34" charset="-120"/>
                        </a:rPr>
                        <a:t>Éxito de la suite automatizada</a:t>
                      </a:r>
                      <a:endParaRPr lang="en-US" sz="1400" dirty="0">
                        <a:latin typeface="DM Sans" charset="0"/>
                        <a:ea typeface="DM Sans" charset="0"/>
                        <a:cs typeface="DM Sans" charset="0"/>
                      </a:endParaRPr>
                    </a:p>
                  </a:txBody>
                  <a:tcPr marL="62230" marR="62230" marT="62230" marB="62230">
                    <a:lnL w="12700" cap="flat" cmpd="sng" algn="ctr">
                      <a:solidFill>
                        <a:srgbClr val="C4C2BC"/>
                      </a:solidFill>
                      <a:prstDash val="solid"/>
                      <a:round/>
                      <a:headEnd type="none" w="med" len="med"/>
                      <a:tailEnd type="none" w="med" len="med"/>
                    </a:lnL>
                    <a:lnR w="12700" cap="flat" cmpd="sng" algn="ctr">
                      <a:solidFill>
                        <a:srgbClr val="BCBAB1"/>
                      </a:solidFill>
                      <a:prstDash val="solid"/>
                      <a:round/>
                      <a:headEnd type="none" w="med" len="med"/>
                      <a:tailEnd type="none" w="med" len="med"/>
                    </a:lnR>
                    <a:lnT w="12700" cap="flat" cmpd="sng" algn="ctr">
                      <a:solidFill>
                        <a:srgbClr val="C4C2BC"/>
                      </a:solidFill>
                      <a:prstDash val="solid"/>
                      <a:round/>
                      <a:headEnd type="none" w="med" len="med"/>
                      <a:tailEnd type="none" w="med" len="med"/>
                    </a:lnT>
                    <a:lnB w="12700" cap="flat" cmpd="sng" algn="ctr">
                      <a:solidFill>
                        <a:srgbClr val="BCBAB1"/>
                      </a:solidFill>
                      <a:prstDash val="solid"/>
                      <a:round/>
                      <a:headEnd type="none" w="med" len="med"/>
                      <a:tailEnd type="none" w="med" len="med"/>
                    </a:lnB>
                    <a:solidFill>
                      <a:srgbClr val="ECE9DE"/>
                    </a:solidFill>
                  </a:tcPr>
                </a:tc>
                <a:tc>
                  <a:txBody>
                    <a:bodyPr/>
                    <a:lstStyle/>
                    <a:p>
                      <a:pPr marL="0" indent="0">
                        <a:lnSpc>
                          <a:spcPts val="1960"/>
                        </a:lnSpc>
                        <a:buNone/>
                      </a:pPr>
                      <a:r>
                        <a:rPr lang="en-US" sz="1400" dirty="0">
                          <a:solidFill>
                            <a:srgbClr val="12233F"/>
                          </a:solidFill>
                          <a:latin typeface="DM Sans" pitchFamily="34" charset="0"/>
                          <a:ea typeface="DM Sans" pitchFamily="34" charset="-122"/>
                          <a:cs typeface="DM Sans" pitchFamily="34" charset="-120"/>
                        </a:rPr>
                        <a:t>≥ 90%</a:t>
                      </a:r>
                      <a:endParaRPr lang="en-US" sz="1400" dirty="0">
                        <a:latin typeface="DM Sans" charset="0"/>
                        <a:ea typeface="DM Sans" charset="0"/>
                        <a:cs typeface="DM Sans" charset="0"/>
                      </a:endParaRPr>
                    </a:p>
                  </a:txBody>
                  <a:tcPr marL="62230" marR="62230" marT="62230" marB="62230">
                    <a:lnL w="12700" cap="flat" cmpd="sng" algn="ctr">
                      <a:solidFill>
                        <a:srgbClr val="BCBAB1"/>
                      </a:solidFill>
                      <a:prstDash val="solid"/>
                      <a:round/>
                      <a:headEnd type="none" w="med" len="med"/>
                      <a:tailEnd type="none" w="med" len="med"/>
                    </a:lnL>
                    <a:lnR w="12700" cap="flat" cmpd="sng" algn="ctr">
                      <a:solidFill>
                        <a:srgbClr val="BCBAB1"/>
                      </a:solidFill>
                      <a:prstDash val="solid"/>
                      <a:round/>
                      <a:headEnd type="none" w="med" len="med"/>
                      <a:tailEnd type="none" w="med" len="med"/>
                    </a:lnR>
                    <a:lnT w="12700" cap="flat" cmpd="sng" algn="ctr">
                      <a:solidFill>
                        <a:srgbClr val="C4C2BC"/>
                      </a:solidFill>
                      <a:prstDash val="solid"/>
                      <a:round/>
                      <a:headEnd type="none" w="med" len="med"/>
                      <a:tailEnd type="none" w="med" len="med"/>
                    </a:lnT>
                    <a:lnB w="12700" cap="flat" cmpd="sng" algn="ctr">
                      <a:solidFill>
                        <a:srgbClr val="BCBAB1"/>
                      </a:solidFill>
                      <a:prstDash val="solid"/>
                      <a:round/>
                      <a:headEnd type="none" w="med" len="med"/>
                      <a:tailEnd type="none" w="med" len="med"/>
                    </a:lnB>
                    <a:solidFill>
                      <a:srgbClr val="ECE9DE"/>
                    </a:solidFill>
                  </a:tcPr>
                </a:tc>
                <a:tc>
                  <a:txBody>
                    <a:bodyPr/>
                    <a:lstStyle/>
                    <a:p>
                      <a:pPr marL="0" indent="0">
                        <a:lnSpc>
                          <a:spcPts val="1960"/>
                        </a:lnSpc>
                        <a:buNone/>
                      </a:pPr>
                      <a:r>
                        <a:rPr lang="en-US" sz="1400" dirty="0">
                          <a:solidFill>
                            <a:srgbClr val="12233F"/>
                          </a:solidFill>
                          <a:latin typeface="DM Sans" pitchFamily="34" charset="0"/>
                          <a:ea typeface="DM Sans" pitchFamily="34" charset="-122"/>
                          <a:cs typeface="DM Sans" pitchFamily="34" charset="-120"/>
                        </a:rPr>
                        <a:t>100% (13 de 13)</a:t>
                      </a:r>
                      <a:endParaRPr lang="en-US" sz="1400" dirty="0">
                        <a:latin typeface="DM Sans" charset="0"/>
                        <a:ea typeface="DM Sans" charset="0"/>
                        <a:cs typeface="DM Sans" charset="0"/>
                      </a:endParaRPr>
                    </a:p>
                  </a:txBody>
                  <a:tcPr marL="62230" marR="62230" marT="62230" marB="62230">
                    <a:lnL w="12700" cap="flat" cmpd="sng" algn="ctr">
                      <a:solidFill>
                        <a:srgbClr val="BCBAB1"/>
                      </a:solidFill>
                      <a:prstDash val="solid"/>
                      <a:round/>
                      <a:headEnd type="none" w="med" len="med"/>
                      <a:tailEnd type="none" w="med" len="med"/>
                    </a:lnL>
                    <a:lnR w="12700" cap="flat" cmpd="sng" algn="ctr">
                      <a:solidFill>
                        <a:srgbClr val="BCBAB1"/>
                      </a:solidFill>
                      <a:prstDash val="solid"/>
                      <a:round/>
                      <a:headEnd type="none" w="med" len="med"/>
                      <a:tailEnd type="none" w="med" len="med"/>
                    </a:lnR>
                    <a:lnT w="12700" cap="flat" cmpd="sng" algn="ctr">
                      <a:solidFill>
                        <a:srgbClr val="C4C2BC"/>
                      </a:solidFill>
                      <a:prstDash val="solid"/>
                      <a:round/>
                      <a:headEnd type="none" w="med" len="med"/>
                      <a:tailEnd type="none" w="med" len="med"/>
                    </a:lnT>
                    <a:lnB w="12700" cap="flat" cmpd="sng" algn="ctr">
                      <a:solidFill>
                        <a:srgbClr val="BCBAB1"/>
                      </a:solidFill>
                      <a:prstDash val="solid"/>
                      <a:round/>
                      <a:headEnd type="none" w="med" len="med"/>
                      <a:tailEnd type="none" w="med" len="med"/>
                    </a:lnB>
                    <a:solidFill>
                      <a:srgbClr val="ECE9DE"/>
                    </a:solidFill>
                  </a:tcPr>
                </a:tc>
                <a:tc>
                  <a:txBody>
                    <a:bodyPr/>
                    <a:lstStyle/>
                    <a:p>
                      <a:pPr marL="0" indent="0">
                        <a:lnSpc>
                          <a:spcPts val="1960"/>
                        </a:lnSpc>
                        <a:buNone/>
                      </a:pPr>
                      <a:r>
                        <a:rPr lang="en-US" sz="1400" dirty="0">
                          <a:solidFill>
                            <a:srgbClr val="2E7D4F"/>
                          </a:solidFill>
                          <a:latin typeface="DM Sans" pitchFamily="34" charset="0"/>
                          <a:ea typeface="DM Sans" pitchFamily="34" charset="-122"/>
                          <a:cs typeface="DM Sans" pitchFamily="34" charset="-120"/>
                        </a:rPr>
                        <a:t>Cumple, con reserva</a:t>
                      </a:r>
                      <a:endParaRPr lang="en-US" sz="1400" dirty="0">
                        <a:latin typeface="DM Sans" charset="0"/>
                        <a:ea typeface="DM Sans" charset="0"/>
                        <a:cs typeface="DM Sans" charset="0"/>
                      </a:endParaRPr>
                    </a:p>
                  </a:txBody>
                  <a:tcPr marL="62230" marR="62230" marT="62230" marB="62230">
                    <a:lnL w="12700" cap="flat" cmpd="sng" algn="ctr">
                      <a:solidFill>
                        <a:srgbClr val="BCBAB1"/>
                      </a:solidFill>
                      <a:prstDash val="solid"/>
                      <a:round/>
                      <a:headEnd type="none" w="med" len="med"/>
                      <a:tailEnd type="none" w="med" len="med"/>
                    </a:lnL>
                    <a:lnR w="12700" cap="flat" cmpd="sng" algn="ctr">
                      <a:solidFill>
                        <a:srgbClr val="BCBAB1"/>
                      </a:solidFill>
                      <a:prstDash val="solid"/>
                      <a:round/>
                      <a:headEnd type="none" w="med" len="med"/>
                      <a:tailEnd type="none" w="med" len="med"/>
                    </a:lnR>
                    <a:lnT w="12700" cap="flat" cmpd="sng" algn="ctr">
                      <a:solidFill>
                        <a:srgbClr val="C4C2BC"/>
                      </a:solidFill>
                      <a:prstDash val="solid"/>
                      <a:round/>
                      <a:headEnd type="none" w="med" len="med"/>
                      <a:tailEnd type="none" w="med" len="med"/>
                    </a:lnT>
                    <a:lnB w="12700" cap="flat" cmpd="sng" algn="ctr">
                      <a:solidFill>
                        <a:srgbClr val="BCBAB1"/>
                      </a:solidFill>
                      <a:prstDash val="solid"/>
                      <a:round/>
                      <a:headEnd type="none" w="med" len="med"/>
                      <a:tailEnd type="none" w="med" len="med"/>
                    </a:lnB>
                    <a:solidFill>
                      <a:srgbClr val="ECE9DE"/>
                    </a:solidFill>
                  </a:tcPr>
                </a:tc>
                <a:extLst>
                  <a:ext uri="{0D108BD9-81ED-4DB2-BD59-A6C34878D82A}">
                    <a16:rowId xmlns:a16="http://schemas.microsoft.com/office/drawing/2014/main" val="10006"/>
                  </a:ext>
                </a:extLst>
              </a:tr>
            </a:tbl>
          </a:graphicData>
        </a:graphic>
      </p:graphicFrame>
      <p:sp>
        <p:nvSpPr>
          <p:cNvPr id="4" name="Shape 1"/>
          <p:cNvSpPr/>
          <p:nvPr/>
        </p:nvSpPr>
        <p:spPr>
          <a:xfrm>
            <a:off x="838200" y="4518661"/>
            <a:ext cx="0" cy="386080"/>
          </a:xfrm>
          <a:prstGeom prst="line">
            <a:avLst/>
          </a:prstGeom>
          <a:noFill/>
          <a:ln w="50800">
            <a:solidFill>
              <a:srgbClr val="D9822B"/>
            </a:solidFill>
            <a:prstDash val="solid"/>
          </a:ln>
        </p:spPr>
        <p:txBody>
          <a:bodyPr/>
          <a:lstStyle/>
          <a:p>
            <a:endParaRPr lang="es-GT"/>
          </a:p>
        </p:txBody>
      </p:sp>
      <p:sp>
        <p:nvSpPr>
          <p:cNvPr id="5" name="Text 2"/>
          <p:cNvSpPr/>
          <p:nvPr/>
        </p:nvSpPr>
        <p:spPr>
          <a:xfrm>
            <a:off x="1066800" y="4569461"/>
            <a:ext cx="10621772" cy="309880"/>
          </a:xfrm>
          <a:prstGeom prst="rect">
            <a:avLst/>
          </a:prstGeom>
          <a:noFill/>
          <a:ln/>
        </p:spPr>
        <p:txBody>
          <a:bodyPr wrap="square" lIns="0" tIns="0" rIns="0" bIns="0" rtlCol="0" anchor="t">
            <a:normAutofit/>
          </a:bodyPr>
          <a:lstStyle/>
          <a:p>
            <a:pPr marL="0" indent="0" algn="l">
              <a:lnSpc>
                <a:spcPts val="2240"/>
              </a:lnSpc>
              <a:buNone/>
            </a:pPr>
            <a:r>
              <a:rPr lang="en-US" sz="1600" b="1" dirty="0">
                <a:solidFill>
                  <a:srgbClr val="12233F"/>
                </a:solidFill>
                <a:latin typeface="DM Sans" pitchFamily="34" charset="0"/>
                <a:ea typeface="DM Sans" pitchFamily="34" charset="-122"/>
                <a:cs typeface="DM Sans" pitchFamily="34" charset="-120"/>
              </a:rPr>
              <a:t>Única meta incumplida: densidad de defectos, 0.63 frente a un máximo de 0.4.</a:t>
            </a:r>
            <a:endParaRPr lang="en-US" sz="1600" dirty="0"/>
          </a:p>
        </p:txBody>
      </p:sp>
      <p:sp>
        <p:nvSpPr>
          <p:cNvPr id="6" name="Text 3"/>
          <p:cNvSpPr/>
          <p:nvPr/>
        </p:nvSpPr>
        <p:spPr>
          <a:xfrm>
            <a:off x="812800" y="6238239"/>
            <a:ext cx="7848600" cy="23876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5B6472"/>
                </a:solidFill>
                <a:latin typeface="DM Sans" pitchFamily="34" charset="0"/>
                <a:ea typeface="DM Sans" pitchFamily="34" charset="-122"/>
                <a:cs typeface="DM Sans" pitchFamily="34" charset="-120"/>
              </a:rPr>
              <a:t>Fuente: informe final, sección 8</a:t>
            </a:r>
            <a:endParaRPr lang="en-US" sz="1200" dirty="0"/>
          </a:p>
        </p:txBody>
      </p:sp>
      <p:sp>
        <p:nvSpPr>
          <p:cNvPr id="7" name="Text 4"/>
          <p:cNvSpPr/>
          <p:nvPr/>
        </p:nvSpPr>
        <p:spPr>
          <a:xfrm>
            <a:off x="10058400" y="6238239"/>
            <a:ext cx="1320800" cy="238760"/>
          </a:xfrm>
          <a:prstGeom prst="rect">
            <a:avLst/>
          </a:prstGeom>
          <a:noFill/>
          <a:ln/>
        </p:spPr>
        <p:txBody>
          <a:bodyPr wrap="square" lIns="0" tIns="0" rIns="0" bIns="0" rtlCol="0" anchor="t">
            <a:normAutofit/>
          </a:bodyPr>
          <a:lstStyle/>
          <a:p>
            <a:pPr marL="0" indent="0" algn="r">
              <a:lnSpc>
                <a:spcPts val="1680"/>
              </a:lnSpc>
              <a:buNone/>
            </a:pPr>
            <a:r>
              <a:rPr lang="en-US" sz="1200" dirty="0">
                <a:solidFill>
                  <a:srgbClr val="5B6472"/>
                </a:solidFill>
                <a:latin typeface="DM Sans" pitchFamily="34" charset="0"/>
                <a:ea typeface="DM Sans" pitchFamily="34" charset="-122"/>
                <a:cs typeface="DM Sans" pitchFamily="34" charset="-120"/>
              </a:rPr>
              <a:t>4</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3EC"/>
        </a:solidFill>
        <a:effectLst/>
      </p:bgPr>
    </p:bg>
    <p:spTree>
      <p:nvGrpSpPr>
        <p:cNvPr id="1" name=""/>
        <p:cNvGrpSpPr/>
        <p:nvPr/>
      </p:nvGrpSpPr>
      <p:grpSpPr>
        <a:xfrm>
          <a:off x="0" y="0"/>
          <a:ext cx="0" cy="0"/>
          <a:chOff x="0" y="0"/>
          <a:chExt cx="0" cy="0"/>
        </a:xfrm>
      </p:grpSpPr>
      <p:sp>
        <p:nvSpPr>
          <p:cNvPr id="2" name="Text 0"/>
          <p:cNvSpPr>
            <a:spLocks noGrp="1"/>
          </p:cNvSpPr>
          <p:nvPr>
            <p:ph type="title"/>
          </p:nvPr>
        </p:nvSpPr>
        <p:spPr>
          <a:xfrm>
            <a:off x="812800" y="812800"/>
            <a:ext cx="10883392" cy="528320"/>
          </a:xfrm>
          <a:prstGeom prst="rect">
            <a:avLst/>
          </a:prstGeom>
          <a:noFill/>
          <a:ln/>
        </p:spPr>
        <p:txBody>
          <a:bodyPr wrap="square" lIns="0" tIns="0" rIns="0" bIns="0" rtlCol="0" anchor="t">
            <a:normAutofit/>
          </a:bodyPr>
          <a:lstStyle/>
          <a:p>
            <a:pPr marL="0" indent="0" algn="l">
              <a:lnSpc>
                <a:spcPts val="3960"/>
              </a:lnSpc>
              <a:buNone/>
            </a:pPr>
            <a:r>
              <a:rPr lang="en-US" sz="3600" b="1" i="0" dirty="0">
                <a:solidFill>
                  <a:srgbClr val="12233F"/>
                </a:solidFill>
                <a:latin typeface="DM Sans" pitchFamily="34" charset="0"/>
                <a:ea typeface="DM Sans" pitchFamily="34" charset="-122"/>
                <a:cs typeface="DM Sans" pitchFamily="34" charset="-120"/>
              </a:rPr>
              <a:t>Los tres casos fallidos</a:t>
            </a:r>
            <a:endParaRPr lang="en-US" sz="3600" dirty="0"/>
          </a:p>
        </p:txBody>
      </p:sp>
      <p:sp>
        <p:nvSpPr>
          <p:cNvPr id="3" name="Shape 1"/>
          <p:cNvSpPr/>
          <p:nvPr/>
        </p:nvSpPr>
        <p:spPr>
          <a:xfrm>
            <a:off x="815975" y="1623696"/>
            <a:ext cx="3366770" cy="3249930"/>
          </a:xfrm>
          <a:prstGeom prst="roundRect">
            <a:avLst>
              <a:gd name="adj" fmla="val 3029"/>
            </a:avLst>
          </a:prstGeom>
          <a:solidFill>
            <a:srgbClr val="FCFBF7"/>
          </a:solidFill>
          <a:ln w="6350">
            <a:solidFill>
              <a:srgbClr val="DAD6C8"/>
            </a:solidFill>
            <a:prstDash val="solid"/>
          </a:ln>
        </p:spPr>
        <p:txBody>
          <a:bodyPr/>
          <a:lstStyle/>
          <a:p>
            <a:endParaRPr lang="es-GT"/>
          </a:p>
        </p:txBody>
      </p:sp>
      <p:sp>
        <p:nvSpPr>
          <p:cNvPr id="4" name="Text 2"/>
          <p:cNvSpPr/>
          <p:nvPr/>
        </p:nvSpPr>
        <p:spPr>
          <a:xfrm>
            <a:off x="1071880" y="1879600"/>
            <a:ext cx="2940609" cy="274320"/>
          </a:xfrm>
          <a:prstGeom prst="rect">
            <a:avLst/>
          </a:prstGeom>
          <a:noFill/>
          <a:ln/>
        </p:spPr>
        <p:txBody>
          <a:bodyPr wrap="square" lIns="0" tIns="0" rIns="0" bIns="0" rtlCol="0" anchor="t">
            <a:normAutofit/>
          </a:bodyPr>
          <a:lstStyle/>
          <a:p>
            <a:pPr marL="0" indent="0" algn="l">
              <a:lnSpc>
                <a:spcPts val="1960"/>
              </a:lnSpc>
              <a:buNone/>
            </a:pPr>
            <a:r>
              <a:rPr lang="en-US" sz="1400" b="1" dirty="0">
                <a:solidFill>
                  <a:srgbClr val="5B6472"/>
                </a:solidFill>
                <a:latin typeface="DM Sans" pitchFamily="34" charset="0"/>
                <a:ea typeface="DM Sans" pitchFamily="34" charset="-122"/>
                <a:cs typeface="DM Sans" pitchFamily="34" charset="-120"/>
              </a:rPr>
              <a:t>TC-03 · Severidad baja</a:t>
            </a:r>
            <a:endParaRPr lang="en-US" sz="1400" dirty="0"/>
          </a:p>
        </p:txBody>
      </p:sp>
      <p:sp>
        <p:nvSpPr>
          <p:cNvPr id="5" name="Text 3"/>
          <p:cNvSpPr/>
          <p:nvPr/>
        </p:nvSpPr>
        <p:spPr>
          <a:xfrm>
            <a:off x="1071880" y="2230121"/>
            <a:ext cx="3107690" cy="299720"/>
          </a:xfrm>
          <a:prstGeom prst="rect">
            <a:avLst/>
          </a:prstGeom>
          <a:noFill/>
          <a:ln/>
        </p:spPr>
        <p:txBody>
          <a:bodyPr wrap="square" lIns="0" tIns="0" rIns="0" bIns="0" rtlCol="0" anchor="t">
            <a:normAutofit/>
          </a:bodyPr>
          <a:lstStyle/>
          <a:p>
            <a:pPr marL="0" indent="0" algn="l">
              <a:lnSpc>
                <a:spcPts val="2160"/>
              </a:lnSpc>
              <a:buNone/>
            </a:pPr>
            <a:r>
              <a:rPr lang="en-US" sz="1800" b="1" dirty="0">
                <a:solidFill>
                  <a:srgbClr val="12233F"/>
                </a:solidFill>
                <a:latin typeface="DM Sans" pitchFamily="34" charset="0"/>
                <a:ea typeface="DM Sans" pitchFamily="34" charset="-122"/>
                <a:cs typeface="DM Sans" pitchFamily="34" charset="-120"/>
              </a:rPr>
              <a:t>Login con campos vacíos</a:t>
            </a:r>
            <a:endParaRPr lang="en-US" sz="1800" dirty="0"/>
          </a:p>
        </p:txBody>
      </p:sp>
      <p:sp>
        <p:nvSpPr>
          <p:cNvPr id="6" name="Text 4"/>
          <p:cNvSpPr/>
          <p:nvPr/>
        </p:nvSpPr>
        <p:spPr>
          <a:xfrm>
            <a:off x="1071880" y="2606039"/>
            <a:ext cx="2940609" cy="523240"/>
          </a:xfrm>
          <a:prstGeom prst="rect">
            <a:avLst/>
          </a:prstGeom>
          <a:noFill/>
          <a:ln/>
        </p:spPr>
        <p:txBody>
          <a:bodyPr wrap="square" lIns="0" tIns="0" rIns="0" bIns="0" rtlCol="0" anchor="t">
            <a:normAutofit/>
          </a:bodyPr>
          <a:lstStyle/>
          <a:p>
            <a:pPr marL="0" indent="0" algn="l">
              <a:lnSpc>
                <a:spcPts val="1960"/>
              </a:lnSpc>
              <a:buNone/>
            </a:pPr>
            <a:r>
              <a:rPr lang="en-US" sz="1400" b="1" dirty="0">
                <a:solidFill>
                  <a:srgbClr val="4A5568"/>
                </a:solidFill>
                <a:latin typeface="DM Sans" pitchFamily="34" charset="0"/>
                <a:ea typeface="DM Sans" pitchFamily="34" charset="-122"/>
                <a:cs typeface="DM Sans" pitchFamily="34" charset="-120"/>
              </a:rPr>
              <a:t>Esperado:</a:t>
            </a:r>
            <a:r>
              <a:rPr lang="en-US" sz="1400" dirty="0">
                <a:solidFill>
                  <a:srgbClr val="4A5568"/>
                </a:solidFill>
                <a:latin typeface="DM Sans" pitchFamily="34" charset="0"/>
                <a:ea typeface="DM Sans" pitchFamily="34" charset="-122"/>
                <a:cs typeface="DM Sans" pitchFamily="34" charset="-120"/>
              </a:rPr>
              <a:t> mensaje de campos requeridos.</a:t>
            </a:r>
            <a:endParaRPr lang="en-US" sz="1400" dirty="0"/>
          </a:p>
        </p:txBody>
      </p:sp>
      <p:sp>
        <p:nvSpPr>
          <p:cNvPr id="7" name="Text 5"/>
          <p:cNvSpPr/>
          <p:nvPr/>
        </p:nvSpPr>
        <p:spPr>
          <a:xfrm>
            <a:off x="1071880" y="3205482"/>
            <a:ext cx="2940609" cy="772160"/>
          </a:xfrm>
          <a:prstGeom prst="rect">
            <a:avLst/>
          </a:prstGeom>
          <a:noFill/>
          <a:ln/>
        </p:spPr>
        <p:txBody>
          <a:bodyPr wrap="square" lIns="0" tIns="0" rIns="0" bIns="0" rtlCol="0" anchor="t">
            <a:normAutofit/>
          </a:bodyPr>
          <a:lstStyle/>
          <a:p>
            <a:pPr marL="0" indent="0" algn="l">
              <a:lnSpc>
                <a:spcPts val="1960"/>
              </a:lnSpc>
              <a:buNone/>
            </a:pPr>
            <a:r>
              <a:rPr lang="en-US" sz="1400" b="1" dirty="0">
                <a:solidFill>
                  <a:srgbClr val="4A5568"/>
                </a:solidFill>
                <a:latin typeface="DM Sans" pitchFamily="34" charset="0"/>
                <a:ea typeface="DM Sans" pitchFamily="34" charset="-122"/>
                <a:cs typeface="DM Sans" pitchFamily="34" charset="-120"/>
              </a:rPr>
              <a:t>Observado:</a:t>
            </a:r>
            <a:r>
              <a:rPr lang="en-US" sz="1400" dirty="0">
                <a:solidFill>
                  <a:srgbClr val="4A5568"/>
                </a:solidFill>
                <a:latin typeface="DM Sans" pitchFamily="34" charset="0"/>
                <a:ea typeface="DM Sans" pitchFamily="34" charset="-122"/>
                <a:cs typeface="DM Sans" pitchFamily="34" charset="-120"/>
              </a:rPr>
              <a:t> sin acceso, pero con el mensaje genérico “Invalid password or username” en inglés.</a:t>
            </a:r>
            <a:endParaRPr lang="en-US" sz="1400" dirty="0"/>
          </a:p>
        </p:txBody>
      </p:sp>
      <p:sp>
        <p:nvSpPr>
          <p:cNvPr id="8" name="Text 6"/>
          <p:cNvSpPr/>
          <p:nvPr/>
        </p:nvSpPr>
        <p:spPr>
          <a:xfrm>
            <a:off x="1071880" y="4053839"/>
            <a:ext cx="2940609" cy="274320"/>
          </a:xfrm>
          <a:prstGeom prst="rect">
            <a:avLst/>
          </a:prstGeom>
          <a:noFill/>
          <a:ln/>
        </p:spPr>
        <p:txBody>
          <a:bodyPr wrap="square" lIns="0" tIns="0" rIns="0" bIns="0" rtlCol="0" anchor="t">
            <a:normAutofit/>
          </a:bodyPr>
          <a:lstStyle/>
          <a:p>
            <a:pPr marL="0" indent="0" algn="l">
              <a:lnSpc>
                <a:spcPts val="1960"/>
              </a:lnSpc>
              <a:buNone/>
            </a:pPr>
            <a:r>
              <a:rPr lang="en-US" sz="1400" b="1" dirty="0">
                <a:solidFill>
                  <a:srgbClr val="12233F"/>
                </a:solidFill>
                <a:latin typeface="DM Sans" pitchFamily="34" charset="0"/>
                <a:ea typeface="DM Sans" pitchFamily="34" charset="-122"/>
                <a:cs typeface="DM Sans" pitchFamily="34" charset="-120"/>
              </a:rPr>
              <a:t>BUG-08</a:t>
            </a:r>
            <a:endParaRPr lang="en-US" sz="1400" dirty="0"/>
          </a:p>
        </p:txBody>
      </p:sp>
      <p:sp>
        <p:nvSpPr>
          <p:cNvPr id="9" name="Shape 7"/>
          <p:cNvSpPr/>
          <p:nvPr/>
        </p:nvSpPr>
        <p:spPr>
          <a:xfrm>
            <a:off x="4392295" y="1623696"/>
            <a:ext cx="3366770" cy="3249930"/>
          </a:xfrm>
          <a:prstGeom prst="roundRect">
            <a:avLst>
              <a:gd name="adj" fmla="val 3029"/>
            </a:avLst>
          </a:prstGeom>
          <a:solidFill>
            <a:srgbClr val="FCFBF7"/>
          </a:solidFill>
          <a:ln w="6350">
            <a:solidFill>
              <a:srgbClr val="DAD6C8"/>
            </a:solidFill>
            <a:prstDash val="solid"/>
          </a:ln>
        </p:spPr>
        <p:txBody>
          <a:bodyPr/>
          <a:lstStyle/>
          <a:p>
            <a:endParaRPr lang="es-GT"/>
          </a:p>
        </p:txBody>
      </p:sp>
      <p:sp>
        <p:nvSpPr>
          <p:cNvPr id="10" name="Text 8"/>
          <p:cNvSpPr/>
          <p:nvPr/>
        </p:nvSpPr>
        <p:spPr>
          <a:xfrm>
            <a:off x="4648200" y="1879600"/>
            <a:ext cx="2940609" cy="274320"/>
          </a:xfrm>
          <a:prstGeom prst="rect">
            <a:avLst/>
          </a:prstGeom>
          <a:noFill/>
          <a:ln/>
        </p:spPr>
        <p:txBody>
          <a:bodyPr wrap="square" lIns="0" tIns="0" rIns="0" bIns="0" rtlCol="0" anchor="t">
            <a:normAutofit/>
          </a:bodyPr>
          <a:lstStyle/>
          <a:p>
            <a:pPr marL="0" indent="0" algn="l">
              <a:lnSpc>
                <a:spcPts val="1960"/>
              </a:lnSpc>
              <a:buNone/>
            </a:pPr>
            <a:r>
              <a:rPr lang="en-US" sz="1400" b="1" dirty="0">
                <a:solidFill>
                  <a:srgbClr val="5B6472"/>
                </a:solidFill>
                <a:latin typeface="DM Sans" pitchFamily="34" charset="0"/>
                <a:ea typeface="DM Sans" pitchFamily="34" charset="-122"/>
                <a:cs typeface="DM Sans" pitchFamily="34" charset="-120"/>
              </a:rPr>
              <a:t>TC-13 · Severidad media</a:t>
            </a:r>
            <a:endParaRPr lang="en-US" sz="1400" dirty="0"/>
          </a:p>
        </p:txBody>
      </p:sp>
      <p:sp>
        <p:nvSpPr>
          <p:cNvPr id="11" name="Text 9"/>
          <p:cNvSpPr/>
          <p:nvPr/>
        </p:nvSpPr>
        <p:spPr>
          <a:xfrm>
            <a:off x="4648200" y="2230121"/>
            <a:ext cx="2940609" cy="574040"/>
          </a:xfrm>
          <a:prstGeom prst="rect">
            <a:avLst/>
          </a:prstGeom>
          <a:noFill/>
          <a:ln/>
        </p:spPr>
        <p:txBody>
          <a:bodyPr wrap="square" lIns="0" tIns="0" rIns="0" bIns="0" rtlCol="0" anchor="t">
            <a:normAutofit/>
          </a:bodyPr>
          <a:lstStyle/>
          <a:p>
            <a:pPr marL="0" indent="0" algn="l">
              <a:lnSpc>
                <a:spcPts val="2160"/>
              </a:lnSpc>
              <a:buNone/>
            </a:pPr>
            <a:r>
              <a:rPr lang="en-US" sz="1800" b="1" dirty="0">
                <a:solidFill>
                  <a:srgbClr val="12233F"/>
                </a:solidFill>
                <a:latin typeface="DM Sans" pitchFamily="34" charset="0"/>
                <a:ea typeface="DM Sans" pitchFamily="34" charset="-122"/>
                <a:cs typeface="DM Sans" pitchFamily="34" charset="-120"/>
              </a:rPr>
              <a:t>Cantidad cero en orden de venta</a:t>
            </a:r>
            <a:endParaRPr lang="en-US" sz="1800" dirty="0"/>
          </a:p>
        </p:txBody>
      </p:sp>
      <p:sp>
        <p:nvSpPr>
          <p:cNvPr id="12" name="Text 10"/>
          <p:cNvSpPr/>
          <p:nvPr/>
        </p:nvSpPr>
        <p:spPr>
          <a:xfrm>
            <a:off x="4648200" y="2880361"/>
            <a:ext cx="2940609" cy="274320"/>
          </a:xfrm>
          <a:prstGeom prst="rect">
            <a:avLst/>
          </a:prstGeom>
          <a:noFill/>
          <a:ln/>
        </p:spPr>
        <p:txBody>
          <a:bodyPr wrap="square" lIns="0" tIns="0" rIns="0" bIns="0" rtlCol="0" anchor="t">
            <a:normAutofit/>
          </a:bodyPr>
          <a:lstStyle/>
          <a:p>
            <a:pPr marL="0" indent="0" algn="l">
              <a:lnSpc>
                <a:spcPts val="1960"/>
              </a:lnSpc>
              <a:buNone/>
            </a:pPr>
            <a:r>
              <a:rPr lang="en-US" sz="1400" b="1" dirty="0">
                <a:solidFill>
                  <a:srgbClr val="4A5568"/>
                </a:solidFill>
                <a:latin typeface="DM Sans" pitchFamily="34" charset="0"/>
                <a:ea typeface="DM Sans" pitchFamily="34" charset="-122"/>
                <a:cs typeface="DM Sans" pitchFamily="34" charset="-120"/>
              </a:rPr>
              <a:t>Esperado:</a:t>
            </a:r>
            <a:r>
              <a:rPr lang="en-US" sz="1400" dirty="0">
                <a:solidFill>
                  <a:srgbClr val="4A5568"/>
                </a:solidFill>
                <a:latin typeface="DM Sans" pitchFamily="34" charset="0"/>
                <a:ea typeface="DM Sans" pitchFamily="34" charset="-122"/>
                <a:cs typeface="DM Sans" pitchFamily="34" charset="-120"/>
              </a:rPr>
              <a:t> rechazo de la línea.</a:t>
            </a:r>
            <a:endParaRPr lang="en-US" sz="1400" dirty="0"/>
          </a:p>
        </p:txBody>
      </p:sp>
      <p:sp>
        <p:nvSpPr>
          <p:cNvPr id="13" name="Text 11"/>
          <p:cNvSpPr/>
          <p:nvPr/>
        </p:nvSpPr>
        <p:spPr>
          <a:xfrm>
            <a:off x="4648200" y="3230882"/>
            <a:ext cx="2940609" cy="772160"/>
          </a:xfrm>
          <a:prstGeom prst="rect">
            <a:avLst/>
          </a:prstGeom>
          <a:noFill/>
          <a:ln/>
        </p:spPr>
        <p:txBody>
          <a:bodyPr wrap="square" lIns="0" tIns="0" rIns="0" bIns="0" rtlCol="0" anchor="t">
            <a:normAutofit/>
          </a:bodyPr>
          <a:lstStyle/>
          <a:p>
            <a:pPr marL="0" indent="0" algn="l">
              <a:lnSpc>
                <a:spcPts val="1960"/>
              </a:lnSpc>
              <a:buNone/>
            </a:pPr>
            <a:r>
              <a:rPr lang="en-US" sz="1400" b="1" dirty="0">
                <a:solidFill>
                  <a:srgbClr val="4A5568"/>
                </a:solidFill>
                <a:latin typeface="DM Sans" pitchFamily="34" charset="0"/>
                <a:ea typeface="DM Sans" pitchFamily="34" charset="-122"/>
                <a:cs typeface="DM Sans" pitchFamily="34" charset="-120"/>
              </a:rPr>
              <a:t>Observado:</a:t>
            </a:r>
            <a:r>
              <a:rPr lang="en-US" sz="1400" dirty="0">
                <a:solidFill>
                  <a:srgbClr val="4A5568"/>
                </a:solidFill>
                <a:latin typeface="DM Sans" pitchFamily="34" charset="0"/>
                <a:ea typeface="DM Sans" pitchFamily="34" charset="-122"/>
                <a:cs typeface="DM Sans" pitchFamily="34" charset="-120"/>
              </a:rPr>
              <a:t> la orden #13 se registró con una línea de cantidad 0 y total 0.00.</a:t>
            </a:r>
            <a:endParaRPr lang="en-US" sz="1400" dirty="0"/>
          </a:p>
        </p:txBody>
      </p:sp>
      <p:sp>
        <p:nvSpPr>
          <p:cNvPr id="14" name="Text 12"/>
          <p:cNvSpPr/>
          <p:nvPr/>
        </p:nvSpPr>
        <p:spPr>
          <a:xfrm>
            <a:off x="4648200" y="4079239"/>
            <a:ext cx="2940609" cy="274320"/>
          </a:xfrm>
          <a:prstGeom prst="rect">
            <a:avLst/>
          </a:prstGeom>
          <a:noFill/>
          <a:ln/>
        </p:spPr>
        <p:txBody>
          <a:bodyPr wrap="square" lIns="0" tIns="0" rIns="0" bIns="0" rtlCol="0" anchor="t">
            <a:normAutofit/>
          </a:bodyPr>
          <a:lstStyle/>
          <a:p>
            <a:pPr marL="0" indent="0" algn="l">
              <a:lnSpc>
                <a:spcPts val="1960"/>
              </a:lnSpc>
              <a:buNone/>
            </a:pPr>
            <a:r>
              <a:rPr lang="en-US" sz="1400" b="1" dirty="0">
                <a:solidFill>
                  <a:srgbClr val="12233F"/>
                </a:solidFill>
                <a:latin typeface="DM Sans" pitchFamily="34" charset="0"/>
                <a:ea typeface="DM Sans" pitchFamily="34" charset="-122"/>
                <a:cs typeface="DM Sans" pitchFamily="34" charset="-120"/>
              </a:rPr>
              <a:t>BUG-05</a:t>
            </a:r>
            <a:endParaRPr lang="en-US" sz="1400" dirty="0"/>
          </a:p>
        </p:txBody>
      </p:sp>
      <p:sp>
        <p:nvSpPr>
          <p:cNvPr id="15" name="Shape 13"/>
          <p:cNvSpPr/>
          <p:nvPr/>
        </p:nvSpPr>
        <p:spPr>
          <a:xfrm>
            <a:off x="7978140" y="1633221"/>
            <a:ext cx="3388360" cy="3230880"/>
          </a:xfrm>
          <a:prstGeom prst="roundRect">
            <a:avLst>
              <a:gd name="adj" fmla="val 2752"/>
            </a:avLst>
          </a:prstGeom>
          <a:solidFill>
            <a:srgbClr val="FCFBF7"/>
          </a:solidFill>
          <a:ln w="25400">
            <a:solidFill>
              <a:srgbClr val="D9822B"/>
            </a:solidFill>
            <a:prstDash val="solid"/>
          </a:ln>
        </p:spPr>
        <p:txBody>
          <a:bodyPr/>
          <a:lstStyle/>
          <a:p>
            <a:endParaRPr lang="es-GT"/>
          </a:p>
        </p:txBody>
      </p:sp>
      <p:sp>
        <p:nvSpPr>
          <p:cNvPr id="16" name="Text 14"/>
          <p:cNvSpPr/>
          <p:nvPr/>
        </p:nvSpPr>
        <p:spPr>
          <a:xfrm>
            <a:off x="8244840" y="1899921"/>
            <a:ext cx="2940609" cy="274320"/>
          </a:xfrm>
          <a:prstGeom prst="rect">
            <a:avLst/>
          </a:prstGeom>
          <a:noFill/>
          <a:ln/>
        </p:spPr>
        <p:txBody>
          <a:bodyPr wrap="square" lIns="0" tIns="0" rIns="0" bIns="0" rtlCol="0" anchor="t">
            <a:normAutofit/>
          </a:bodyPr>
          <a:lstStyle/>
          <a:p>
            <a:pPr marL="0" indent="0" algn="l">
              <a:lnSpc>
                <a:spcPts val="1960"/>
              </a:lnSpc>
              <a:buNone/>
            </a:pPr>
            <a:r>
              <a:rPr lang="en-US" sz="1400" b="1" dirty="0">
                <a:solidFill>
                  <a:srgbClr val="9A4F0C"/>
                </a:solidFill>
                <a:latin typeface="DM Sans" pitchFamily="34" charset="0"/>
                <a:ea typeface="DM Sans" pitchFamily="34" charset="-122"/>
                <a:cs typeface="DM Sans" pitchFamily="34" charset="-120"/>
              </a:rPr>
              <a:t>TC-15 · Severidad alta</a:t>
            </a:r>
            <a:endParaRPr lang="en-US" sz="1400" dirty="0"/>
          </a:p>
        </p:txBody>
      </p:sp>
      <p:sp>
        <p:nvSpPr>
          <p:cNvPr id="17" name="Text 15"/>
          <p:cNvSpPr/>
          <p:nvPr/>
        </p:nvSpPr>
        <p:spPr>
          <a:xfrm>
            <a:off x="8244840" y="2250439"/>
            <a:ext cx="2940609" cy="574040"/>
          </a:xfrm>
          <a:prstGeom prst="rect">
            <a:avLst/>
          </a:prstGeom>
          <a:noFill/>
          <a:ln/>
        </p:spPr>
        <p:txBody>
          <a:bodyPr wrap="square" lIns="0" tIns="0" rIns="0" bIns="0" rtlCol="0" anchor="t">
            <a:normAutofit/>
          </a:bodyPr>
          <a:lstStyle/>
          <a:p>
            <a:pPr marL="0" indent="0" algn="l">
              <a:lnSpc>
                <a:spcPts val="2160"/>
              </a:lnSpc>
              <a:buNone/>
            </a:pPr>
            <a:r>
              <a:rPr lang="en-US" sz="1800" b="1" dirty="0">
                <a:solidFill>
                  <a:srgbClr val="12233F"/>
                </a:solidFill>
                <a:latin typeface="DM Sans" pitchFamily="34" charset="0"/>
                <a:ea typeface="DM Sans" pitchFamily="34" charset="-122"/>
                <a:cs typeface="DM Sans" pitchFamily="34" charset="-120"/>
              </a:rPr>
              <a:t>Cancelar una orden facturada</a:t>
            </a:r>
            <a:endParaRPr lang="en-US" sz="1800" dirty="0"/>
          </a:p>
        </p:txBody>
      </p:sp>
      <p:sp>
        <p:nvSpPr>
          <p:cNvPr id="18" name="Text 16"/>
          <p:cNvSpPr/>
          <p:nvPr/>
        </p:nvSpPr>
        <p:spPr>
          <a:xfrm>
            <a:off x="8244840" y="2900682"/>
            <a:ext cx="2940609" cy="523240"/>
          </a:xfrm>
          <a:prstGeom prst="rect">
            <a:avLst/>
          </a:prstGeom>
          <a:noFill/>
          <a:ln/>
        </p:spPr>
        <p:txBody>
          <a:bodyPr wrap="square" lIns="0" tIns="0" rIns="0" bIns="0" rtlCol="0" anchor="t">
            <a:normAutofit/>
          </a:bodyPr>
          <a:lstStyle/>
          <a:p>
            <a:pPr marL="0" indent="0" algn="l">
              <a:lnSpc>
                <a:spcPts val="1960"/>
              </a:lnSpc>
              <a:buNone/>
            </a:pPr>
            <a:r>
              <a:rPr lang="en-US" sz="1400" b="1" dirty="0">
                <a:solidFill>
                  <a:srgbClr val="4A5568"/>
                </a:solidFill>
                <a:latin typeface="DM Sans" pitchFamily="34" charset="0"/>
                <a:ea typeface="DM Sans" pitchFamily="34" charset="-122"/>
                <a:cs typeface="DM Sans" pitchFamily="34" charset="-120"/>
              </a:rPr>
              <a:t>Esperado:</a:t>
            </a:r>
            <a:r>
              <a:rPr lang="en-US" sz="1400" dirty="0">
                <a:solidFill>
                  <a:srgbClr val="4A5568"/>
                </a:solidFill>
                <a:latin typeface="DM Sans" pitchFamily="34" charset="0"/>
                <a:ea typeface="DM Sans" pitchFamily="34" charset="-122"/>
                <a:cs typeface="DM Sans" pitchFamily="34" charset="-120"/>
              </a:rPr>
              <a:t> el sistema no permite la cancelación.</a:t>
            </a:r>
            <a:endParaRPr lang="en-US" sz="1400" dirty="0"/>
          </a:p>
        </p:txBody>
      </p:sp>
      <p:sp>
        <p:nvSpPr>
          <p:cNvPr id="19" name="Text 17"/>
          <p:cNvSpPr/>
          <p:nvPr/>
        </p:nvSpPr>
        <p:spPr>
          <a:xfrm>
            <a:off x="8244840" y="3500121"/>
            <a:ext cx="2940609" cy="772160"/>
          </a:xfrm>
          <a:prstGeom prst="rect">
            <a:avLst/>
          </a:prstGeom>
          <a:noFill/>
          <a:ln/>
        </p:spPr>
        <p:txBody>
          <a:bodyPr wrap="square" lIns="0" tIns="0" rIns="0" bIns="0" rtlCol="0" anchor="t">
            <a:normAutofit/>
          </a:bodyPr>
          <a:lstStyle/>
          <a:p>
            <a:pPr marL="0" indent="0" algn="l">
              <a:lnSpc>
                <a:spcPts val="1960"/>
              </a:lnSpc>
              <a:buNone/>
            </a:pPr>
            <a:r>
              <a:rPr lang="en-US" sz="1400" b="1" dirty="0">
                <a:solidFill>
                  <a:srgbClr val="4A5568"/>
                </a:solidFill>
                <a:latin typeface="DM Sans" pitchFamily="34" charset="0"/>
                <a:ea typeface="DM Sans" pitchFamily="34" charset="-122"/>
                <a:cs typeface="DM Sans" pitchFamily="34" charset="-120"/>
              </a:rPr>
              <a:t>Observado:</a:t>
            </a:r>
            <a:r>
              <a:rPr lang="en-US" sz="1400" dirty="0">
                <a:solidFill>
                  <a:srgbClr val="4A5568"/>
                </a:solidFill>
                <a:latin typeface="DM Sans" pitchFamily="34" charset="0"/>
                <a:ea typeface="DM Sans" pitchFamily="34" charset="-122"/>
                <a:cs typeface="DM Sans" pitchFamily="34" charset="-120"/>
              </a:rPr>
              <a:t> la orden #15, entregada y facturada, se canceló con un mensaje de éxito.</a:t>
            </a:r>
            <a:endParaRPr lang="en-US" sz="1400" dirty="0"/>
          </a:p>
        </p:txBody>
      </p:sp>
      <p:sp>
        <p:nvSpPr>
          <p:cNvPr id="20" name="Text 18"/>
          <p:cNvSpPr/>
          <p:nvPr/>
        </p:nvSpPr>
        <p:spPr>
          <a:xfrm>
            <a:off x="8244840" y="4348482"/>
            <a:ext cx="2940609" cy="274320"/>
          </a:xfrm>
          <a:prstGeom prst="rect">
            <a:avLst/>
          </a:prstGeom>
          <a:noFill/>
          <a:ln/>
        </p:spPr>
        <p:txBody>
          <a:bodyPr wrap="square" lIns="0" tIns="0" rIns="0" bIns="0" rtlCol="0" anchor="t">
            <a:normAutofit/>
          </a:bodyPr>
          <a:lstStyle/>
          <a:p>
            <a:pPr marL="0" indent="0" algn="l">
              <a:lnSpc>
                <a:spcPts val="1960"/>
              </a:lnSpc>
              <a:buNone/>
            </a:pPr>
            <a:r>
              <a:rPr lang="en-US" sz="1400" b="1" dirty="0">
                <a:solidFill>
                  <a:srgbClr val="12233F"/>
                </a:solidFill>
                <a:latin typeface="DM Sans" pitchFamily="34" charset="0"/>
                <a:ea typeface="DM Sans" pitchFamily="34" charset="-122"/>
                <a:cs typeface="DM Sans" pitchFamily="34" charset="-120"/>
              </a:rPr>
              <a:t>BUG-10</a:t>
            </a:r>
            <a:endParaRPr lang="en-US" sz="1400" dirty="0"/>
          </a:p>
        </p:txBody>
      </p:sp>
      <p:sp>
        <p:nvSpPr>
          <p:cNvPr id="21" name="Text 19"/>
          <p:cNvSpPr/>
          <p:nvPr/>
        </p:nvSpPr>
        <p:spPr>
          <a:xfrm>
            <a:off x="812800" y="6238239"/>
            <a:ext cx="7848600" cy="23876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5B6472"/>
                </a:solidFill>
                <a:latin typeface="DM Sans" pitchFamily="34" charset="0"/>
                <a:ea typeface="DM Sans" pitchFamily="34" charset="-122"/>
                <a:cs typeface="DM Sans" pitchFamily="34" charset="-120"/>
              </a:rPr>
              <a:t>Fuente: informe final, secciones 5.1 y 10.4</a:t>
            </a:r>
            <a:endParaRPr lang="en-US" sz="1200" dirty="0"/>
          </a:p>
        </p:txBody>
      </p:sp>
      <p:sp>
        <p:nvSpPr>
          <p:cNvPr id="22" name="Text 20"/>
          <p:cNvSpPr/>
          <p:nvPr/>
        </p:nvSpPr>
        <p:spPr>
          <a:xfrm>
            <a:off x="10058400" y="6238239"/>
            <a:ext cx="1320800" cy="238760"/>
          </a:xfrm>
          <a:prstGeom prst="rect">
            <a:avLst/>
          </a:prstGeom>
          <a:noFill/>
          <a:ln/>
        </p:spPr>
        <p:txBody>
          <a:bodyPr wrap="square" lIns="0" tIns="0" rIns="0" bIns="0" rtlCol="0" anchor="t">
            <a:normAutofit/>
          </a:bodyPr>
          <a:lstStyle/>
          <a:p>
            <a:pPr marL="0" indent="0" algn="r">
              <a:lnSpc>
                <a:spcPts val="1680"/>
              </a:lnSpc>
              <a:buNone/>
            </a:pPr>
            <a:r>
              <a:rPr lang="en-US" sz="1200" dirty="0">
                <a:solidFill>
                  <a:srgbClr val="5B6472"/>
                </a:solidFill>
                <a:latin typeface="DM Sans" pitchFamily="34" charset="0"/>
                <a:ea typeface="DM Sans" pitchFamily="34" charset="-122"/>
                <a:cs typeface="DM Sans" pitchFamily="34" charset="-120"/>
              </a:rPr>
              <a:t>5</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D9822B"/>
        </a:solidFill>
        <a:effectLst/>
      </p:bgPr>
    </p:bg>
    <p:spTree>
      <p:nvGrpSpPr>
        <p:cNvPr id="1" name=""/>
        <p:cNvGrpSpPr/>
        <p:nvPr/>
      </p:nvGrpSpPr>
      <p:grpSpPr>
        <a:xfrm>
          <a:off x="0" y="0"/>
          <a:ext cx="0" cy="0"/>
          <a:chOff x="0" y="0"/>
          <a:chExt cx="0" cy="0"/>
        </a:xfrm>
      </p:grpSpPr>
      <p:sp>
        <p:nvSpPr>
          <p:cNvPr id="2" name="Text 0"/>
          <p:cNvSpPr/>
          <p:nvPr/>
        </p:nvSpPr>
        <p:spPr>
          <a:xfrm>
            <a:off x="812800" y="1856739"/>
            <a:ext cx="10883392" cy="274320"/>
          </a:xfrm>
          <a:prstGeom prst="rect">
            <a:avLst/>
          </a:prstGeom>
          <a:noFill/>
          <a:ln/>
        </p:spPr>
        <p:txBody>
          <a:bodyPr wrap="square" lIns="0" tIns="0" rIns="0" bIns="0" rtlCol="0" anchor="t">
            <a:normAutofit/>
          </a:bodyPr>
          <a:lstStyle/>
          <a:p>
            <a:pPr marL="0" indent="0" algn="l">
              <a:lnSpc>
                <a:spcPts val="1960"/>
              </a:lnSpc>
              <a:buNone/>
            </a:pPr>
            <a:r>
              <a:rPr lang="en-US" sz="1400" b="1" kern="0" spc="150" dirty="0">
                <a:solidFill>
                  <a:srgbClr val="12233F"/>
                </a:solidFill>
                <a:latin typeface="DM Sans" pitchFamily="34" charset="0"/>
                <a:ea typeface="DM Sans" pitchFamily="34" charset="-122"/>
                <a:cs typeface="DM Sans" pitchFamily="34" charset="-120"/>
              </a:rPr>
              <a:t>HALLAZGO DE MAYOR RIESGO · BUG-10</a:t>
            </a:r>
            <a:endParaRPr lang="en-US" sz="1400" dirty="0"/>
          </a:p>
        </p:txBody>
      </p:sp>
      <p:sp>
        <p:nvSpPr>
          <p:cNvPr id="3" name="Text 1"/>
          <p:cNvSpPr>
            <a:spLocks noGrp="1"/>
          </p:cNvSpPr>
          <p:nvPr>
            <p:ph type="title"/>
          </p:nvPr>
        </p:nvSpPr>
        <p:spPr>
          <a:xfrm>
            <a:off x="812800" y="2359661"/>
            <a:ext cx="10883392" cy="1031240"/>
          </a:xfrm>
          <a:prstGeom prst="rect">
            <a:avLst/>
          </a:prstGeom>
          <a:noFill/>
          <a:ln/>
        </p:spPr>
        <p:txBody>
          <a:bodyPr wrap="square" lIns="0" tIns="0" rIns="0" bIns="0" rtlCol="0" anchor="t">
            <a:normAutofit/>
          </a:bodyPr>
          <a:lstStyle/>
          <a:p>
            <a:pPr marL="0" indent="0" algn="l">
              <a:lnSpc>
                <a:spcPts val="3960"/>
              </a:lnSpc>
              <a:buNone/>
            </a:pPr>
            <a:r>
              <a:rPr lang="en-US" sz="3600" b="1" i="0" dirty="0">
                <a:solidFill>
                  <a:srgbClr val="12233F"/>
                </a:solidFill>
                <a:latin typeface="DM Sans" pitchFamily="34" charset="0"/>
                <a:ea typeface="DM Sans" pitchFamily="34" charset="-122"/>
                <a:cs typeface="DM Sans" pitchFamily="34" charset="-120"/>
              </a:rPr>
              <a:t>El sistema permite cancelar una orden ya entregada y facturada</a:t>
            </a:r>
            <a:endParaRPr lang="en-US" sz="3600" dirty="0"/>
          </a:p>
        </p:txBody>
      </p:sp>
      <p:sp>
        <p:nvSpPr>
          <p:cNvPr id="4" name="Text 2"/>
          <p:cNvSpPr/>
          <p:nvPr/>
        </p:nvSpPr>
        <p:spPr>
          <a:xfrm>
            <a:off x="812800" y="3619500"/>
            <a:ext cx="10883392" cy="665480"/>
          </a:xfrm>
          <a:prstGeom prst="rect">
            <a:avLst/>
          </a:prstGeom>
          <a:noFill/>
          <a:ln/>
        </p:spPr>
        <p:txBody>
          <a:bodyPr wrap="square" lIns="0" tIns="0" rIns="0" bIns="0" rtlCol="0" anchor="t">
            <a:normAutofit/>
          </a:bodyPr>
          <a:lstStyle/>
          <a:p>
            <a:pPr marL="0" indent="0" algn="l">
              <a:lnSpc>
                <a:spcPts val="2520"/>
              </a:lnSpc>
              <a:buNone/>
            </a:pPr>
            <a:r>
              <a:rPr lang="en-US" sz="1800" dirty="0">
                <a:solidFill>
                  <a:srgbClr val="12233F"/>
                </a:solidFill>
                <a:latin typeface="DM Sans" pitchFamily="34" charset="0"/>
                <a:ea typeface="DM Sans" pitchFamily="34" charset="-122"/>
                <a:cs typeface="DM Sans" pitchFamily="34" charset="-120"/>
              </a:rPr>
              <a:t>Orden #15: 5 de 5 unidades entregadas y factura por 1,250.00. Aun así, “Cancelar Orden” respondió con un mensaje de éxito.</a:t>
            </a:r>
            <a:endParaRPr lang="en-US" sz="1800" dirty="0"/>
          </a:p>
        </p:txBody>
      </p:sp>
      <p:sp>
        <p:nvSpPr>
          <p:cNvPr id="5" name="Text 3"/>
          <p:cNvSpPr/>
          <p:nvPr/>
        </p:nvSpPr>
        <p:spPr>
          <a:xfrm>
            <a:off x="812800" y="4513582"/>
            <a:ext cx="10883392" cy="309880"/>
          </a:xfrm>
          <a:prstGeom prst="rect">
            <a:avLst/>
          </a:prstGeom>
          <a:noFill/>
          <a:ln/>
        </p:spPr>
        <p:txBody>
          <a:bodyPr wrap="square" lIns="0" tIns="0" rIns="0" bIns="0" rtlCol="0" anchor="t">
            <a:normAutofit/>
          </a:bodyPr>
          <a:lstStyle/>
          <a:p>
            <a:pPr marL="0" indent="0" algn="l">
              <a:lnSpc>
                <a:spcPts val="2240"/>
              </a:lnSpc>
              <a:buNone/>
            </a:pPr>
            <a:r>
              <a:rPr lang="en-US" sz="1600" b="1" dirty="0">
                <a:solidFill>
                  <a:srgbClr val="12233F"/>
                </a:solidFill>
                <a:latin typeface="DM Sans" pitchFamily="34" charset="0"/>
                <a:ea typeface="DM Sans" pitchFamily="34" charset="-122"/>
                <a:cs typeface="DM Sans" pitchFamily="34" charset="-120"/>
              </a:rPr>
              <a:t>Afecta una regla de negocio de Ventas. Severidad alta, riesgo 6 (prioridad alta).</a:t>
            </a:r>
            <a:endParaRPr lang="en-US" sz="1600" dirty="0"/>
          </a:p>
        </p:txBody>
      </p:sp>
      <p:sp>
        <p:nvSpPr>
          <p:cNvPr id="6" name="Text 4"/>
          <p:cNvSpPr/>
          <p:nvPr/>
        </p:nvSpPr>
        <p:spPr>
          <a:xfrm>
            <a:off x="812800" y="6238239"/>
            <a:ext cx="7848600" cy="23876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12233F"/>
                </a:solidFill>
                <a:latin typeface="DM Sans" pitchFamily="34" charset="0"/>
                <a:ea typeface="DM Sans" pitchFamily="34" charset="-122"/>
                <a:cs typeface="DM Sans" pitchFamily="34" charset="-120"/>
              </a:rPr>
              <a:t>Fuente: informe final, TC-15 y sección 6.4</a:t>
            </a:r>
            <a:endParaRPr lang="en-US" sz="1200" dirty="0"/>
          </a:p>
        </p:txBody>
      </p:sp>
      <p:sp>
        <p:nvSpPr>
          <p:cNvPr id="7" name="Text 5"/>
          <p:cNvSpPr/>
          <p:nvPr/>
        </p:nvSpPr>
        <p:spPr>
          <a:xfrm>
            <a:off x="10058400" y="6238239"/>
            <a:ext cx="1320800" cy="238760"/>
          </a:xfrm>
          <a:prstGeom prst="rect">
            <a:avLst/>
          </a:prstGeom>
          <a:noFill/>
          <a:ln/>
        </p:spPr>
        <p:txBody>
          <a:bodyPr wrap="square" lIns="0" tIns="0" rIns="0" bIns="0" rtlCol="0" anchor="t">
            <a:normAutofit/>
          </a:bodyPr>
          <a:lstStyle/>
          <a:p>
            <a:pPr marL="0" indent="0" algn="r">
              <a:lnSpc>
                <a:spcPts val="1680"/>
              </a:lnSpc>
              <a:buNone/>
            </a:pPr>
            <a:r>
              <a:rPr lang="en-US" sz="1200" dirty="0">
                <a:solidFill>
                  <a:srgbClr val="12233F"/>
                </a:solidFill>
                <a:latin typeface="DM Sans" pitchFamily="34" charset="0"/>
                <a:ea typeface="DM Sans" pitchFamily="34" charset="-122"/>
                <a:cs typeface="DM Sans" pitchFamily="34" charset="-120"/>
              </a:rPr>
              <a:t>6</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3EC"/>
        </a:solidFill>
        <a:effectLst/>
      </p:bgPr>
    </p:bg>
    <p:spTree>
      <p:nvGrpSpPr>
        <p:cNvPr id="1" name=""/>
        <p:cNvGrpSpPr/>
        <p:nvPr/>
      </p:nvGrpSpPr>
      <p:grpSpPr>
        <a:xfrm>
          <a:off x="0" y="0"/>
          <a:ext cx="0" cy="0"/>
          <a:chOff x="0" y="0"/>
          <a:chExt cx="0" cy="0"/>
        </a:xfrm>
      </p:grpSpPr>
      <p:sp>
        <p:nvSpPr>
          <p:cNvPr id="2" name="Text 0"/>
          <p:cNvSpPr>
            <a:spLocks noGrp="1"/>
          </p:cNvSpPr>
          <p:nvPr>
            <p:ph type="title"/>
          </p:nvPr>
        </p:nvSpPr>
        <p:spPr>
          <a:xfrm>
            <a:off x="812800" y="812800"/>
            <a:ext cx="10883392" cy="528320"/>
          </a:xfrm>
          <a:prstGeom prst="rect">
            <a:avLst/>
          </a:prstGeom>
          <a:noFill/>
          <a:ln/>
        </p:spPr>
        <p:txBody>
          <a:bodyPr wrap="square" lIns="0" tIns="0" rIns="0" bIns="0" rtlCol="0" anchor="t">
            <a:normAutofit/>
          </a:bodyPr>
          <a:lstStyle/>
          <a:p>
            <a:pPr marL="0" indent="0" algn="l">
              <a:lnSpc>
                <a:spcPts val="3960"/>
              </a:lnSpc>
              <a:buNone/>
            </a:pPr>
            <a:r>
              <a:rPr lang="en-US" sz="3600" b="1" i="0" dirty="0">
                <a:solidFill>
                  <a:srgbClr val="12233F"/>
                </a:solidFill>
                <a:latin typeface="DM Sans" pitchFamily="34" charset="0"/>
                <a:ea typeface="DM Sans" pitchFamily="34" charset="-122"/>
                <a:cs typeface="DM Sans" pitchFamily="34" charset="-120"/>
              </a:rPr>
              <a:t>Bugs: 10 reproducidos, 1 de severidad alta</a:t>
            </a:r>
            <a:endParaRPr lang="en-US" sz="3600" dirty="0"/>
          </a:p>
        </p:txBody>
      </p:sp>
      <p:sp>
        <p:nvSpPr>
          <p:cNvPr id="3" name="Shape 1"/>
          <p:cNvSpPr/>
          <p:nvPr/>
        </p:nvSpPr>
        <p:spPr>
          <a:xfrm>
            <a:off x="815975" y="1623696"/>
            <a:ext cx="5073650" cy="2909570"/>
          </a:xfrm>
          <a:prstGeom prst="roundRect">
            <a:avLst>
              <a:gd name="adj" fmla="val 3383"/>
            </a:avLst>
          </a:prstGeom>
          <a:solidFill>
            <a:srgbClr val="FCFBF7"/>
          </a:solidFill>
          <a:ln w="6350">
            <a:solidFill>
              <a:srgbClr val="DAD6C8"/>
            </a:solidFill>
            <a:prstDash val="solid"/>
          </a:ln>
        </p:spPr>
        <p:txBody>
          <a:bodyPr/>
          <a:lstStyle/>
          <a:p>
            <a:endParaRPr lang="es-GT"/>
          </a:p>
        </p:txBody>
      </p:sp>
      <p:sp>
        <p:nvSpPr>
          <p:cNvPr id="4" name="Text 2"/>
          <p:cNvSpPr/>
          <p:nvPr/>
        </p:nvSpPr>
        <p:spPr>
          <a:xfrm>
            <a:off x="1071880" y="1879600"/>
            <a:ext cx="4698695" cy="299720"/>
          </a:xfrm>
          <a:prstGeom prst="rect">
            <a:avLst/>
          </a:prstGeom>
          <a:noFill/>
          <a:ln/>
        </p:spPr>
        <p:txBody>
          <a:bodyPr wrap="square" lIns="0" tIns="0" rIns="0" bIns="0" rtlCol="0" anchor="t">
            <a:normAutofit/>
          </a:bodyPr>
          <a:lstStyle/>
          <a:p>
            <a:pPr marL="0" indent="0" algn="l">
              <a:lnSpc>
                <a:spcPts val="2160"/>
              </a:lnSpc>
              <a:buNone/>
            </a:pPr>
            <a:r>
              <a:rPr lang="en-US" sz="1800" b="1" dirty="0">
                <a:solidFill>
                  <a:srgbClr val="12233F"/>
                </a:solidFill>
                <a:latin typeface="DM Sans" pitchFamily="34" charset="0"/>
                <a:ea typeface="DM Sans" pitchFamily="34" charset="-122"/>
                <a:cs typeface="DM Sans" pitchFamily="34" charset="-120"/>
              </a:rPr>
              <a:t>Por severidad</a:t>
            </a:r>
            <a:endParaRPr lang="en-US" sz="1800" dirty="0"/>
          </a:p>
        </p:txBody>
      </p:sp>
      <p:sp>
        <p:nvSpPr>
          <p:cNvPr id="5" name="Text 3"/>
          <p:cNvSpPr/>
          <p:nvPr/>
        </p:nvSpPr>
        <p:spPr>
          <a:xfrm>
            <a:off x="1071880" y="2392682"/>
            <a:ext cx="812800" cy="309880"/>
          </a:xfrm>
          <a:prstGeom prst="rect">
            <a:avLst/>
          </a:prstGeom>
          <a:noFill/>
          <a:ln/>
        </p:spPr>
        <p:txBody>
          <a:bodyPr wrap="square" lIns="0" tIns="0" rIns="0" bIns="0" rtlCol="0" anchor="t">
            <a:normAutofit/>
          </a:bodyPr>
          <a:lstStyle/>
          <a:p>
            <a:pPr marL="0" indent="0" algn="l">
              <a:lnSpc>
                <a:spcPts val="2240"/>
              </a:lnSpc>
              <a:buNone/>
            </a:pPr>
            <a:r>
              <a:rPr lang="en-US" sz="1600" b="1" dirty="0">
                <a:solidFill>
                  <a:srgbClr val="12233F"/>
                </a:solidFill>
                <a:latin typeface="DM Sans" pitchFamily="34" charset="0"/>
                <a:ea typeface="DM Sans" pitchFamily="34" charset="-122"/>
                <a:cs typeface="DM Sans" pitchFamily="34" charset="-120"/>
              </a:rPr>
              <a:t>Alta</a:t>
            </a:r>
            <a:endParaRPr lang="en-US" sz="1600" dirty="0"/>
          </a:p>
        </p:txBody>
      </p:sp>
      <p:sp>
        <p:nvSpPr>
          <p:cNvPr id="6" name="Shape 4"/>
          <p:cNvSpPr/>
          <p:nvPr/>
        </p:nvSpPr>
        <p:spPr>
          <a:xfrm>
            <a:off x="1986280" y="2357121"/>
            <a:ext cx="577850" cy="355600"/>
          </a:xfrm>
          <a:prstGeom prst="roundRect">
            <a:avLst>
              <a:gd name="adj" fmla="val 14286"/>
            </a:avLst>
          </a:prstGeom>
          <a:solidFill>
            <a:srgbClr val="D9822B"/>
          </a:solidFill>
          <a:ln/>
        </p:spPr>
        <p:txBody>
          <a:bodyPr/>
          <a:lstStyle/>
          <a:p>
            <a:endParaRPr lang="es-GT"/>
          </a:p>
        </p:txBody>
      </p:sp>
      <p:sp>
        <p:nvSpPr>
          <p:cNvPr id="7" name="Text 5"/>
          <p:cNvSpPr/>
          <p:nvPr/>
        </p:nvSpPr>
        <p:spPr>
          <a:xfrm>
            <a:off x="2716530" y="2392682"/>
            <a:ext cx="824198" cy="309880"/>
          </a:xfrm>
          <a:prstGeom prst="rect">
            <a:avLst/>
          </a:prstGeom>
          <a:noFill/>
          <a:ln/>
        </p:spPr>
        <p:txBody>
          <a:bodyPr wrap="square" lIns="0" tIns="0" rIns="0" bIns="0" rtlCol="0" anchor="t">
            <a:normAutofit/>
          </a:bodyPr>
          <a:lstStyle/>
          <a:p>
            <a:pPr marL="0" indent="0" algn="l">
              <a:lnSpc>
                <a:spcPts val="2240"/>
              </a:lnSpc>
              <a:buNone/>
            </a:pPr>
            <a:r>
              <a:rPr lang="en-US" sz="1600" b="1" dirty="0">
                <a:solidFill>
                  <a:srgbClr val="12233F"/>
                </a:solidFill>
                <a:latin typeface="DM Sans" pitchFamily="34" charset="0"/>
                <a:ea typeface="DM Sans" pitchFamily="34" charset="-122"/>
                <a:cs typeface="DM Sans" pitchFamily="34" charset="-120"/>
              </a:rPr>
              <a:t>1 (10%)</a:t>
            </a:r>
            <a:endParaRPr lang="en-US" sz="1600" dirty="0"/>
          </a:p>
        </p:txBody>
      </p:sp>
      <p:sp>
        <p:nvSpPr>
          <p:cNvPr id="8" name="Text 6"/>
          <p:cNvSpPr/>
          <p:nvPr/>
        </p:nvSpPr>
        <p:spPr>
          <a:xfrm>
            <a:off x="1071880" y="2951482"/>
            <a:ext cx="812800" cy="309880"/>
          </a:xfrm>
          <a:prstGeom prst="rect">
            <a:avLst/>
          </a:prstGeom>
          <a:noFill/>
          <a:ln/>
        </p:spPr>
        <p:txBody>
          <a:bodyPr wrap="square" lIns="0" tIns="0" rIns="0" bIns="0" rtlCol="0" anchor="t">
            <a:normAutofit/>
          </a:bodyPr>
          <a:lstStyle/>
          <a:p>
            <a:pPr marL="0" indent="0" algn="l">
              <a:lnSpc>
                <a:spcPts val="2240"/>
              </a:lnSpc>
              <a:buNone/>
            </a:pPr>
            <a:r>
              <a:rPr lang="en-US" sz="1600" b="1" dirty="0">
                <a:solidFill>
                  <a:srgbClr val="12233F"/>
                </a:solidFill>
                <a:latin typeface="DM Sans" pitchFamily="34" charset="0"/>
                <a:ea typeface="DM Sans" pitchFamily="34" charset="-122"/>
                <a:cs typeface="DM Sans" pitchFamily="34" charset="-120"/>
              </a:rPr>
              <a:t>Media</a:t>
            </a:r>
            <a:endParaRPr lang="en-US" sz="1600" dirty="0"/>
          </a:p>
        </p:txBody>
      </p:sp>
      <p:sp>
        <p:nvSpPr>
          <p:cNvPr id="9" name="Shape 7"/>
          <p:cNvSpPr/>
          <p:nvPr/>
        </p:nvSpPr>
        <p:spPr>
          <a:xfrm>
            <a:off x="1986280" y="2915921"/>
            <a:ext cx="1162050" cy="355600"/>
          </a:xfrm>
          <a:prstGeom prst="roundRect">
            <a:avLst>
              <a:gd name="adj" fmla="val 14286"/>
            </a:avLst>
          </a:prstGeom>
          <a:solidFill>
            <a:srgbClr val="2F5D8C"/>
          </a:solidFill>
          <a:ln/>
        </p:spPr>
        <p:txBody>
          <a:bodyPr/>
          <a:lstStyle/>
          <a:p>
            <a:endParaRPr lang="es-GT"/>
          </a:p>
        </p:txBody>
      </p:sp>
      <p:sp>
        <p:nvSpPr>
          <p:cNvPr id="10" name="Text 8"/>
          <p:cNvSpPr/>
          <p:nvPr/>
        </p:nvSpPr>
        <p:spPr>
          <a:xfrm>
            <a:off x="3300730" y="2951482"/>
            <a:ext cx="927068" cy="309880"/>
          </a:xfrm>
          <a:prstGeom prst="rect">
            <a:avLst/>
          </a:prstGeom>
          <a:noFill/>
          <a:ln/>
        </p:spPr>
        <p:txBody>
          <a:bodyPr wrap="square" lIns="0" tIns="0" rIns="0" bIns="0" rtlCol="0" anchor="t">
            <a:normAutofit/>
          </a:bodyPr>
          <a:lstStyle/>
          <a:p>
            <a:pPr marL="0" indent="0" algn="l">
              <a:lnSpc>
                <a:spcPts val="2240"/>
              </a:lnSpc>
              <a:buNone/>
            </a:pPr>
            <a:r>
              <a:rPr lang="en-US" sz="1600" b="1" dirty="0">
                <a:solidFill>
                  <a:srgbClr val="12233F"/>
                </a:solidFill>
                <a:latin typeface="DM Sans" pitchFamily="34" charset="0"/>
                <a:ea typeface="DM Sans" pitchFamily="34" charset="-122"/>
                <a:cs typeface="DM Sans" pitchFamily="34" charset="-120"/>
              </a:rPr>
              <a:t>2 (20%)</a:t>
            </a:r>
            <a:endParaRPr lang="en-US" sz="1600" dirty="0"/>
          </a:p>
        </p:txBody>
      </p:sp>
      <p:sp>
        <p:nvSpPr>
          <p:cNvPr id="11" name="Text 9"/>
          <p:cNvSpPr/>
          <p:nvPr/>
        </p:nvSpPr>
        <p:spPr>
          <a:xfrm>
            <a:off x="1071880" y="3510282"/>
            <a:ext cx="812800" cy="309880"/>
          </a:xfrm>
          <a:prstGeom prst="rect">
            <a:avLst/>
          </a:prstGeom>
          <a:noFill/>
          <a:ln/>
        </p:spPr>
        <p:txBody>
          <a:bodyPr wrap="square" lIns="0" tIns="0" rIns="0" bIns="0" rtlCol="0" anchor="t">
            <a:normAutofit/>
          </a:bodyPr>
          <a:lstStyle/>
          <a:p>
            <a:pPr marL="0" indent="0" algn="l">
              <a:lnSpc>
                <a:spcPts val="2240"/>
              </a:lnSpc>
              <a:buNone/>
            </a:pPr>
            <a:r>
              <a:rPr lang="en-US" sz="1600" b="1" dirty="0">
                <a:solidFill>
                  <a:srgbClr val="12233F"/>
                </a:solidFill>
                <a:latin typeface="DM Sans" pitchFamily="34" charset="0"/>
                <a:ea typeface="DM Sans" pitchFamily="34" charset="-122"/>
                <a:cs typeface="DM Sans" pitchFamily="34" charset="-120"/>
              </a:rPr>
              <a:t>Baja</a:t>
            </a:r>
            <a:endParaRPr lang="en-US" sz="1600" dirty="0"/>
          </a:p>
        </p:txBody>
      </p:sp>
      <p:sp>
        <p:nvSpPr>
          <p:cNvPr id="12" name="Shape 10"/>
          <p:cNvSpPr/>
          <p:nvPr/>
        </p:nvSpPr>
        <p:spPr>
          <a:xfrm>
            <a:off x="1986280" y="3474721"/>
            <a:ext cx="2540000" cy="355600"/>
          </a:xfrm>
          <a:prstGeom prst="roundRect">
            <a:avLst>
              <a:gd name="adj" fmla="val 14286"/>
            </a:avLst>
          </a:prstGeom>
          <a:solidFill>
            <a:srgbClr val="7C8CA3"/>
          </a:solidFill>
          <a:ln/>
        </p:spPr>
        <p:txBody>
          <a:bodyPr/>
          <a:lstStyle/>
          <a:p>
            <a:endParaRPr lang="es-GT"/>
          </a:p>
        </p:txBody>
      </p:sp>
      <p:sp>
        <p:nvSpPr>
          <p:cNvPr id="13" name="Text 11"/>
          <p:cNvSpPr/>
          <p:nvPr/>
        </p:nvSpPr>
        <p:spPr>
          <a:xfrm>
            <a:off x="4678680" y="3510282"/>
            <a:ext cx="906685" cy="309880"/>
          </a:xfrm>
          <a:prstGeom prst="rect">
            <a:avLst/>
          </a:prstGeom>
          <a:noFill/>
          <a:ln/>
        </p:spPr>
        <p:txBody>
          <a:bodyPr wrap="square" lIns="0" tIns="0" rIns="0" bIns="0" rtlCol="0" anchor="t">
            <a:normAutofit/>
          </a:bodyPr>
          <a:lstStyle/>
          <a:p>
            <a:pPr marL="0" indent="0" algn="l">
              <a:lnSpc>
                <a:spcPts val="2240"/>
              </a:lnSpc>
              <a:buNone/>
            </a:pPr>
            <a:r>
              <a:rPr lang="en-US" sz="1600" b="1" dirty="0">
                <a:solidFill>
                  <a:srgbClr val="12233F"/>
                </a:solidFill>
                <a:latin typeface="DM Sans" pitchFamily="34" charset="0"/>
                <a:ea typeface="DM Sans" pitchFamily="34" charset="-122"/>
                <a:cs typeface="DM Sans" pitchFamily="34" charset="-120"/>
              </a:rPr>
              <a:t>7 (70%)</a:t>
            </a:r>
            <a:endParaRPr lang="en-US" sz="1600" dirty="0"/>
          </a:p>
        </p:txBody>
      </p:sp>
      <p:sp>
        <p:nvSpPr>
          <p:cNvPr id="14" name="Shape 12"/>
          <p:cNvSpPr/>
          <p:nvPr/>
        </p:nvSpPr>
        <p:spPr>
          <a:xfrm>
            <a:off x="6302375" y="1623696"/>
            <a:ext cx="5073650" cy="2909570"/>
          </a:xfrm>
          <a:prstGeom prst="roundRect">
            <a:avLst>
              <a:gd name="adj" fmla="val 3383"/>
            </a:avLst>
          </a:prstGeom>
          <a:solidFill>
            <a:srgbClr val="FCFBF7"/>
          </a:solidFill>
          <a:ln w="6350">
            <a:solidFill>
              <a:srgbClr val="DAD6C8"/>
            </a:solidFill>
            <a:prstDash val="solid"/>
          </a:ln>
        </p:spPr>
        <p:txBody>
          <a:bodyPr/>
          <a:lstStyle/>
          <a:p>
            <a:endParaRPr lang="es-GT"/>
          </a:p>
        </p:txBody>
      </p:sp>
      <p:sp>
        <p:nvSpPr>
          <p:cNvPr id="15" name="Text 13"/>
          <p:cNvSpPr/>
          <p:nvPr/>
        </p:nvSpPr>
        <p:spPr>
          <a:xfrm>
            <a:off x="6558280" y="1879600"/>
            <a:ext cx="4698695" cy="299720"/>
          </a:xfrm>
          <a:prstGeom prst="rect">
            <a:avLst/>
          </a:prstGeom>
          <a:noFill/>
          <a:ln/>
        </p:spPr>
        <p:txBody>
          <a:bodyPr wrap="square" lIns="0" tIns="0" rIns="0" bIns="0" rtlCol="0" anchor="t">
            <a:normAutofit/>
          </a:bodyPr>
          <a:lstStyle/>
          <a:p>
            <a:pPr marL="0" indent="0" algn="l">
              <a:lnSpc>
                <a:spcPts val="2160"/>
              </a:lnSpc>
              <a:buNone/>
            </a:pPr>
            <a:r>
              <a:rPr lang="en-US" sz="1800" b="1" dirty="0">
                <a:solidFill>
                  <a:srgbClr val="12233F"/>
                </a:solidFill>
                <a:latin typeface="DM Sans" pitchFamily="34" charset="0"/>
                <a:ea typeface="DM Sans" pitchFamily="34" charset="-122"/>
                <a:cs typeface="DM Sans" pitchFamily="34" charset="-120"/>
              </a:rPr>
              <a:t>Por tipo</a:t>
            </a:r>
            <a:endParaRPr lang="en-US" sz="1800" dirty="0"/>
          </a:p>
        </p:txBody>
      </p:sp>
      <p:sp>
        <p:nvSpPr>
          <p:cNvPr id="16" name="Text 14"/>
          <p:cNvSpPr/>
          <p:nvPr/>
        </p:nvSpPr>
        <p:spPr>
          <a:xfrm>
            <a:off x="6558280" y="2280921"/>
            <a:ext cx="4698695" cy="772160"/>
          </a:xfrm>
          <a:prstGeom prst="rect">
            <a:avLst/>
          </a:prstGeom>
          <a:noFill/>
          <a:ln/>
        </p:spPr>
        <p:txBody>
          <a:bodyPr wrap="square" lIns="0" tIns="0" rIns="0" bIns="0" rtlCol="0" anchor="t">
            <a:normAutofit/>
          </a:bodyPr>
          <a:lstStyle/>
          <a:p>
            <a:pPr marL="0" indent="0" algn="l">
              <a:lnSpc>
                <a:spcPts val="1960"/>
              </a:lnSpc>
              <a:buNone/>
            </a:pPr>
            <a:r>
              <a:rPr lang="en-US" sz="1400" b="1" dirty="0">
                <a:solidFill>
                  <a:srgbClr val="4A5568"/>
                </a:solidFill>
                <a:latin typeface="DM Sans" pitchFamily="34" charset="0"/>
                <a:ea typeface="DM Sans" pitchFamily="34" charset="-122"/>
                <a:cs typeface="DM Sans" pitchFamily="34" charset="-120"/>
              </a:rPr>
              <a:t>6 de interfaz e idioma:</a:t>
            </a:r>
            <a:r>
              <a:rPr lang="en-US" sz="1400" dirty="0">
                <a:solidFill>
                  <a:srgbClr val="4A5568"/>
                </a:solidFill>
                <a:latin typeface="DM Sans" pitchFamily="34" charset="0"/>
                <a:ea typeface="DM Sans" pitchFamily="34" charset="-122"/>
                <a:cs typeface="DM Sans" pitchFamily="34" charset="-120"/>
              </a:rPr>
              <a:t> textos en inglés, etiquetas mal traducidas, opción de menú repetida (BUG-01, 02, 03, 04, 07 y 09).</a:t>
            </a:r>
            <a:endParaRPr lang="en-US" sz="1400" dirty="0"/>
          </a:p>
        </p:txBody>
      </p:sp>
      <p:sp>
        <p:nvSpPr>
          <p:cNvPr id="17" name="Text 15"/>
          <p:cNvSpPr/>
          <p:nvPr/>
        </p:nvSpPr>
        <p:spPr>
          <a:xfrm>
            <a:off x="6558280" y="3154682"/>
            <a:ext cx="4698695" cy="523240"/>
          </a:xfrm>
          <a:prstGeom prst="rect">
            <a:avLst/>
          </a:prstGeom>
          <a:noFill/>
          <a:ln/>
        </p:spPr>
        <p:txBody>
          <a:bodyPr wrap="square" lIns="0" tIns="0" rIns="0" bIns="0" rtlCol="0" anchor="t">
            <a:normAutofit/>
          </a:bodyPr>
          <a:lstStyle/>
          <a:p>
            <a:pPr marL="0" indent="0" algn="l">
              <a:lnSpc>
                <a:spcPts val="1960"/>
              </a:lnSpc>
              <a:buNone/>
            </a:pPr>
            <a:r>
              <a:rPr lang="en-US" sz="1400" b="1" dirty="0">
                <a:solidFill>
                  <a:srgbClr val="4A5568"/>
                </a:solidFill>
                <a:latin typeface="DM Sans" pitchFamily="34" charset="0"/>
                <a:ea typeface="DM Sans" pitchFamily="34" charset="-122"/>
                <a:cs typeface="DM Sans" pitchFamily="34" charset="-120"/>
              </a:rPr>
              <a:t>2 funcionales:</a:t>
            </a:r>
            <a:r>
              <a:rPr lang="en-US" sz="1400" dirty="0">
                <a:solidFill>
                  <a:srgbClr val="4A5568"/>
                </a:solidFill>
                <a:latin typeface="DM Sans" pitchFamily="34" charset="0"/>
                <a:ea typeface="DM Sans" pitchFamily="34" charset="-122"/>
                <a:cs typeface="DM Sans" pitchFamily="34" charset="-120"/>
              </a:rPr>
              <a:t> BUG-05 y BUG-10, ambos con prioridad alta.</a:t>
            </a:r>
            <a:endParaRPr lang="en-US" sz="1400" dirty="0"/>
          </a:p>
        </p:txBody>
      </p:sp>
      <p:sp>
        <p:nvSpPr>
          <p:cNvPr id="18" name="Text 16"/>
          <p:cNvSpPr/>
          <p:nvPr/>
        </p:nvSpPr>
        <p:spPr>
          <a:xfrm>
            <a:off x="6558280" y="3779521"/>
            <a:ext cx="4698695" cy="523240"/>
          </a:xfrm>
          <a:prstGeom prst="rect">
            <a:avLst/>
          </a:prstGeom>
          <a:noFill/>
          <a:ln/>
        </p:spPr>
        <p:txBody>
          <a:bodyPr wrap="square" lIns="0" tIns="0" rIns="0" bIns="0" rtlCol="0" anchor="t">
            <a:normAutofit/>
          </a:bodyPr>
          <a:lstStyle/>
          <a:p>
            <a:pPr marL="0" indent="0" algn="l">
              <a:lnSpc>
                <a:spcPts val="1960"/>
              </a:lnSpc>
              <a:buNone/>
            </a:pPr>
            <a:r>
              <a:rPr lang="en-US" sz="1400" b="1" dirty="0">
                <a:solidFill>
                  <a:srgbClr val="4A5568"/>
                </a:solidFill>
                <a:latin typeface="DM Sans" pitchFamily="34" charset="0"/>
                <a:ea typeface="DM Sans" pitchFamily="34" charset="-122"/>
                <a:cs typeface="DM Sans" pitchFamily="34" charset="-120"/>
              </a:rPr>
              <a:t>2 de validación y usabilidad:</a:t>
            </a:r>
            <a:r>
              <a:rPr lang="en-US" sz="1400" dirty="0">
                <a:solidFill>
                  <a:srgbClr val="4A5568"/>
                </a:solidFill>
                <a:latin typeface="DM Sans" pitchFamily="34" charset="0"/>
                <a:ea typeface="DM Sans" pitchFamily="34" charset="-122"/>
                <a:cs typeface="DM Sans" pitchFamily="34" charset="-120"/>
              </a:rPr>
              <a:t> mensajes inexactos o genéricos (BUG-06 y BUG-08).</a:t>
            </a:r>
            <a:endParaRPr lang="en-US" sz="1400" dirty="0"/>
          </a:p>
        </p:txBody>
      </p:sp>
      <p:sp>
        <p:nvSpPr>
          <p:cNvPr id="19" name="Text 17"/>
          <p:cNvSpPr/>
          <p:nvPr/>
        </p:nvSpPr>
        <p:spPr>
          <a:xfrm>
            <a:off x="812800" y="6238239"/>
            <a:ext cx="7848600" cy="23876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5B6472"/>
                </a:solidFill>
                <a:latin typeface="DM Sans" pitchFamily="34" charset="0"/>
                <a:ea typeface="DM Sans" pitchFamily="34" charset="-122"/>
                <a:cs typeface="DM Sans" pitchFamily="34" charset="-120"/>
              </a:rPr>
              <a:t>Fuente: informe final, secciones 6.2 y 6.3</a:t>
            </a:r>
            <a:endParaRPr lang="en-US" sz="1200" dirty="0"/>
          </a:p>
        </p:txBody>
      </p:sp>
      <p:sp>
        <p:nvSpPr>
          <p:cNvPr id="20" name="Text 18"/>
          <p:cNvSpPr/>
          <p:nvPr/>
        </p:nvSpPr>
        <p:spPr>
          <a:xfrm>
            <a:off x="10058400" y="6238239"/>
            <a:ext cx="1320800" cy="238760"/>
          </a:xfrm>
          <a:prstGeom prst="rect">
            <a:avLst/>
          </a:prstGeom>
          <a:noFill/>
          <a:ln/>
        </p:spPr>
        <p:txBody>
          <a:bodyPr wrap="square" lIns="0" tIns="0" rIns="0" bIns="0" rtlCol="0" anchor="t">
            <a:normAutofit/>
          </a:bodyPr>
          <a:lstStyle/>
          <a:p>
            <a:pPr marL="0" indent="0" algn="r">
              <a:lnSpc>
                <a:spcPts val="1680"/>
              </a:lnSpc>
              <a:buNone/>
            </a:pPr>
            <a:r>
              <a:rPr lang="en-US" sz="1200" dirty="0">
                <a:solidFill>
                  <a:srgbClr val="5B6472"/>
                </a:solidFill>
                <a:latin typeface="DM Sans" pitchFamily="34" charset="0"/>
                <a:ea typeface="DM Sans" pitchFamily="34" charset="-122"/>
                <a:cs typeface="DM Sans" pitchFamily="34" charset="-120"/>
              </a:rPr>
              <a:t>7</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3EC"/>
        </a:solidFill>
        <a:effectLst/>
      </p:bgPr>
    </p:bg>
    <p:spTree>
      <p:nvGrpSpPr>
        <p:cNvPr id="1" name=""/>
        <p:cNvGrpSpPr/>
        <p:nvPr/>
      </p:nvGrpSpPr>
      <p:grpSpPr>
        <a:xfrm>
          <a:off x="0" y="0"/>
          <a:ext cx="0" cy="0"/>
          <a:chOff x="0" y="0"/>
          <a:chExt cx="0" cy="0"/>
        </a:xfrm>
      </p:grpSpPr>
      <p:sp>
        <p:nvSpPr>
          <p:cNvPr id="2" name="Text 0"/>
          <p:cNvSpPr>
            <a:spLocks noGrp="1"/>
          </p:cNvSpPr>
          <p:nvPr>
            <p:ph type="title"/>
          </p:nvPr>
        </p:nvSpPr>
        <p:spPr>
          <a:xfrm>
            <a:off x="812800" y="812800"/>
            <a:ext cx="10883392" cy="528320"/>
          </a:xfrm>
          <a:prstGeom prst="rect">
            <a:avLst/>
          </a:prstGeom>
          <a:noFill/>
          <a:ln/>
        </p:spPr>
        <p:txBody>
          <a:bodyPr wrap="square" lIns="0" tIns="0" rIns="0" bIns="0" rtlCol="0" anchor="t">
            <a:normAutofit/>
          </a:bodyPr>
          <a:lstStyle/>
          <a:p>
            <a:pPr marL="0" indent="0" algn="l">
              <a:lnSpc>
                <a:spcPts val="3960"/>
              </a:lnSpc>
              <a:buNone/>
            </a:pPr>
            <a:r>
              <a:rPr lang="en-US" sz="3600" b="1" i="0" dirty="0">
                <a:solidFill>
                  <a:srgbClr val="12233F"/>
                </a:solidFill>
                <a:latin typeface="DM Sans" pitchFamily="34" charset="0"/>
                <a:ea typeface="DM Sans" pitchFamily="34" charset="-122"/>
                <a:cs typeface="DM Sans" pitchFamily="34" charset="-120"/>
              </a:rPr>
              <a:t>Automatización con Cypress</a:t>
            </a:r>
            <a:endParaRPr lang="en-US" sz="3600" dirty="0"/>
          </a:p>
        </p:txBody>
      </p:sp>
      <p:sp>
        <p:nvSpPr>
          <p:cNvPr id="3" name="Shape 1"/>
          <p:cNvSpPr/>
          <p:nvPr/>
        </p:nvSpPr>
        <p:spPr>
          <a:xfrm>
            <a:off x="815975" y="1572896"/>
            <a:ext cx="3380264" cy="1456690"/>
          </a:xfrm>
          <a:prstGeom prst="roundRect">
            <a:avLst>
              <a:gd name="adj" fmla="val 6757"/>
            </a:avLst>
          </a:prstGeom>
          <a:solidFill>
            <a:srgbClr val="FCFBF7"/>
          </a:solidFill>
          <a:ln w="6350">
            <a:solidFill>
              <a:srgbClr val="DAD6C8"/>
            </a:solidFill>
            <a:prstDash val="solid"/>
          </a:ln>
        </p:spPr>
        <p:txBody>
          <a:bodyPr/>
          <a:lstStyle/>
          <a:p>
            <a:endParaRPr lang="es-GT"/>
          </a:p>
        </p:txBody>
      </p:sp>
      <p:sp>
        <p:nvSpPr>
          <p:cNvPr id="4" name="Text 2"/>
          <p:cNvSpPr/>
          <p:nvPr/>
        </p:nvSpPr>
        <p:spPr>
          <a:xfrm>
            <a:off x="1046480" y="1778000"/>
            <a:ext cx="3006831" cy="772160"/>
          </a:xfrm>
          <a:prstGeom prst="rect">
            <a:avLst/>
          </a:prstGeom>
          <a:noFill/>
          <a:ln/>
        </p:spPr>
        <p:txBody>
          <a:bodyPr wrap="square" lIns="0" tIns="0" rIns="0" bIns="0" rtlCol="0" anchor="t">
            <a:normAutofit/>
          </a:bodyPr>
          <a:lstStyle/>
          <a:p>
            <a:pPr marL="0" indent="0" algn="l">
              <a:lnSpc>
                <a:spcPts val="5880"/>
              </a:lnSpc>
              <a:buNone/>
            </a:pPr>
            <a:r>
              <a:rPr lang="en-US" sz="5600" b="1" dirty="0">
                <a:solidFill>
                  <a:srgbClr val="12233F"/>
                </a:solidFill>
                <a:latin typeface="DM Sans" pitchFamily="34" charset="0"/>
                <a:ea typeface="DM Sans" pitchFamily="34" charset="-122"/>
                <a:cs typeface="DM Sans" pitchFamily="34" charset="-120"/>
              </a:rPr>
              <a:t>13</a:t>
            </a:r>
            <a:endParaRPr lang="en-US" sz="5600" dirty="0"/>
          </a:p>
        </p:txBody>
      </p:sp>
      <p:sp>
        <p:nvSpPr>
          <p:cNvPr id="5" name="Text 3"/>
          <p:cNvSpPr/>
          <p:nvPr/>
        </p:nvSpPr>
        <p:spPr>
          <a:xfrm>
            <a:off x="1046480" y="2575561"/>
            <a:ext cx="3006831" cy="274320"/>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4A5568"/>
                </a:solidFill>
                <a:latin typeface="DM Sans" pitchFamily="34" charset="0"/>
                <a:ea typeface="DM Sans" pitchFamily="34" charset="-122"/>
                <a:cs typeface="DM Sans" pitchFamily="34" charset="-120"/>
              </a:rPr>
              <a:t>de 16 casos con script (81%)</a:t>
            </a:r>
            <a:endParaRPr lang="en-US" sz="1400" dirty="0"/>
          </a:p>
        </p:txBody>
      </p:sp>
      <p:sp>
        <p:nvSpPr>
          <p:cNvPr id="6" name="Shape 4"/>
          <p:cNvSpPr/>
          <p:nvPr/>
        </p:nvSpPr>
        <p:spPr>
          <a:xfrm>
            <a:off x="4405789" y="1572896"/>
            <a:ext cx="3380343" cy="1456690"/>
          </a:xfrm>
          <a:prstGeom prst="roundRect">
            <a:avLst>
              <a:gd name="adj" fmla="val 6757"/>
            </a:avLst>
          </a:prstGeom>
          <a:solidFill>
            <a:srgbClr val="FCFBF7"/>
          </a:solidFill>
          <a:ln w="6350">
            <a:solidFill>
              <a:srgbClr val="DAD6C8"/>
            </a:solidFill>
            <a:prstDash val="solid"/>
          </a:ln>
        </p:spPr>
        <p:txBody>
          <a:bodyPr/>
          <a:lstStyle/>
          <a:p>
            <a:endParaRPr lang="es-GT"/>
          </a:p>
        </p:txBody>
      </p:sp>
      <p:sp>
        <p:nvSpPr>
          <p:cNvPr id="7" name="Text 5"/>
          <p:cNvSpPr/>
          <p:nvPr/>
        </p:nvSpPr>
        <p:spPr>
          <a:xfrm>
            <a:off x="4636294" y="1778000"/>
            <a:ext cx="3006913" cy="772160"/>
          </a:xfrm>
          <a:prstGeom prst="rect">
            <a:avLst/>
          </a:prstGeom>
          <a:noFill/>
          <a:ln/>
        </p:spPr>
        <p:txBody>
          <a:bodyPr wrap="square" lIns="0" tIns="0" rIns="0" bIns="0" rtlCol="0" anchor="t">
            <a:normAutofit/>
          </a:bodyPr>
          <a:lstStyle/>
          <a:p>
            <a:pPr marL="0" indent="0" algn="l">
              <a:lnSpc>
                <a:spcPts val="5880"/>
              </a:lnSpc>
              <a:buNone/>
            </a:pPr>
            <a:r>
              <a:rPr lang="en-US" sz="5600" b="1" dirty="0">
                <a:solidFill>
                  <a:srgbClr val="2F5D8C"/>
                </a:solidFill>
                <a:latin typeface="DM Sans" pitchFamily="34" charset="0"/>
                <a:ea typeface="DM Sans" pitchFamily="34" charset="-122"/>
                <a:cs typeface="DM Sans" pitchFamily="34" charset="-120"/>
              </a:rPr>
              <a:t>13</a:t>
            </a:r>
            <a:endParaRPr lang="en-US" sz="5600" dirty="0"/>
          </a:p>
        </p:txBody>
      </p:sp>
      <p:sp>
        <p:nvSpPr>
          <p:cNvPr id="8" name="Text 6"/>
          <p:cNvSpPr/>
          <p:nvPr/>
        </p:nvSpPr>
        <p:spPr>
          <a:xfrm>
            <a:off x="4636294" y="2575561"/>
            <a:ext cx="3006913" cy="274320"/>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4A5568"/>
                </a:solidFill>
                <a:latin typeface="DM Sans" pitchFamily="34" charset="0"/>
                <a:ea typeface="DM Sans" pitchFamily="34" charset="-122"/>
                <a:cs typeface="DM Sans" pitchFamily="34" charset="-120"/>
              </a:rPr>
              <a:t>de 13 tests en verde (100%)</a:t>
            </a:r>
            <a:endParaRPr lang="en-US" sz="1400" dirty="0"/>
          </a:p>
        </p:txBody>
      </p:sp>
      <p:sp>
        <p:nvSpPr>
          <p:cNvPr id="9" name="Shape 7"/>
          <p:cNvSpPr/>
          <p:nvPr/>
        </p:nvSpPr>
        <p:spPr>
          <a:xfrm>
            <a:off x="7995682" y="1572896"/>
            <a:ext cx="3380343" cy="1456690"/>
          </a:xfrm>
          <a:prstGeom prst="roundRect">
            <a:avLst>
              <a:gd name="adj" fmla="val 6757"/>
            </a:avLst>
          </a:prstGeom>
          <a:solidFill>
            <a:srgbClr val="FCFBF7"/>
          </a:solidFill>
          <a:ln w="6350">
            <a:solidFill>
              <a:srgbClr val="DAD6C8"/>
            </a:solidFill>
            <a:prstDash val="solid"/>
          </a:ln>
        </p:spPr>
        <p:txBody>
          <a:bodyPr/>
          <a:lstStyle/>
          <a:p>
            <a:endParaRPr lang="es-GT"/>
          </a:p>
        </p:txBody>
      </p:sp>
      <p:sp>
        <p:nvSpPr>
          <p:cNvPr id="10" name="Text 8"/>
          <p:cNvSpPr/>
          <p:nvPr/>
        </p:nvSpPr>
        <p:spPr>
          <a:xfrm>
            <a:off x="8226187" y="1778000"/>
            <a:ext cx="3006913" cy="772160"/>
          </a:xfrm>
          <a:prstGeom prst="rect">
            <a:avLst/>
          </a:prstGeom>
          <a:noFill/>
          <a:ln/>
        </p:spPr>
        <p:txBody>
          <a:bodyPr wrap="square" lIns="0" tIns="0" rIns="0" bIns="0" rtlCol="0" anchor="t">
            <a:normAutofit/>
          </a:bodyPr>
          <a:lstStyle/>
          <a:p>
            <a:pPr marL="0" indent="0" algn="l">
              <a:lnSpc>
                <a:spcPts val="5880"/>
              </a:lnSpc>
              <a:buNone/>
            </a:pPr>
            <a:r>
              <a:rPr lang="en-US" sz="5600" b="1" dirty="0">
                <a:solidFill>
                  <a:srgbClr val="12233F"/>
                </a:solidFill>
                <a:latin typeface="DM Sans" pitchFamily="34" charset="0"/>
                <a:ea typeface="DM Sans" pitchFamily="34" charset="-122"/>
                <a:cs typeface="DM Sans" pitchFamily="34" charset="-120"/>
              </a:rPr>
              <a:t>21 s</a:t>
            </a:r>
            <a:endParaRPr lang="en-US" sz="5600" dirty="0"/>
          </a:p>
        </p:txBody>
      </p:sp>
      <p:sp>
        <p:nvSpPr>
          <p:cNvPr id="11" name="Text 9"/>
          <p:cNvSpPr/>
          <p:nvPr/>
        </p:nvSpPr>
        <p:spPr>
          <a:xfrm>
            <a:off x="8226187" y="2575561"/>
            <a:ext cx="3006913" cy="274320"/>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4A5568"/>
                </a:solidFill>
                <a:latin typeface="DM Sans" pitchFamily="34" charset="0"/>
                <a:ea typeface="DM Sans" pitchFamily="34" charset="-122"/>
                <a:cs typeface="DM Sans" pitchFamily="34" charset="-120"/>
              </a:rPr>
              <a:t>de duración total, en 3 specs</a:t>
            </a:r>
            <a:endParaRPr lang="en-US" sz="1400" dirty="0"/>
          </a:p>
        </p:txBody>
      </p:sp>
      <p:sp>
        <p:nvSpPr>
          <p:cNvPr id="12" name="Shape 10"/>
          <p:cNvSpPr/>
          <p:nvPr/>
        </p:nvSpPr>
        <p:spPr>
          <a:xfrm>
            <a:off x="825500" y="3299461"/>
            <a:ext cx="10541000" cy="1579880"/>
          </a:xfrm>
          <a:prstGeom prst="roundRect">
            <a:avLst>
              <a:gd name="adj" fmla="val 5627"/>
            </a:avLst>
          </a:prstGeom>
          <a:solidFill>
            <a:srgbClr val="FCFBF7"/>
          </a:solidFill>
          <a:ln w="25400">
            <a:solidFill>
              <a:srgbClr val="D9822B"/>
            </a:solidFill>
            <a:prstDash val="solid"/>
          </a:ln>
        </p:spPr>
        <p:txBody>
          <a:bodyPr/>
          <a:lstStyle/>
          <a:p>
            <a:endParaRPr lang="es-GT"/>
          </a:p>
        </p:txBody>
      </p:sp>
      <p:sp>
        <p:nvSpPr>
          <p:cNvPr id="13" name="Text 11"/>
          <p:cNvSpPr/>
          <p:nvPr/>
        </p:nvSpPr>
        <p:spPr>
          <a:xfrm>
            <a:off x="1092200" y="3540761"/>
            <a:ext cx="10307828" cy="299720"/>
          </a:xfrm>
          <a:prstGeom prst="rect">
            <a:avLst/>
          </a:prstGeom>
          <a:noFill/>
          <a:ln/>
        </p:spPr>
        <p:txBody>
          <a:bodyPr wrap="square" lIns="0" tIns="0" rIns="0" bIns="0" rtlCol="0" anchor="t">
            <a:normAutofit/>
          </a:bodyPr>
          <a:lstStyle/>
          <a:p>
            <a:pPr marL="0" indent="0" algn="l">
              <a:lnSpc>
                <a:spcPts val="2160"/>
              </a:lnSpc>
              <a:buNone/>
            </a:pPr>
            <a:r>
              <a:rPr lang="en-US" sz="1800" b="1" dirty="0">
                <a:solidFill>
                  <a:srgbClr val="12233F"/>
                </a:solidFill>
                <a:latin typeface="DM Sans" pitchFamily="34" charset="0"/>
                <a:ea typeface="DM Sans" pitchFamily="34" charset="-122"/>
                <a:cs typeface="DM Sans" pitchFamily="34" charset="-120"/>
              </a:rPr>
              <a:t>Un resultado verde no equivale a calidad plena</a:t>
            </a:r>
            <a:endParaRPr lang="en-US" sz="1800" dirty="0"/>
          </a:p>
        </p:txBody>
      </p:sp>
      <p:sp>
        <p:nvSpPr>
          <p:cNvPr id="14" name="Text 12"/>
          <p:cNvSpPr/>
          <p:nvPr/>
        </p:nvSpPr>
        <p:spPr>
          <a:xfrm>
            <a:off x="1092200" y="3891282"/>
            <a:ext cx="10307828" cy="772160"/>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4A5568"/>
                </a:solidFill>
                <a:latin typeface="DM Sans" pitchFamily="34" charset="0"/>
                <a:ea typeface="DM Sans" pitchFamily="34" charset="-122"/>
                <a:cs typeface="DM Sans" pitchFamily="34" charset="-120"/>
              </a:rPr>
              <a:t>TC-13 pasó en Cypress, pero falló manualmente porque el sistema acepta cantidad 0. TC-05 y TC-09 solo verifican que el formulario cargue, y el TC-12 automatizado prueba una orden sin artículos, no sin cliente. TC-14, TC-15 y TC-16 siguen manuales.</a:t>
            </a:r>
            <a:endParaRPr lang="en-US" sz="1400" dirty="0"/>
          </a:p>
        </p:txBody>
      </p:sp>
      <p:sp>
        <p:nvSpPr>
          <p:cNvPr id="15" name="Text 13"/>
          <p:cNvSpPr/>
          <p:nvPr/>
        </p:nvSpPr>
        <p:spPr>
          <a:xfrm>
            <a:off x="812800" y="6238242"/>
            <a:ext cx="7848600" cy="23876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5B6472"/>
                </a:solidFill>
                <a:latin typeface="DM Sans" pitchFamily="34" charset="0"/>
                <a:ea typeface="DM Sans" pitchFamily="34" charset="-122"/>
                <a:cs typeface="DM Sans" pitchFamily="34" charset="-120"/>
              </a:rPr>
              <a:t>Fuente: informe final, sección 7</a:t>
            </a:r>
            <a:endParaRPr lang="en-US" sz="1200" dirty="0"/>
          </a:p>
        </p:txBody>
      </p:sp>
      <p:sp>
        <p:nvSpPr>
          <p:cNvPr id="16" name="Text 14"/>
          <p:cNvSpPr/>
          <p:nvPr/>
        </p:nvSpPr>
        <p:spPr>
          <a:xfrm>
            <a:off x="10058400" y="6238242"/>
            <a:ext cx="1320800" cy="238760"/>
          </a:xfrm>
          <a:prstGeom prst="rect">
            <a:avLst/>
          </a:prstGeom>
          <a:noFill/>
          <a:ln/>
        </p:spPr>
        <p:txBody>
          <a:bodyPr wrap="square" lIns="0" tIns="0" rIns="0" bIns="0" rtlCol="0" anchor="t">
            <a:normAutofit/>
          </a:bodyPr>
          <a:lstStyle/>
          <a:p>
            <a:pPr marL="0" indent="0" algn="r">
              <a:lnSpc>
                <a:spcPts val="1680"/>
              </a:lnSpc>
              <a:buNone/>
            </a:pPr>
            <a:r>
              <a:rPr lang="en-US" sz="1200" dirty="0">
                <a:solidFill>
                  <a:srgbClr val="5B6472"/>
                </a:solidFill>
                <a:latin typeface="DM Sans" pitchFamily="34" charset="0"/>
                <a:ea typeface="DM Sans" pitchFamily="34" charset="-122"/>
                <a:cs typeface="DM Sans" pitchFamily="34" charset="-120"/>
              </a:rPr>
              <a:t>8</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3EC"/>
        </a:solidFill>
        <a:effectLst/>
      </p:bgPr>
    </p:bg>
    <p:spTree>
      <p:nvGrpSpPr>
        <p:cNvPr id="1" name=""/>
        <p:cNvGrpSpPr/>
        <p:nvPr/>
      </p:nvGrpSpPr>
      <p:grpSpPr>
        <a:xfrm>
          <a:off x="0" y="0"/>
          <a:ext cx="0" cy="0"/>
          <a:chOff x="0" y="0"/>
          <a:chExt cx="0" cy="0"/>
        </a:xfrm>
      </p:grpSpPr>
      <p:sp>
        <p:nvSpPr>
          <p:cNvPr id="2" name="Text 0"/>
          <p:cNvSpPr>
            <a:spLocks noGrp="1"/>
          </p:cNvSpPr>
          <p:nvPr>
            <p:ph type="title"/>
          </p:nvPr>
        </p:nvSpPr>
        <p:spPr>
          <a:xfrm>
            <a:off x="812800" y="812800"/>
            <a:ext cx="10883392" cy="528320"/>
          </a:xfrm>
          <a:prstGeom prst="rect">
            <a:avLst/>
          </a:prstGeom>
          <a:noFill/>
          <a:ln/>
        </p:spPr>
        <p:txBody>
          <a:bodyPr wrap="square" lIns="0" tIns="0" rIns="0" bIns="0" rtlCol="0" anchor="t">
            <a:normAutofit/>
          </a:bodyPr>
          <a:lstStyle/>
          <a:p>
            <a:pPr marL="0" indent="0" algn="l">
              <a:lnSpc>
                <a:spcPts val="3960"/>
              </a:lnSpc>
              <a:buNone/>
            </a:pPr>
            <a:r>
              <a:rPr lang="en-US" sz="3600" b="1" i="0" dirty="0">
                <a:solidFill>
                  <a:srgbClr val="12233F"/>
                </a:solidFill>
                <a:latin typeface="DM Sans" pitchFamily="34" charset="0"/>
                <a:ea typeface="DM Sans" pitchFamily="34" charset="-122"/>
                <a:cs typeface="DM Sans" pitchFamily="34" charset="-120"/>
              </a:rPr>
              <a:t>Conclusiones</a:t>
            </a:r>
            <a:endParaRPr lang="en-US" sz="3600" dirty="0"/>
          </a:p>
        </p:txBody>
      </p:sp>
      <p:sp>
        <p:nvSpPr>
          <p:cNvPr id="3" name="Shape 1"/>
          <p:cNvSpPr/>
          <p:nvPr/>
        </p:nvSpPr>
        <p:spPr>
          <a:xfrm>
            <a:off x="815975" y="1572896"/>
            <a:ext cx="10560050" cy="1050290"/>
          </a:xfrm>
          <a:prstGeom prst="roundRect">
            <a:avLst>
              <a:gd name="adj" fmla="val 9371"/>
            </a:avLst>
          </a:prstGeom>
          <a:solidFill>
            <a:srgbClr val="FCFBF7"/>
          </a:solidFill>
          <a:ln w="6350">
            <a:solidFill>
              <a:srgbClr val="DAD6C8"/>
            </a:solidFill>
            <a:prstDash val="solid"/>
          </a:ln>
        </p:spPr>
        <p:txBody>
          <a:bodyPr/>
          <a:lstStyle/>
          <a:p>
            <a:endParaRPr lang="es-GT"/>
          </a:p>
        </p:txBody>
      </p:sp>
      <p:sp>
        <p:nvSpPr>
          <p:cNvPr id="4" name="Text 2"/>
          <p:cNvSpPr/>
          <p:nvPr/>
        </p:nvSpPr>
        <p:spPr>
          <a:xfrm>
            <a:off x="1071880" y="1778000"/>
            <a:ext cx="685800" cy="665480"/>
          </a:xfrm>
          <a:prstGeom prst="rect">
            <a:avLst/>
          </a:prstGeom>
          <a:noFill/>
          <a:ln/>
        </p:spPr>
        <p:txBody>
          <a:bodyPr wrap="square" lIns="0" tIns="0" rIns="0" bIns="0" rtlCol="0" anchor="t">
            <a:normAutofit/>
          </a:bodyPr>
          <a:lstStyle/>
          <a:p>
            <a:pPr marL="0" indent="0" algn="l">
              <a:lnSpc>
                <a:spcPts val="5040"/>
              </a:lnSpc>
              <a:buNone/>
            </a:pPr>
            <a:r>
              <a:rPr lang="en-US" sz="3600" b="1" dirty="0">
                <a:solidFill>
                  <a:srgbClr val="D9822B"/>
                </a:solidFill>
                <a:latin typeface="DM Sans" pitchFamily="34" charset="0"/>
                <a:ea typeface="DM Sans" pitchFamily="34" charset="-122"/>
                <a:cs typeface="DM Sans" pitchFamily="34" charset="-120"/>
              </a:rPr>
              <a:t>1</a:t>
            </a:r>
            <a:endParaRPr lang="en-US" sz="3600" dirty="0"/>
          </a:p>
        </p:txBody>
      </p:sp>
      <p:sp>
        <p:nvSpPr>
          <p:cNvPr id="5" name="Text 3"/>
          <p:cNvSpPr/>
          <p:nvPr/>
        </p:nvSpPr>
        <p:spPr>
          <a:xfrm>
            <a:off x="1960880" y="1823721"/>
            <a:ext cx="9434017" cy="574040"/>
          </a:xfrm>
          <a:prstGeom prst="rect">
            <a:avLst/>
          </a:prstGeom>
          <a:noFill/>
          <a:ln/>
        </p:spPr>
        <p:txBody>
          <a:bodyPr wrap="square" lIns="0" tIns="0" rIns="0" bIns="0" rtlCol="0" anchor="t">
            <a:normAutofit/>
          </a:bodyPr>
          <a:lstStyle/>
          <a:p>
            <a:pPr marL="0" indent="0" algn="l">
              <a:lnSpc>
                <a:spcPts val="2160"/>
              </a:lnSpc>
              <a:buNone/>
            </a:pPr>
            <a:r>
              <a:rPr lang="en-US" sz="1600" dirty="0">
                <a:solidFill>
                  <a:srgbClr val="12233F"/>
                </a:solidFill>
                <a:latin typeface="DM Sans" pitchFamily="34" charset="0"/>
                <a:ea typeface="DM Sans" pitchFamily="34" charset="-122"/>
                <a:cs typeface="DM Sans" pitchFamily="34" charset="-120"/>
              </a:rPr>
              <a:t>Se cumplen los criterios de ejecución y aprobación: 16 de 16 casos ejecutados y 81.3% aprobados.</a:t>
            </a:r>
            <a:endParaRPr lang="en-US" sz="1600" dirty="0"/>
          </a:p>
        </p:txBody>
      </p:sp>
      <p:sp>
        <p:nvSpPr>
          <p:cNvPr id="6" name="Shape 4"/>
          <p:cNvSpPr/>
          <p:nvPr/>
        </p:nvSpPr>
        <p:spPr>
          <a:xfrm>
            <a:off x="815975" y="2883539"/>
            <a:ext cx="10560050" cy="1050290"/>
          </a:xfrm>
          <a:prstGeom prst="roundRect">
            <a:avLst>
              <a:gd name="adj" fmla="val 9371"/>
            </a:avLst>
          </a:prstGeom>
          <a:solidFill>
            <a:srgbClr val="FCFBF7"/>
          </a:solidFill>
          <a:ln w="6350">
            <a:solidFill>
              <a:srgbClr val="DAD6C8"/>
            </a:solidFill>
            <a:prstDash val="solid"/>
          </a:ln>
        </p:spPr>
        <p:txBody>
          <a:bodyPr/>
          <a:lstStyle/>
          <a:p>
            <a:endParaRPr lang="es-GT"/>
          </a:p>
        </p:txBody>
      </p:sp>
      <p:sp>
        <p:nvSpPr>
          <p:cNvPr id="7" name="Text 5"/>
          <p:cNvSpPr/>
          <p:nvPr/>
        </p:nvSpPr>
        <p:spPr>
          <a:xfrm>
            <a:off x="1071880" y="3088642"/>
            <a:ext cx="685800" cy="665480"/>
          </a:xfrm>
          <a:prstGeom prst="rect">
            <a:avLst/>
          </a:prstGeom>
          <a:noFill/>
          <a:ln/>
        </p:spPr>
        <p:txBody>
          <a:bodyPr wrap="square" lIns="0" tIns="0" rIns="0" bIns="0" rtlCol="0" anchor="t">
            <a:normAutofit/>
          </a:bodyPr>
          <a:lstStyle/>
          <a:p>
            <a:pPr marL="0" indent="0" algn="l">
              <a:lnSpc>
                <a:spcPts val="5040"/>
              </a:lnSpc>
              <a:buNone/>
            </a:pPr>
            <a:r>
              <a:rPr lang="en-US" sz="3600" b="1" dirty="0">
                <a:solidFill>
                  <a:srgbClr val="D9822B"/>
                </a:solidFill>
                <a:latin typeface="DM Sans" pitchFamily="34" charset="0"/>
                <a:ea typeface="DM Sans" pitchFamily="34" charset="-122"/>
                <a:cs typeface="DM Sans" pitchFamily="34" charset="-120"/>
              </a:rPr>
              <a:t>2</a:t>
            </a:r>
            <a:endParaRPr lang="en-US" sz="3600" dirty="0"/>
          </a:p>
        </p:txBody>
      </p:sp>
      <p:sp>
        <p:nvSpPr>
          <p:cNvPr id="8" name="Text 6"/>
          <p:cNvSpPr/>
          <p:nvPr/>
        </p:nvSpPr>
        <p:spPr>
          <a:xfrm>
            <a:off x="1960880" y="3134364"/>
            <a:ext cx="9434017" cy="574040"/>
          </a:xfrm>
          <a:prstGeom prst="rect">
            <a:avLst/>
          </a:prstGeom>
          <a:noFill/>
          <a:ln/>
        </p:spPr>
        <p:txBody>
          <a:bodyPr wrap="square" lIns="0" tIns="0" rIns="0" bIns="0" rtlCol="0" anchor="t">
            <a:normAutofit/>
          </a:bodyPr>
          <a:lstStyle/>
          <a:p>
            <a:pPr marL="0" indent="0" algn="l">
              <a:lnSpc>
                <a:spcPts val="2160"/>
              </a:lnSpc>
              <a:buNone/>
            </a:pPr>
            <a:r>
              <a:rPr lang="en-US" sz="1600" dirty="0">
                <a:solidFill>
                  <a:srgbClr val="12233F"/>
                </a:solidFill>
                <a:latin typeface="DM Sans" pitchFamily="34" charset="0"/>
                <a:ea typeface="DM Sans" pitchFamily="34" charset="-122"/>
                <a:cs typeface="DM Sans" pitchFamily="34" charset="-120"/>
              </a:rPr>
              <a:t>La estabilidad funcional no cumple la meta: densidad de defectos de 0.63 frente a 0.4. El mayor riesgo está en Ventas (BUG-10 y BUG-05).</a:t>
            </a:r>
            <a:endParaRPr lang="en-US" sz="1600" dirty="0"/>
          </a:p>
        </p:txBody>
      </p:sp>
      <p:sp>
        <p:nvSpPr>
          <p:cNvPr id="9" name="Shape 7"/>
          <p:cNvSpPr/>
          <p:nvPr/>
        </p:nvSpPr>
        <p:spPr>
          <a:xfrm>
            <a:off x="815975" y="4194175"/>
            <a:ext cx="10560050" cy="1050290"/>
          </a:xfrm>
          <a:prstGeom prst="roundRect">
            <a:avLst>
              <a:gd name="adj" fmla="val 9371"/>
            </a:avLst>
          </a:prstGeom>
          <a:solidFill>
            <a:srgbClr val="FCFBF7"/>
          </a:solidFill>
          <a:ln w="6350">
            <a:solidFill>
              <a:srgbClr val="DAD6C8"/>
            </a:solidFill>
            <a:prstDash val="solid"/>
          </a:ln>
        </p:spPr>
        <p:txBody>
          <a:bodyPr/>
          <a:lstStyle/>
          <a:p>
            <a:endParaRPr lang="es-GT"/>
          </a:p>
        </p:txBody>
      </p:sp>
      <p:sp>
        <p:nvSpPr>
          <p:cNvPr id="10" name="Text 8"/>
          <p:cNvSpPr/>
          <p:nvPr/>
        </p:nvSpPr>
        <p:spPr>
          <a:xfrm>
            <a:off x="1071880" y="4399279"/>
            <a:ext cx="685800" cy="665480"/>
          </a:xfrm>
          <a:prstGeom prst="rect">
            <a:avLst/>
          </a:prstGeom>
          <a:noFill/>
          <a:ln/>
        </p:spPr>
        <p:txBody>
          <a:bodyPr wrap="square" lIns="0" tIns="0" rIns="0" bIns="0" rtlCol="0" anchor="t">
            <a:normAutofit/>
          </a:bodyPr>
          <a:lstStyle/>
          <a:p>
            <a:pPr marL="0" indent="0" algn="l">
              <a:lnSpc>
                <a:spcPts val="5040"/>
              </a:lnSpc>
              <a:buNone/>
            </a:pPr>
            <a:r>
              <a:rPr lang="en-US" sz="3600" b="1" dirty="0">
                <a:solidFill>
                  <a:srgbClr val="D9822B"/>
                </a:solidFill>
                <a:latin typeface="DM Sans" pitchFamily="34" charset="0"/>
                <a:ea typeface="DM Sans" pitchFamily="34" charset="-122"/>
                <a:cs typeface="DM Sans" pitchFamily="34" charset="-120"/>
              </a:rPr>
              <a:t>3</a:t>
            </a:r>
            <a:endParaRPr lang="en-US" sz="3600" dirty="0"/>
          </a:p>
        </p:txBody>
      </p:sp>
      <p:sp>
        <p:nvSpPr>
          <p:cNvPr id="11" name="Text 9"/>
          <p:cNvSpPr/>
          <p:nvPr/>
        </p:nvSpPr>
        <p:spPr>
          <a:xfrm>
            <a:off x="1960880" y="4445000"/>
            <a:ext cx="9434017" cy="574040"/>
          </a:xfrm>
          <a:prstGeom prst="rect">
            <a:avLst/>
          </a:prstGeom>
          <a:noFill/>
          <a:ln/>
        </p:spPr>
        <p:txBody>
          <a:bodyPr wrap="square" lIns="0" tIns="0" rIns="0" bIns="0" rtlCol="0" anchor="t">
            <a:normAutofit/>
          </a:bodyPr>
          <a:lstStyle/>
          <a:p>
            <a:pPr marL="0" indent="0" algn="l">
              <a:lnSpc>
                <a:spcPts val="2160"/>
              </a:lnSpc>
              <a:buNone/>
            </a:pPr>
            <a:r>
              <a:rPr lang="en-US" sz="1600" dirty="0">
                <a:solidFill>
                  <a:srgbClr val="12233F"/>
                </a:solidFill>
                <a:latin typeface="DM Sans" pitchFamily="34" charset="0"/>
                <a:ea typeface="DM Sans" pitchFamily="34" charset="-122"/>
                <a:cs typeface="DM Sans" pitchFamily="34" charset="-120"/>
              </a:rPr>
              <a:t>La automatización cubre 81% de los casos, pero necesita aserciones más estrictas para que el verde represente cumplimiento funcional.</a:t>
            </a:r>
            <a:endParaRPr lang="en-US" sz="1600" dirty="0"/>
          </a:p>
        </p:txBody>
      </p:sp>
      <p:sp>
        <p:nvSpPr>
          <p:cNvPr id="12" name="Text 10"/>
          <p:cNvSpPr/>
          <p:nvPr/>
        </p:nvSpPr>
        <p:spPr>
          <a:xfrm>
            <a:off x="812800" y="5501642"/>
            <a:ext cx="10883392" cy="274320"/>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4A5568"/>
                </a:solidFill>
                <a:latin typeface="DM Sans" pitchFamily="34" charset="0"/>
                <a:ea typeface="DM Sans" pitchFamily="34" charset="-122"/>
                <a:cs typeface="DM Sans" pitchFamily="34" charset="-120"/>
              </a:rPr>
              <a:t>Pendiente: completar el cierre de evidencias y comunicar formalmente los defectos prioritarios.</a:t>
            </a:r>
            <a:endParaRPr lang="en-US" sz="1400" dirty="0"/>
          </a:p>
        </p:txBody>
      </p:sp>
      <p:sp>
        <p:nvSpPr>
          <p:cNvPr id="13" name="Text 11"/>
          <p:cNvSpPr/>
          <p:nvPr/>
        </p:nvSpPr>
        <p:spPr>
          <a:xfrm>
            <a:off x="812800" y="6238242"/>
            <a:ext cx="7848600" cy="23876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5B6472"/>
                </a:solidFill>
                <a:latin typeface="DM Sans" pitchFamily="34" charset="0"/>
                <a:ea typeface="DM Sans" pitchFamily="34" charset="-122"/>
                <a:cs typeface="DM Sans" pitchFamily="34" charset="-120"/>
              </a:rPr>
              <a:t>Fuente: informe final, sección 9.1</a:t>
            </a:r>
            <a:endParaRPr lang="en-US" sz="1200" dirty="0"/>
          </a:p>
        </p:txBody>
      </p:sp>
      <p:sp>
        <p:nvSpPr>
          <p:cNvPr id="14" name="Text 12"/>
          <p:cNvSpPr/>
          <p:nvPr/>
        </p:nvSpPr>
        <p:spPr>
          <a:xfrm>
            <a:off x="10058400" y="6238242"/>
            <a:ext cx="1320800" cy="238760"/>
          </a:xfrm>
          <a:prstGeom prst="rect">
            <a:avLst/>
          </a:prstGeom>
          <a:noFill/>
          <a:ln/>
        </p:spPr>
        <p:txBody>
          <a:bodyPr wrap="square" lIns="0" tIns="0" rIns="0" bIns="0" rtlCol="0" anchor="t">
            <a:normAutofit/>
          </a:bodyPr>
          <a:lstStyle/>
          <a:p>
            <a:pPr marL="0" indent="0" algn="r">
              <a:lnSpc>
                <a:spcPts val="1680"/>
              </a:lnSpc>
              <a:buNone/>
            </a:pPr>
            <a:r>
              <a:rPr lang="en-US" sz="1200" dirty="0">
                <a:solidFill>
                  <a:srgbClr val="5B6472"/>
                </a:solidFill>
                <a:latin typeface="DM Sans" pitchFamily="34" charset="0"/>
                <a:ea typeface="DM Sans" pitchFamily="34" charset="-122"/>
                <a:cs typeface="DM Sans" pitchFamily="34" charset="-120"/>
              </a:rPr>
              <a:t>9</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3EC"/>
        </a:solidFill>
        <a:effectLst/>
      </p:bgPr>
    </p:bg>
    <p:spTree>
      <p:nvGrpSpPr>
        <p:cNvPr id="1" name=""/>
        <p:cNvGrpSpPr/>
        <p:nvPr/>
      </p:nvGrpSpPr>
      <p:grpSpPr>
        <a:xfrm>
          <a:off x="0" y="0"/>
          <a:ext cx="0" cy="0"/>
          <a:chOff x="0" y="0"/>
          <a:chExt cx="0" cy="0"/>
        </a:xfrm>
      </p:grpSpPr>
      <p:sp>
        <p:nvSpPr>
          <p:cNvPr id="2" name="Text 0"/>
          <p:cNvSpPr>
            <a:spLocks noGrp="1"/>
          </p:cNvSpPr>
          <p:nvPr>
            <p:ph type="title"/>
          </p:nvPr>
        </p:nvSpPr>
        <p:spPr>
          <a:xfrm>
            <a:off x="812800" y="812800"/>
            <a:ext cx="10883392" cy="528320"/>
          </a:xfrm>
          <a:prstGeom prst="rect">
            <a:avLst/>
          </a:prstGeom>
          <a:noFill/>
          <a:ln/>
        </p:spPr>
        <p:txBody>
          <a:bodyPr wrap="square" lIns="0" tIns="0" rIns="0" bIns="0" rtlCol="0" anchor="t">
            <a:normAutofit/>
          </a:bodyPr>
          <a:lstStyle/>
          <a:p>
            <a:pPr marL="0" indent="0" algn="l">
              <a:lnSpc>
                <a:spcPts val="3960"/>
              </a:lnSpc>
              <a:buNone/>
            </a:pPr>
            <a:r>
              <a:rPr lang="en-US" sz="3600" b="1" i="0" dirty="0">
                <a:solidFill>
                  <a:srgbClr val="12233F"/>
                </a:solidFill>
                <a:latin typeface="DM Sans" pitchFamily="34" charset="0"/>
                <a:ea typeface="DM Sans" pitchFamily="34" charset="-122"/>
                <a:cs typeface="DM Sans" pitchFamily="34" charset="-120"/>
              </a:rPr>
              <a:t>Recomendaciones</a:t>
            </a:r>
            <a:endParaRPr lang="en-US" sz="3600" dirty="0"/>
          </a:p>
        </p:txBody>
      </p:sp>
      <p:sp>
        <p:nvSpPr>
          <p:cNvPr id="3" name="Shape 1"/>
          <p:cNvSpPr/>
          <p:nvPr/>
        </p:nvSpPr>
        <p:spPr>
          <a:xfrm>
            <a:off x="825500" y="1582421"/>
            <a:ext cx="5176520" cy="1579880"/>
          </a:xfrm>
          <a:prstGeom prst="roundRect">
            <a:avLst>
              <a:gd name="adj" fmla="val 5627"/>
            </a:avLst>
          </a:prstGeom>
          <a:solidFill>
            <a:srgbClr val="FCFBF7"/>
          </a:solidFill>
          <a:ln w="25400">
            <a:solidFill>
              <a:srgbClr val="D9822B"/>
            </a:solidFill>
            <a:prstDash val="solid"/>
          </a:ln>
        </p:spPr>
        <p:txBody>
          <a:bodyPr/>
          <a:lstStyle/>
          <a:p>
            <a:endParaRPr lang="es-GT"/>
          </a:p>
        </p:txBody>
      </p:sp>
      <p:sp>
        <p:nvSpPr>
          <p:cNvPr id="4" name="Text 2"/>
          <p:cNvSpPr/>
          <p:nvPr/>
        </p:nvSpPr>
        <p:spPr>
          <a:xfrm>
            <a:off x="1092200" y="1823721"/>
            <a:ext cx="4782414" cy="299720"/>
          </a:xfrm>
          <a:prstGeom prst="rect">
            <a:avLst/>
          </a:prstGeom>
          <a:noFill/>
          <a:ln/>
        </p:spPr>
        <p:txBody>
          <a:bodyPr wrap="square" lIns="0" tIns="0" rIns="0" bIns="0" rtlCol="0" anchor="t">
            <a:normAutofit/>
          </a:bodyPr>
          <a:lstStyle/>
          <a:p>
            <a:pPr marL="0" indent="0" algn="l">
              <a:lnSpc>
                <a:spcPts val="2160"/>
              </a:lnSpc>
              <a:buNone/>
            </a:pPr>
            <a:r>
              <a:rPr lang="en-US" sz="1800" b="1" dirty="0">
                <a:solidFill>
                  <a:srgbClr val="12233F"/>
                </a:solidFill>
                <a:latin typeface="DM Sans" pitchFamily="34" charset="0"/>
                <a:ea typeface="DM Sans" pitchFamily="34" charset="-122"/>
                <a:cs typeface="DM Sans" pitchFamily="34" charset="-120"/>
              </a:rPr>
              <a:t>Corregir las reglas de negocio</a:t>
            </a:r>
            <a:endParaRPr lang="en-US" sz="1800" dirty="0"/>
          </a:p>
        </p:txBody>
      </p:sp>
      <p:sp>
        <p:nvSpPr>
          <p:cNvPr id="5" name="Text 3"/>
          <p:cNvSpPr/>
          <p:nvPr/>
        </p:nvSpPr>
        <p:spPr>
          <a:xfrm>
            <a:off x="1092200" y="2174242"/>
            <a:ext cx="4782414" cy="772160"/>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4A5568"/>
                </a:solidFill>
                <a:latin typeface="DM Sans" pitchFamily="34" charset="0"/>
                <a:ea typeface="DM Sans" pitchFamily="34" charset="-122"/>
                <a:cs typeface="DM Sans" pitchFamily="34" charset="-120"/>
              </a:rPr>
              <a:t>Bloquear la cancelación de órdenes con entregas o facturas y exigir cantidad mayor que cero, en cliente y servidor. Luego, regresión de BUG-10 y BUG-05.</a:t>
            </a:r>
            <a:endParaRPr lang="en-US" sz="1400" dirty="0"/>
          </a:p>
        </p:txBody>
      </p:sp>
      <p:sp>
        <p:nvSpPr>
          <p:cNvPr id="6" name="Shape 4"/>
          <p:cNvSpPr/>
          <p:nvPr/>
        </p:nvSpPr>
        <p:spPr>
          <a:xfrm>
            <a:off x="6221095" y="1572896"/>
            <a:ext cx="5154930" cy="1598930"/>
          </a:xfrm>
          <a:prstGeom prst="roundRect">
            <a:avLst>
              <a:gd name="adj" fmla="val 6156"/>
            </a:avLst>
          </a:prstGeom>
          <a:solidFill>
            <a:srgbClr val="FCFBF7"/>
          </a:solidFill>
          <a:ln w="6350">
            <a:solidFill>
              <a:srgbClr val="DAD6C8"/>
            </a:solidFill>
            <a:prstDash val="solid"/>
          </a:ln>
        </p:spPr>
        <p:txBody>
          <a:bodyPr/>
          <a:lstStyle/>
          <a:p>
            <a:endParaRPr lang="es-GT"/>
          </a:p>
        </p:txBody>
      </p:sp>
      <p:sp>
        <p:nvSpPr>
          <p:cNvPr id="7" name="Text 5"/>
          <p:cNvSpPr/>
          <p:nvPr/>
        </p:nvSpPr>
        <p:spPr>
          <a:xfrm>
            <a:off x="6477000" y="1803400"/>
            <a:ext cx="4782414" cy="299720"/>
          </a:xfrm>
          <a:prstGeom prst="rect">
            <a:avLst/>
          </a:prstGeom>
          <a:noFill/>
          <a:ln/>
        </p:spPr>
        <p:txBody>
          <a:bodyPr wrap="square" lIns="0" tIns="0" rIns="0" bIns="0" rtlCol="0" anchor="t">
            <a:normAutofit/>
          </a:bodyPr>
          <a:lstStyle/>
          <a:p>
            <a:pPr marL="0" indent="0" algn="l">
              <a:lnSpc>
                <a:spcPts val="2160"/>
              </a:lnSpc>
              <a:buNone/>
            </a:pPr>
            <a:r>
              <a:rPr lang="en-US" sz="1800" b="1" dirty="0">
                <a:solidFill>
                  <a:srgbClr val="12233F"/>
                </a:solidFill>
                <a:latin typeface="DM Sans" pitchFamily="34" charset="0"/>
                <a:ea typeface="DM Sans" pitchFamily="34" charset="-122"/>
                <a:cs typeface="DM Sans" pitchFamily="34" charset="-120"/>
              </a:rPr>
              <a:t>Completar el idioma español</a:t>
            </a:r>
            <a:endParaRPr lang="en-US" sz="1800" dirty="0"/>
          </a:p>
        </p:txBody>
      </p:sp>
      <p:sp>
        <p:nvSpPr>
          <p:cNvPr id="8" name="Text 6"/>
          <p:cNvSpPr/>
          <p:nvPr/>
        </p:nvSpPr>
        <p:spPr>
          <a:xfrm>
            <a:off x="6477000" y="2153921"/>
            <a:ext cx="4782414" cy="523240"/>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4A5568"/>
                </a:solidFill>
                <a:latin typeface="DM Sans" pitchFamily="34" charset="0"/>
                <a:ea typeface="DM Sans" pitchFamily="34" charset="-122"/>
                <a:cs typeface="DM Sans" pitchFamily="34" charset="-120"/>
              </a:rPr>
              <a:t>Revisar el archivo de idioma: textos en inglés, etiquetas mal traducidas y una opción de menú repetida.</a:t>
            </a:r>
            <a:endParaRPr lang="en-US" sz="1400" dirty="0"/>
          </a:p>
        </p:txBody>
      </p:sp>
      <p:sp>
        <p:nvSpPr>
          <p:cNvPr id="9" name="Shape 7"/>
          <p:cNvSpPr/>
          <p:nvPr/>
        </p:nvSpPr>
        <p:spPr>
          <a:xfrm>
            <a:off x="815975" y="3432175"/>
            <a:ext cx="5175250" cy="1309370"/>
          </a:xfrm>
          <a:prstGeom prst="roundRect">
            <a:avLst>
              <a:gd name="adj" fmla="val 7517"/>
            </a:avLst>
          </a:prstGeom>
          <a:solidFill>
            <a:srgbClr val="FCFBF7"/>
          </a:solidFill>
          <a:ln w="6350">
            <a:solidFill>
              <a:srgbClr val="DAD6C8"/>
            </a:solidFill>
            <a:prstDash val="solid"/>
          </a:ln>
        </p:spPr>
        <p:txBody>
          <a:bodyPr/>
          <a:lstStyle/>
          <a:p>
            <a:endParaRPr lang="es-GT"/>
          </a:p>
        </p:txBody>
      </p:sp>
      <p:sp>
        <p:nvSpPr>
          <p:cNvPr id="10" name="Text 8"/>
          <p:cNvSpPr/>
          <p:nvPr/>
        </p:nvSpPr>
        <p:spPr>
          <a:xfrm>
            <a:off x="1071880" y="3662679"/>
            <a:ext cx="4803343" cy="299720"/>
          </a:xfrm>
          <a:prstGeom prst="rect">
            <a:avLst/>
          </a:prstGeom>
          <a:noFill/>
          <a:ln/>
        </p:spPr>
        <p:txBody>
          <a:bodyPr wrap="square" lIns="0" tIns="0" rIns="0" bIns="0" rtlCol="0" anchor="t">
            <a:normAutofit/>
          </a:bodyPr>
          <a:lstStyle/>
          <a:p>
            <a:pPr marL="0" indent="0" algn="l">
              <a:lnSpc>
                <a:spcPts val="2160"/>
              </a:lnSpc>
              <a:buNone/>
            </a:pPr>
            <a:r>
              <a:rPr lang="en-US" sz="1800" b="1" dirty="0">
                <a:solidFill>
                  <a:srgbClr val="12233F"/>
                </a:solidFill>
                <a:latin typeface="DM Sans" pitchFamily="34" charset="0"/>
                <a:ea typeface="DM Sans" pitchFamily="34" charset="-122"/>
                <a:cs typeface="DM Sans" pitchFamily="34" charset="-120"/>
              </a:rPr>
              <a:t>Endurecer la automatización</a:t>
            </a:r>
            <a:endParaRPr lang="en-US" sz="1800" dirty="0"/>
          </a:p>
        </p:txBody>
      </p:sp>
      <p:sp>
        <p:nvSpPr>
          <p:cNvPr id="11" name="Text 9"/>
          <p:cNvSpPr/>
          <p:nvPr/>
        </p:nvSpPr>
        <p:spPr>
          <a:xfrm>
            <a:off x="1071880" y="4013200"/>
            <a:ext cx="4803343" cy="523240"/>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4A5568"/>
                </a:solidFill>
                <a:latin typeface="DM Sans" pitchFamily="34" charset="0"/>
                <a:ea typeface="DM Sans" pitchFamily="34" charset="-122"/>
                <a:cs typeface="DM Sans" pitchFamily="34" charset="-120"/>
              </a:rPr>
              <a:t>Aserciones que fallen cuando el sistema acepta datos inválidos, y corridas en Chrome y Firefox.</a:t>
            </a:r>
            <a:endParaRPr lang="en-US" sz="1400" dirty="0"/>
          </a:p>
        </p:txBody>
      </p:sp>
      <p:sp>
        <p:nvSpPr>
          <p:cNvPr id="12" name="Shape 10"/>
          <p:cNvSpPr/>
          <p:nvPr/>
        </p:nvSpPr>
        <p:spPr>
          <a:xfrm>
            <a:off x="6200775" y="3432175"/>
            <a:ext cx="5175250" cy="1309370"/>
          </a:xfrm>
          <a:prstGeom prst="roundRect">
            <a:avLst>
              <a:gd name="adj" fmla="val 7517"/>
            </a:avLst>
          </a:prstGeom>
          <a:solidFill>
            <a:srgbClr val="FCFBF7"/>
          </a:solidFill>
          <a:ln w="6350">
            <a:solidFill>
              <a:srgbClr val="DAD6C8"/>
            </a:solidFill>
            <a:prstDash val="solid"/>
          </a:ln>
        </p:spPr>
        <p:txBody>
          <a:bodyPr/>
          <a:lstStyle/>
          <a:p>
            <a:endParaRPr lang="es-GT"/>
          </a:p>
        </p:txBody>
      </p:sp>
      <p:sp>
        <p:nvSpPr>
          <p:cNvPr id="13" name="Text 11"/>
          <p:cNvSpPr/>
          <p:nvPr/>
        </p:nvSpPr>
        <p:spPr>
          <a:xfrm>
            <a:off x="6456680" y="3662679"/>
            <a:ext cx="4803343" cy="299720"/>
          </a:xfrm>
          <a:prstGeom prst="rect">
            <a:avLst/>
          </a:prstGeom>
          <a:noFill/>
          <a:ln/>
        </p:spPr>
        <p:txBody>
          <a:bodyPr wrap="square" lIns="0" tIns="0" rIns="0" bIns="0" rtlCol="0" anchor="t">
            <a:normAutofit/>
          </a:bodyPr>
          <a:lstStyle/>
          <a:p>
            <a:pPr marL="0" indent="0" algn="l">
              <a:lnSpc>
                <a:spcPts val="2160"/>
              </a:lnSpc>
              <a:buNone/>
            </a:pPr>
            <a:r>
              <a:rPr lang="en-US" sz="1800" b="1" dirty="0">
                <a:solidFill>
                  <a:srgbClr val="12233F"/>
                </a:solidFill>
                <a:latin typeface="DM Sans" pitchFamily="34" charset="0"/>
                <a:ea typeface="DM Sans" pitchFamily="34" charset="-122"/>
                <a:cs typeface="DM Sans" pitchFamily="34" charset="-120"/>
              </a:rPr>
              <a:t>Ampliar la cobertura</a:t>
            </a:r>
            <a:endParaRPr lang="en-US" sz="1800" dirty="0"/>
          </a:p>
        </p:txBody>
      </p:sp>
      <p:sp>
        <p:nvSpPr>
          <p:cNvPr id="14" name="Text 12"/>
          <p:cNvSpPr/>
          <p:nvPr/>
        </p:nvSpPr>
        <p:spPr>
          <a:xfrm>
            <a:off x="6456680" y="4013200"/>
            <a:ext cx="4803343" cy="274320"/>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4A5568"/>
                </a:solidFill>
                <a:latin typeface="DM Sans" pitchFamily="34" charset="0"/>
                <a:ea typeface="DM Sans" pitchFamily="34" charset="-122"/>
                <a:cs typeface="DM Sans" pitchFamily="34" charset="-120"/>
              </a:rPr>
              <a:t>Automatizar TC-14, TC-15 y TC-16 en el siguiente ciclo.</a:t>
            </a:r>
            <a:endParaRPr lang="en-US" sz="1400" dirty="0"/>
          </a:p>
        </p:txBody>
      </p:sp>
      <p:sp>
        <p:nvSpPr>
          <p:cNvPr id="15" name="Text 13"/>
          <p:cNvSpPr/>
          <p:nvPr/>
        </p:nvSpPr>
        <p:spPr>
          <a:xfrm>
            <a:off x="812800" y="6238242"/>
            <a:ext cx="7848600" cy="23876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5B6472"/>
                </a:solidFill>
                <a:latin typeface="DM Sans" pitchFamily="34" charset="0"/>
                <a:ea typeface="DM Sans" pitchFamily="34" charset="-122"/>
                <a:cs typeface="DM Sans" pitchFamily="34" charset="-120"/>
              </a:rPr>
              <a:t>Fuente: informe final, sección 9.2</a:t>
            </a:r>
            <a:endParaRPr lang="en-US" sz="1200" dirty="0"/>
          </a:p>
        </p:txBody>
      </p:sp>
      <p:sp>
        <p:nvSpPr>
          <p:cNvPr id="16" name="Text 14"/>
          <p:cNvSpPr/>
          <p:nvPr/>
        </p:nvSpPr>
        <p:spPr>
          <a:xfrm>
            <a:off x="10058400" y="6238242"/>
            <a:ext cx="1320800" cy="238760"/>
          </a:xfrm>
          <a:prstGeom prst="rect">
            <a:avLst/>
          </a:prstGeom>
          <a:noFill/>
          <a:ln/>
        </p:spPr>
        <p:txBody>
          <a:bodyPr wrap="square" lIns="0" tIns="0" rIns="0" bIns="0" rtlCol="0" anchor="t">
            <a:normAutofit/>
          </a:bodyPr>
          <a:lstStyle/>
          <a:p>
            <a:pPr marL="0" indent="0" algn="r">
              <a:lnSpc>
                <a:spcPts val="1680"/>
              </a:lnSpc>
              <a:buNone/>
            </a:pPr>
            <a:r>
              <a:rPr lang="en-US" sz="1200" dirty="0">
                <a:solidFill>
                  <a:srgbClr val="5B6472"/>
                </a:solidFill>
                <a:latin typeface="DM Sans" pitchFamily="34" charset="0"/>
                <a:ea typeface="DM Sans" pitchFamily="34" charset="-122"/>
                <a:cs typeface="DM Sans" pitchFamily="34" charset="-120"/>
              </a:rPr>
              <a:t>10</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5F3EC"/>
        </a:solidFill>
        <a:effectLst/>
      </p:bgPr>
    </p:bg>
    <p:spTree>
      <p:nvGrpSpPr>
        <p:cNvPr id="1" name=""/>
        <p:cNvGrpSpPr/>
        <p:nvPr/>
      </p:nvGrpSpPr>
      <p:grpSpPr>
        <a:xfrm>
          <a:off x="0" y="0"/>
          <a:ext cx="0" cy="0"/>
          <a:chOff x="0" y="0"/>
          <a:chExt cx="0" cy="0"/>
        </a:xfrm>
      </p:grpSpPr>
      <p:sp>
        <p:nvSpPr>
          <p:cNvPr id="2" name="Text 0"/>
          <p:cNvSpPr>
            <a:spLocks noGrp="1"/>
          </p:cNvSpPr>
          <p:nvPr>
            <p:ph type="title"/>
          </p:nvPr>
        </p:nvSpPr>
        <p:spPr>
          <a:xfrm>
            <a:off x="812800" y="812800"/>
            <a:ext cx="10883392" cy="528320"/>
          </a:xfrm>
          <a:prstGeom prst="rect">
            <a:avLst/>
          </a:prstGeom>
          <a:noFill/>
          <a:ln/>
        </p:spPr>
        <p:txBody>
          <a:bodyPr wrap="square" lIns="0" tIns="0" rIns="0" bIns="0" rtlCol="0" anchor="t">
            <a:normAutofit/>
          </a:bodyPr>
          <a:lstStyle/>
          <a:p>
            <a:pPr marL="0" indent="0" algn="l">
              <a:lnSpc>
                <a:spcPts val="3960"/>
              </a:lnSpc>
              <a:buNone/>
            </a:pPr>
            <a:r>
              <a:rPr lang="en-US" sz="3600" b="1" i="0" dirty="0">
                <a:solidFill>
                  <a:srgbClr val="12233F"/>
                </a:solidFill>
                <a:latin typeface="DM Sans" pitchFamily="34" charset="0"/>
                <a:ea typeface="DM Sans" pitchFamily="34" charset="-122"/>
                <a:cs typeface="DM Sans" pitchFamily="34" charset="-120"/>
              </a:rPr>
              <a:t>Lecciones aprendidas</a:t>
            </a:r>
            <a:endParaRPr lang="en-US" sz="3600" dirty="0"/>
          </a:p>
        </p:txBody>
      </p:sp>
      <p:sp>
        <p:nvSpPr>
          <p:cNvPr id="3" name="Shape 1"/>
          <p:cNvSpPr/>
          <p:nvPr/>
        </p:nvSpPr>
        <p:spPr>
          <a:xfrm>
            <a:off x="815975" y="1623696"/>
            <a:ext cx="2482850" cy="2287270"/>
          </a:xfrm>
          <a:prstGeom prst="roundRect">
            <a:avLst>
              <a:gd name="adj" fmla="val 4303"/>
            </a:avLst>
          </a:prstGeom>
          <a:solidFill>
            <a:srgbClr val="FCFBF7"/>
          </a:solidFill>
          <a:ln w="6350">
            <a:solidFill>
              <a:srgbClr val="DAD6C8"/>
            </a:solidFill>
            <a:prstDash val="solid"/>
          </a:ln>
        </p:spPr>
        <p:txBody>
          <a:bodyPr/>
          <a:lstStyle/>
          <a:p>
            <a:endParaRPr lang="es-GT"/>
          </a:p>
        </p:txBody>
      </p:sp>
      <p:sp>
        <p:nvSpPr>
          <p:cNvPr id="4" name="Text 2"/>
          <p:cNvSpPr/>
          <p:nvPr/>
        </p:nvSpPr>
        <p:spPr>
          <a:xfrm>
            <a:off x="1046480" y="1854200"/>
            <a:ext cx="2082495" cy="505460"/>
          </a:xfrm>
          <a:prstGeom prst="rect">
            <a:avLst/>
          </a:prstGeom>
          <a:noFill/>
          <a:ln/>
        </p:spPr>
        <p:txBody>
          <a:bodyPr wrap="square" lIns="0" tIns="0" rIns="0" bIns="0" rtlCol="0" anchor="t">
            <a:normAutofit/>
          </a:bodyPr>
          <a:lstStyle/>
          <a:p>
            <a:pPr marL="0" indent="0" algn="l">
              <a:lnSpc>
                <a:spcPts val="3780"/>
              </a:lnSpc>
              <a:buNone/>
            </a:pPr>
            <a:r>
              <a:rPr lang="en-US" sz="3600" b="1" dirty="0">
                <a:solidFill>
                  <a:srgbClr val="D9822B"/>
                </a:solidFill>
                <a:latin typeface="DM Sans" pitchFamily="34" charset="0"/>
                <a:ea typeface="DM Sans" pitchFamily="34" charset="-122"/>
                <a:cs typeface="DM Sans" pitchFamily="34" charset="-120"/>
              </a:rPr>
              <a:t>01</a:t>
            </a:r>
            <a:endParaRPr lang="en-US" sz="3600" dirty="0"/>
          </a:p>
        </p:txBody>
      </p:sp>
      <p:sp>
        <p:nvSpPr>
          <p:cNvPr id="5" name="Text 3"/>
          <p:cNvSpPr/>
          <p:nvPr/>
        </p:nvSpPr>
        <p:spPr>
          <a:xfrm>
            <a:off x="1046480" y="2435864"/>
            <a:ext cx="2082495" cy="1021080"/>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12233F"/>
                </a:solidFill>
                <a:latin typeface="DM Sans" pitchFamily="34" charset="0"/>
                <a:ea typeface="DM Sans" pitchFamily="34" charset="-122"/>
                <a:cs typeface="DM Sans" pitchFamily="34" charset="-120"/>
              </a:rPr>
              <a:t>Un 100% en verde no prueba calidad: cada prueba debe afirmar el resultado esperado.</a:t>
            </a:r>
            <a:endParaRPr lang="en-US" sz="1400" dirty="0"/>
          </a:p>
        </p:txBody>
      </p:sp>
      <p:sp>
        <p:nvSpPr>
          <p:cNvPr id="6" name="Shape 4"/>
          <p:cNvSpPr/>
          <p:nvPr/>
        </p:nvSpPr>
        <p:spPr>
          <a:xfrm>
            <a:off x="3508375" y="1623696"/>
            <a:ext cx="2482850" cy="2287270"/>
          </a:xfrm>
          <a:prstGeom prst="roundRect">
            <a:avLst>
              <a:gd name="adj" fmla="val 4303"/>
            </a:avLst>
          </a:prstGeom>
          <a:solidFill>
            <a:srgbClr val="FCFBF7"/>
          </a:solidFill>
          <a:ln w="6350">
            <a:solidFill>
              <a:srgbClr val="DAD6C8"/>
            </a:solidFill>
            <a:prstDash val="solid"/>
          </a:ln>
        </p:spPr>
        <p:txBody>
          <a:bodyPr/>
          <a:lstStyle/>
          <a:p>
            <a:endParaRPr lang="es-GT"/>
          </a:p>
        </p:txBody>
      </p:sp>
      <p:sp>
        <p:nvSpPr>
          <p:cNvPr id="7" name="Text 5"/>
          <p:cNvSpPr/>
          <p:nvPr/>
        </p:nvSpPr>
        <p:spPr>
          <a:xfrm>
            <a:off x="3738880" y="1854200"/>
            <a:ext cx="2082495" cy="505460"/>
          </a:xfrm>
          <a:prstGeom prst="rect">
            <a:avLst/>
          </a:prstGeom>
          <a:noFill/>
          <a:ln/>
        </p:spPr>
        <p:txBody>
          <a:bodyPr wrap="square" lIns="0" tIns="0" rIns="0" bIns="0" rtlCol="0" anchor="t">
            <a:normAutofit/>
          </a:bodyPr>
          <a:lstStyle/>
          <a:p>
            <a:pPr marL="0" indent="0" algn="l">
              <a:lnSpc>
                <a:spcPts val="3780"/>
              </a:lnSpc>
              <a:buNone/>
            </a:pPr>
            <a:r>
              <a:rPr lang="en-US" sz="3600" b="1" dirty="0">
                <a:solidFill>
                  <a:srgbClr val="D9822B"/>
                </a:solidFill>
                <a:latin typeface="DM Sans" pitchFamily="34" charset="0"/>
                <a:ea typeface="DM Sans" pitchFamily="34" charset="-122"/>
                <a:cs typeface="DM Sans" pitchFamily="34" charset="-120"/>
              </a:rPr>
              <a:t>02</a:t>
            </a:r>
            <a:endParaRPr lang="en-US" sz="3600" dirty="0"/>
          </a:p>
        </p:txBody>
      </p:sp>
      <p:sp>
        <p:nvSpPr>
          <p:cNvPr id="8" name="Text 6"/>
          <p:cNvSpPr/>
          <p:nvPr/>
        </p:nvSpPr>
        <p:spPr>
          <a:xfrm>
            <a:off x="3738880" y="2435864"/>
            <a:ext cx="2082495" cy="1270000"/>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12233F"/>
                </a:solidFill>
                <a:latin typeface="DM Sans" pitchFamily="34" charset="0"/>
                <a:ea typeface="DM Sans" pitchFamily="34" charset="-122"/>
                <a:cs typeface="DM Sans" pitchFamily="34" charset="-120"/>
              </a:rPr>
              <a:t>El hosting gratuito de Render duerme el ambiente: hay que despertarlo antes de cada sesión.</a:t>
            </a:r>
            <a:endParaRPr lang="en-US" sz="1400" dirty="0"/>
          </a:p>
        </p:txBody>
      </p:sp>
      <p:sp>
        <p:nvSpPr>
          <p:cNvPr id="9" name="Shape 7"/>
          <p:cNvSpPr/>
          <p:nvPr/>
        </p:nvSpPr>
        <p:spPr>
          <a:xfrm>
            <a:off x="6200775" y="1623696"/>
            <a:ext cx="2482850" cy="2287270"/>
          </a:xfrm>
          <a:prstGeom prst="roundRect">
            <a:avLst>
              <a:gd name="adj" fmla="val 4303"/>
            </a:avLst>
          </a:prstGeom>
          <a:solidFill>
            <a:srgbClr val="FCFBF7"/>
          </a:solidFill>
          <a:ln w="6350">
            <a:solidFill>
              <a:srgbClr val="DAD6C8"/>
            </a:solidFill>
            <a:prstDash val="solid"/>
          </a:ln>
        </p:spPr>
        <p:txBody>
          <a:bodyPr/>
          <a:lstStyle/>
          <a:p>
            <a:endParaRPr lang="es-GT"/>
          </a:p>
        </p:txBody>
      </p:sp>
      <p:sp>
        <p:nvSpPr>
          <p:cNvPr id="10" name="Text 8"/>
          <p:cNvSpPr/>
          <p:nvPr/>
        </p:nvSpPr>
        <p:spPr>
          <a:xfrm>
            <a:off x="6431280" y="1854200"/>
            <a:ext cx="2082495" cy="505460"/>
          </a:xfrm>
          <a:prstGeom prst="rect">
            <a:avLst/>
          </a:prstGeom>
          <a:noFill/>
          <a:ln/>
        </p:spPr>
        <p:txBody>
          <a:bodyPr wrap="square" lIns="0" tIns="0" rIns="0" bIns="0" rtlCol="0" anchor="t">
            <a:normAutofit/>
          </a:bodyPr>
          <a:lstStyle/>
          <a:p>
            <a:pPr marL="0" indent="0" algn="l">
              <a:lnSpc>
                <a:spcPts val="3780"/>
              </a:lnSpc>
              <a:buNone/>
            </a:pPr>
            <a:r>
              <a:rPr lang="en-US" sz="3600" b="1" dirty="0">
                <a:solidFill>
                  <a:srgbClr val="D9822B"/>
                </a:solidFill>
                <a:latin typeface="DM Sans" pitchFamily="34" charset="0"/>
                <a:ea typeface="DM Sans" pitchFamily="34" charset="-122"/>
                <a:cs typeface="DM Sans" pitchFamily="34" charset="-120"/>
              </a:rPr>
              <a:t>03</a:t>
            </a:r>
            <a:endParaRPr lang="en-US" sz="3600" dirty="0"/>
          </a:p>
        </p:txBody>
      </p:sp>
      <p:sp>
        <p:nvSpPr>
          <p:cNvPr id="11" name="Text 9"/>
          <p:cNvSpPr/>
          <p:nvPr/>
        </p:nvSpPr>
        <p:spPr>
          <a:xfrm>
            <a:off x="6431280" y="2435864"/>
            <a:ext cx="2082495" cy="1021080"/>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12233F"/>
                </a:solidFill>
                <a:latin typeface="DM Sans" pitchFamily="34" charset="0"/>
                <a:ea typeface="DM Sans" pitchFamily="34" charset="-122"/>
                <a:cs typeface="DM Sans" pitchFamily="34" charset="-120"/>
              </a:rPr>
              <a:t>La numeración de los casos debe ser la misma en diseño, scripts e informes.</a:t>
            </a:r>
            <a:endParaRPr lang="en-US" sz="1400" dirty="0"/>
          </a:p>
        </p:txBody>
      </p:sp>
      <p:sp>
        <p:nvSpPr>
          <p:cNvPr id="12" name="Shape 10"/>
          <p:cNvSpPr/>
          <p:nvPr/>
        </p:nvSpPr>
        <p:spPr>
          <a:xfrm>
            <a:off x="8893175" y="1623696"/>
            <a:ext cx="2482850" cy="2287270"/>
          </a:xfrm>
          <a:prstGeom prst="roundRect">
            <a:avLst>
              <a:gd name="adj" fmla="val 4303"/>
            </a:avLst>
          </a:prstGeom>
          <a:solidFill>
            <a:srgbClr val="FCFBF7"/>
          </a:solidFill>
          <a:ln w="6350">
            <a:solidFill>
              <a:srgbClr val="DAD6C8"/>
            </a:solidFill>
            <a:prstDash val="solid"/>
          </a:ln>
        </p:spPr>
        <p:txBody>
          <a:bodyPr/>
          <a:lstStyle/>
          <a:p>
            <a:endParaRPr lang="es-GT"/>
          </a:p>
        </p:txBody>
      </p:sp>
      <p:sp>
        <p:nvSpPr>
          <p:cNvPr id="13" name="Text 11"/>
          <p:cNvSpPr/>
          <p:nvPr/>
        </p:nvSpPr>
        <p:spPr>
          <a:xfrm>
            <a:off x="9123680" y="1854200"/>
            <a:ext cx="2082495" cy="505460"/>
          </a:xfrm>
          <a:prstGeom prst="rect">
            <a:avLst/>
          </a:prstGeom>
          <a:noFill/>
          <a:ln/>
        </p:spPr>
        <p:txBody>
          <a:bodyPr wrap="square" lIns="0" tIns="0" rIns="0" bIns="0" rtlCol="0" anchor="t">
            <a:normAutofit/>
          </a:bodyPr>
          <a:lstStyle/>
          <a:p>
            <a:pPr marL="0" indent="0" algn="l">
              <a:lnSpc>
                <a:spcPts val="3780"/>
              </a:lnSpc>
              <a:buNone/>
            </a:pPr>
            <a:r>
              <a:rPr lang="en-US" sz="3600" b="1" dirty="0">
                <a:solidFill>
                  <a:srgbClr val="D9822B"/>
                </a:solidFill>
                <a:latin typeface="DM Sans" pitchFamily="34" charset="0"/>
                <a:ea typeface="DM Sans" pitchFamily="34" charset="-122"/>
                <a:cs typeface="DM Sans" pitchFamily="34" charset="-120"/>
              </a:rPr>
              <a:t>04</a:t>
            </a:r>
            <a:endParaRPr lang="en-US" sz="3600" dirty="0"/>
          </a:p>
        </p:txBody>
      </p:sp>
      <p:sp>
        <p:nvSpPr>
          <p:cNvPr id="14" name="Text 12"/>
          <p:cNvSpPr/>
          <p:nvPr/>
        </p:nvSpPr>
        <p:spPr>
          <a:xfrm>
            <a:off x="9123680" y="2435864"/>
            <a:ext cx="2082495" cy="1021080"/>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12233F"/>
                </a:solidFill>
                <a:latin typeface="DM Sans" pitchFamily="34" charset="0"/>
                <a:ea typeface="DM Sans" pitchFamily="34" charset="-122"/>
                <a:cs typeface="DM Sans" pitchFamily="34" charset="-120"/>
              </a:rPr>
              <a:t>Cada fila de resultados necesita su evidencia, registrada al momento con captura.</a:t>
            </a:r>
            <a:endParaRPr lang="en-US" sz="1400" dirty="0"/>
          </a:p>
        </p:txBody>
      </p:sp>
      <p:sp>
        <p:nvSpPr>
          <p:cNvPr id="15" name="Text 13"/>
          <p:cNvSpPr/>
          <p:nvPr/>
        </p:nvSpPr>
        <p:spPr>
          <a:xfrm>
            <a:off x="812800" y="6238242"/>
            <a:ext cx="7848600" cy="23876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5B6472"/>
                </a:solidFill>
                <a:latin typeface="DM Sans" pitchFamily="34" charset="0"/>
                <a:ea typeface="DM Sans" pitchFamily="34" charset="-122"/>
                <a:cs typeface="DM Sans" pitchFamily="34" charset="-120"/>
              </a:rPr>
              <a:t>Fuente: informe final, sección 9.3 (temas para validar en la retrospectiva)</a:t>
            </a:r>
            <a:endParaRPr lang="en-US" sz="1200" dirty="0"/>
          </a:p>
        </p:txBody>
      </p:sp>
      <p:sp>
        <p:nvSpPr>
          <p:cNvPr id="16" name="Text 14"/>
          <p:cNvSpPr/>
          <p:nvPr/>
        </p:nvSpPr>
        <p:spPr>
          <a:xfrm>
            <a:off x="10058400" y="6238242"/>
            <a:ext cx="1320800" cy="238760"/>
          </a:xfrm>
          <a:prstGeom prst="rect">
            <a:avLst/>
          </a:prstGeom>
          <a:noFill/>
          <a:ln/>
        </p:spPr>
        <p:txBody>
          <a:bodyPr wrap="square" lIns="0" tIns="0" rIns="0" bIns="0" rtlCol="0" anchor="t">
            <a:normAutofit/>
          </a:bodyPr>
          <a:lstStyle/>
          <a:p>
            <a:pPr marL="0" indent="0" algn="r">
              <a:lnSpc>
                <a:spcPts val="1680"/>
              </a:lnSpc>
              <a:buNone/>
            </a:pPr>
            <a:r>
              <a:rPr lang="en-US" sz="1200" dirty="0">
                <a:solidFill>
                  <a:srgbClr val="5B6472"/>
                </a:solidFill>
                <a:latin typeface="DM Sans" pitchFamily="34" charset="0"/>
                <a:ea typeface="DM Sans" pitchFamily="34" charset="-122"/>
                <a:cs typeface="DM Sans" pitchFamily="34" charset="-120"/>
              </a:rPr>
              <a:t>11</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2233F"/>
        </a:solidFill>
        <a:effectLst/>
      </p:bgPr>
    </p:bg>
    <p:spTree>
      <p:nvGrpSpPr>
        <p:cNvPr id="1" name=""/>
        <p:cNvGrpSpPr/>
        <p:nvPr/>
      </p:nvGrpSpPr>
      <p:grpSpPr>
        <a:xfrm>
          <a:off x="0" y="0"/>
          <a:ext cx="0" cy="0"/>
          <a:chOff x="0" y="0"/>
          <a:chExt cx="0" cy="0"/>
        </a:xfrm>
      </p:grpSpPr>
      <p:sp>
        <p:nvSpPr>
          <p:cNvPr id="2" name="Shape 0"/>
          <p:cNvSpPr/>
          <p:nvPr/>
        </p:nvSpPr>
        <p:spPr>
          <a:xfrm>
            <a:off x="812800" y="2562864"/>
            <a:ext cx="762000" cy="50800"/>
          </a:xfrm>
          <a:prstGeom prst="rect">
            <a:avLst/>
          </a:prstGeom>
          <a:solidFill>
            <a:srgbClr val="D9822B"/>
          </a:solidFill>
          <a:ln/>
        </p:spPr>
        <p:txBody>
          <a:bodyPr/>
          <a:lstStyle/>
          <a:p>
            <a:endParaRPr lang="es-GT"/>
          </a:p>
        </p:txBody>
      </p:sp>
      <p:sp>
        <p:nvSpPr>
          <p:cNvPr id="3" name="Text 1"/>
          <p:cNvSpPr>
            <a:spLocks noGrp="1"/>
          </p:cNvSpPr>
          <p:nvPr>
            <p:ph type="title"/>
          </p:nvPr>
        </p:nvSpPr>
        <p:spPr>
          <a:xfrm>
            <a:off x="812800" y="2816864"/>
            <a:ext cx="5127752" cy="528320"/>
          </a:xfrm>
          <a:prstGeom prst="rect">
            <a:avLst/>
          </a:prstGeom>
          <a:noFill/>
          <a:ln/>
        </p:spPr>
        <p:txBody>
          <a:bodyPr wrap="square" lIns="0" tIns="0" rIns="0" bIns="0" rtlCol="0" anchor="t">
            <a:normAutofit/>
          </a:bodyPr>
          <a:lstStyle/>
          <a:p>
            <a:pPr marL="0" indent="0" algn="l">
              <a:lnSpc>
                <a:spcPts val="3960"/>
              </a:lnSpc>
              <a:buNone/>
            </a:pPr>
            <a:r>
              <a:rPr lang="en-US" sz="3600" b="1" i="0" dirty="0">
                <a:solidFill>
                  <a:srgbClr val="F5F3EC"/>
                </a:solidFill>
                <a:latin typeface="DM Sans" pitchFamily="34" charset="0"/>
                <a:ea typeface="DM Sans" pitchFamily="34" charset="-122"/>
                <a:cs typeface="DM Sans" pitchFamily="34" charset="-120"/>
              </a:rPr>
              <a:t>Preguntas</a:t>
            </a:r>
            <a:endParaRPr lang="en-US" sz="3600" dirty="0"/>
          </a:p>
        </p:txBody>
      </p:sp>
      <p:sp>
        <p:nvSpPr>
          <p:cNvPr id="4" name="Text 2"/>
          <p:cNvSpPr/>
          <p:nvPr/>
        </p:nvSpPr>
        <p:spPr>
          <a:xfrm>
            <a:off x="812800" y="3522979"/>
            <a:ext cx="5127752" cy="594360"/>
          </a:xfrm>
          <a:prstGeom prst="rect">
            <a:avLst/>
          </a:prstGeom>
          <a:noFill/>
          <a:ln/>
        </p:spPr>
        <p:txBody>
          <a:bodyPr wrap="square" lIns="0" tIns="0" rIns="0" bIns="0" rtlCol="0" anchor="t">
            <a:normAutofit/>
          </a:bodyPr>
          <a:lstStyle/>
          <a:p>
            <a:pPr marL="0" indent="0" algn="l">
              <a:lnSpc>
                <a:spcPts val="2240"/>
              </a:lnSpc>
              <a:buNone/>
            </a:pPr>
            <a:r>
              <a:rPr lang="en-US" sz="1600" dirty="0">
                <a:solidFill>
                  <a:srgbClr val="C9D3E0"/>
                </a:solidFill>
                <a:latin typeface="DM Sans" pitchFamily="34" charset="0"/>
                <a:ea typeface="DM Sans" pitchFamily="34" charset="-122"/>
                <a:cs typeface="DM Sans" pitchFamily="34" charset="-120"/>
              </a:rPr>
              <a:t>Gracias. En el </a:t>
            </a:r>
            <a:r>
              <a:rPr lang="en-US" sz="1600" dirty="0" err="1">
                <a:solidFill>
                  <a:srgbClr val="C9D3E0"/>
                </a:solidFill>
                <a:latin typeface="DM Sans" pitchFamily="34" charset="0"/>
                <a:ea typeface="DM Sans" pitchFamily="34" charset="-122"/>
                <a:cs typeface="DM Sans" pitchFamily="34" charset="-120"/>
              </a:rPr>
              <a:t>informe</a:t>
            </a:r>
            <a:r>
              <a:rPr lang="en-US" sz="1600" dirty="0">
                <a:solidFill>
                  <a:srgbClr val="C9D3E0"/>
                </a:solidFill>
                <a:latin typeface="DM Sans" pitchFamily="34" charset="0"/>
                <a:ea typeface="DM Sans" pitchFamily="34" charset="-122"/>
                <a:cs typeface="DM Sans" pitchFamily="34" charset="-120"/>
              </a:rPr>
              <a:t> </a:t>
            </a:r>
            <a:r>
              <a:rPr lang="en-US" sz="1600" dirty="0" err="1">
                <a:solidFill>
                  <a:srgbClr val="C9D3E0"/>
                </a:solidFill>
                <a:latin typeface="DM Sans" pitchFamily="34" charset="0"/>
                <a:ea typeface="DM Sans" pitchFamily="34" charset="-122"/>
                <a:cs typeface="DM Sans" pitchFamily="34" charset="-120"/>
              </a:rPr>
              <a:t>completo</a:t>
            </a:r>
            <a:r>
              <a:rPr lang="en-US" sz="1600" dirty="0">
                <a:solidFill>
                  <a:srgbClr val="C9D3E0"/>
                </a:solidFill>
                <a:latin typeface="DM Sans" pitchFamily="34" charset="0"/>
                <a:ea typeface="DM Sans" pitchFamily="34" charset="-122"/>
                <a:cs typeface="DM Sans" pitchFamily="34" charset="-120"/>
              </a:rPr>
              <a:t> se </a:t>
            </a:r>
            <a:r>
              <a:rPr lang="en-US" sz="1600" dirty="0" err="1">
                <a:solidFill>
                  <a:srgbClr val="C9D3E0"/>
                </a:solidFill>
                <a:latin typeface="DM Sans" pitchFamily="34" charset="0"/>
                <a:ea typeface="DM Sans" pitchFamily="34" charset="-122"/>
                <a:cs typeface="DM Sans" pitchFamily="34" charset="-120"/>
              </a:rPr>
              <a:t>incluye</a:t>
            </a:r>
            <a:r>
              <a:rPr lang="en-US" sz="1600" dirty="0">
                <a:solidFill>
                  <a:srgbClr val="C9D3E0"/>
                </a:solidFill>
                <a:latin typeface="DM Sans" pitchFamily="34" charset="0"/>
                <a:ea typeface="DM Sans" pitchFamily="34" charset="-122"/>
                <a:cs typeface="DM Sans" pitchFamily="34" charset="-120"/>
              </a:rPr>
              <a:t> </a:t>
            </a:r>
            <a:r>
              <a:rPr lang="en-US" sz="1600" dirty="0" err="1">
                <a:solidFill>
                  <a:srgbClr val="C9D3E0"/>
                </a:solidFill>
                <a:latin typeface="DM Sans" pitchFamily="34" charset="0"/>
                <a:ea typeface="DM Sans" pitchFamily="34" charset="-122"/>
                <a:cs typeface="DM Sans" pitchFamily="34" charset="-120"/>
              </a:rPr>
              <a:t>matriz</a:t>
            </a:r>
            <a:r>
              <a:rPr lang="en-US" sz="1600" dirty="0">
                <a:solidFill>
                  <a:srgbClr val="C9D3E0"/>
                </a:solidFill>
                <a:latin typeface="DM Sans" pitchFamily="34" charset="0"/>
                <a:ea typeface="DM Sans" pitchFamily="34" charset="-122"/>
                <a:cs typeface="DM Sans" pitchFamily="34" charset="-120"/>
              </a:rPr>
              <a:t> de </a:t>
            </a:r>
            <a:r>
              <a:rPr lang="en-US" sz="1600" dirty="0" err="1">
                <a:solidFill>
                  <a:srgbClr val="C9D3E0"/>
                </a:solidFill>
                <a:latin typeface="DM Sans" pitchFamily="34" charset="0"/>
                <a:ea typeface="DM Sans" pitchFamily="34" charset="-122"/>
                <a:cs typeface="DM Sans" pitchFamily="34" charset="-120"/>
              </a:rPr>
              <a:t>trazabilidad</a:t>
            </a:r>
            <a:r>
              <a:rPr lang="en-US" sz="1600" dirty="0">
                <a:solidFill>
                  <a:srgbClr val="C9D3E0"/>
                </a:solidFill>
                <a:latin typeface="DM Sans" pitchFamily="34" charset="0"/>
                <a:ea typeface="DM Sans" pitchFamily="34" charset="-122"/>
                <a:cs typeface="DM Sans" pitchFamily="34" charset="-120"/>
              </a:rPr>
              <a:t>, </a:t>
            </a:r>
            <a:r>
              <a:rPr lang="en-US" sz="1600" dirty="0" err="1">
                <a:solidFill>
                  <a:srgbClr val="C9D3E0"/>
                </a:solidFill>
                <a:latin typeface="DM Sans" pitchFamily="34" charset="0"/>
                <a:ea typeface="DM Sans" pitchFamily="34" charset="-122"/>
                <a:cs typeface="DM Sans" pitchFamily="34" charset="-120"/>
              </a:rPr>
              <a:t>fichas</a:t>
            </a:r>
            <a:r>
              <a:rPr lang="en-US" sz="1600" dirty="0">
                <a:solidFill>
                  <a:srgbClr val="C9D3E0"/>
                </a:solidFill>
                <a:latin typeface="DM Sans" pitchFamily="34" charset="0"/>
                <a:ea typeface="DM Sans" pitchFamily="34" charset="-122"/>
                <a:cs typeface="DM Sans" pitchFamily="34" charset="-120"/>
              </a:rPr>
              <a:t> de bugs y </a:t>
            </a:r>
            <a:r>
              <a:rPr lang="en-US" sz="1600" dirty="0" err="1">
                <a:solidFill>
                  <a:srgbClr val="C9D3E0"/>
                </a:solidFill>
                <a:latin typeface="DM Sans" pitchFamily="34" charset="0"/>
                <a:ea typeface="DM Sans" pitchFamily="34" charset="-122"/>
                <a:cs typeface="DM Sans" pitchFamily="34" charset="-120"/>
              </a:rPr>
              <a:t>evidencias</a:t>
            </a:r>
            <a:r>
              <a:rPr lang="en-US" sz="1600" dirty="0">
                <a:solidFill>
                  <a:srgbClr val="C9D3E0"/>
                </a:solidFill>
                <a:latin typeface="DM Sans" pitchFamily="34" charset="0"/>
                <a:ea typeface="DM Sans" pitchFamily="34" charset="-122"/>
                <a:cs typeface="DM Sans" pitchFamily="34" charset="-120"/>
              </a:rPr>
              <a:t> </a:t>
            </a:r>
            <a:r>
              <a:rPr lang="en-US" sz="1600" dirty="0" err="1">
                <a:solidFill>
                  <a:srgbClr val="C9D3E0"/>
                </a:solidFill>
                <a:latin typeface="DM Sans" pitchFamily="34" charset="0"/>
                <a:ea typeface="DM Sans" pitchFamily="34" charset="-122"/>
                <a:cs typeface="DM Sans" pitchFamily="34" charset="-120"/>
              </a:rPr>
              <a:t>por</a:t>
            </a:r>
            <a:r>
              <a:rPr lang="en-US" sz="1600" dirty="0">
                <a:solidFill>
                  <a:srgbClr val="C9D3E0"/>
                </a:solidFill>
                <a:latin typeface="DM Sans" pitchFamily="34" charset="0"/>
                <a:ea typeface="DM Sans" pitchFamily="34" charset="-122"/>
                <a:cs typeface="DM Sans" pitchFamily="34" charset="-120"/>
              </a:rPr>
              <a:t> </a:t>
            </a:r>
            <a:r>
              <a:rPr lang="en-US" sz="1600" dirty="0" err="1">
                <a:solidFill>
                  <a:srgbClr val="C9D3E0"/>
                </a:solidFill>
                <a:latin typeface="DM Sans" pitchFamily="34" charset="0"/>
                <a:ea typeface="DM Sans" pitchFamily="34" charset="-122"/>
                <a:cs typeface="DM Sans" pitchFamily="34" charset="-120"/>
              </a:rPr>
              <a:t>caso</a:t>
            </a:r>
            <a:r>
              <a:rPr lang="en-US" sz="1600" dirty="0">
                <a:solidFill>
                  <a:srgbClr val="C9D3E0"/>
                </a:solidFill>
                <a:latin typeface="DM Sans" pitchFamily="34" charset="0"/>
                <a:ea typeface="DM Sans" pitchFamily="34" charset="-122"/>
                <a:cs typeface="DM Sans" pitchFamily="34" charset="-120"/>
              </a:rPr>
              <a:t>.</a:t>
            </a:r>
            <a:endParaRPr lang="en-US" sz="1600" dirty="0"/>
          </a:p>
        </p:txBody>
      </p:sp>
      <p:sp>
        <p:nvSpPr>
          <p:cNvPr id="5" name="Text 3"/>
          <p:cNvSpPr/>
          <p:nvPr/>
        </p:nvSpPr>
        <p:spPr>
          <a:xfrm>
            <a:off x="6400800" y="1859279"/>
            <a:ext cx="5127752" cy="274320"/>
          </a:xfrm>
          <a:prstGeom prst="rect">
            <a:avLst/>
          </a:prstGeom>
          <a:noFill/>
          <a:ln/>
        </p:spPr>
        <p:txBody>
          <a:bodyPr wrap="square" lIns="0" tIns="0" rIns="0" bIns="0" rtlCol="0" anchor="t">
            <a:normAutofit/>
          </a:bodyPr>
          <a:lstStyle/>
          <a:p>
            <a:pPr marL="0" indent="0" algn="l">
              <a:lnSpc>
                <a:spcPts val="1960"/>
              </a:lnSpc>
              <a:buNone/>
            </a:pPr>
            <a:r>
              <a:rPr lang="en-US" sz="1400" b="1" kern="0" spc="150" dirty="0">
                <a:solidFill>
                  <a:srgbClr val="E8A04F"/>
                </a:solidFill>
                <a:latin typeface="DM Sans" pitchFamily="34" charset="0"/>
                <a:ea typeface="DM Sans" pitchFamily="34" charset="-122"/>
                <a:cs typeface="DM Sans" pitchFamily="34" charset="-120"/>
              </a:rPr>
              <a:t>EQUIPO Y ROLES SCRUM</a:t>
            </a:r>
            <a:endParaRPr lang="en-US" sz="14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6410960" y="2245360"/>
          <a:ext cx="4968240" cy="2550160"/>
        </p:xfrm>
        <a:graphic>
          <a:graphicData uri="http://schemas.openxmlformats.org/drawingml/2006/table">
            <a:tbl>
              <a:tblPr/>
              <a:tblGrid>
                <a:gridCol w="2235708">
                  <a:extLst>
                    <a:ext uri="{9D8B030D-6E8A-4147-A177-3AD203B41FA5}">
                      <a16:colId xmlns:a16="http://schemas.microsoft.com/office/drawing/2014/main" val="20000"/>
                    </a:ext>
                  </a:extLst>
                </a:gridCol>
                <a:gridCol w="2732532">
                  <a:extLst>
                    <a:ext uri="{9D8B030D-6E8A-4147-A177-3AD203B41FA5}">
                      <a16:colId xmlns:a16="http://schemas.microsoft.com/office/drawing/2014/main" val="20001"/>
                    </a:ext>
                  </a:extLst>
                </a:gridCol>
              </a:tblGrid>
              <a:tr h="383540">
                <a:tc>
                  <a:txBody>
                    <a:bodyPr/>
                    <a:lstStyle/>
                    <a:p>
                      <a:pPr marL="0" indent="0">
                        <a:lnSpc>
                          <a:spcPts val="1960"/>
                        </a:lnSpc>
                        <a:buNone/>
                      </a:pPr>
                      <a:r>
                        <a:rPr lang="en-US" sz="1400" dirty="0">
                          <a:solidFill>
                            <a:srgbClr val="AEB9C9"/>
                          </a:solidFill>
                          <a:latin typeface="DM Sans" pitchFamily="34" charset="0"/>
                          <a:ea typeface="DM Sans" pitchFamily="34" charset="-122"/>
                          <a:cs typeface="DM Sans" pitchFamily="34" charset="-120"/>
                        </a:rPr>
                        <a:t>Scrum Master</a:t>
                      </a:r>
                      <a:endParaRPr lang="en-US" sz="1400" dirty="0">
                        <a:latin typeface="DM Sans" charset="0"/>
                        <a:ea typeface="DM Sans" charset="0"/>
                        <a:cs typeface="DM Sans" charset="0"/>
                      </a:endParaRPr>
                    </a:p>
                  </a:txBody>
                  <a:tcPr marL="62230" marR="62230" marT="62230" marB="62230">
                    <a:lnL w="12700" cap="flat" cmpd="sng" algn="ctr">
                      <a:solidFill>
                        <a:srgbClr val="455267"/>
                      </a:solidFill>
                      <a:prstDash val="solid"/>
                      <a:round/>
                      <a:headEnd type="none" w="med" len="med"/>
                      <a:tailEnd type="none" w="med" len="med"/>
                    </a:lnL>
                    <a:lnR w="12700" cap="flat" cmpd="sng" algn="ctr">
                      <a:solidFill>
                        <a:srgbClr val="455267"/>
                      </a:solidFill>
                      <a:prstDash val="solid"/>
                      <a:round/>
                      <a:headEnd type="none" w="med" len="med"/>
                      <a:tailEnd type="none" w="med" len="med"/>
                    </a:lnR>
                    <a:lnT w="12700" cap="flat" cmpd="sng" algn="ctr">
                      <a:solidFill>
                        <a:srgbClr val="455267"/>
                      </a:solidFill>
                      <a:prstDash val="solid"/>
                      <a:round/>
                      <a:headEnd type="none" w="med" len="med"/>
                      <a:tailEnd type="none" w="med" len="med"/>
                    </a:lnT>
                    <a:lnB w="12700" cap="flat" cmpd="sng" algn="ctr">
                      <a:solidFill>
                        <a:srgbClr val="455267"/>
                      </a:solidFill>
                      <a:prstDash val="solid"/>
                      <a:round/>
                      <a:headEnd type="none" w="med" len="med"/>
                      <a:tailEnd type="none" w="med" len="med"/>
                    </a:lnB>
                  </a:tcPr>
                </a:tc>
                <a:tc>
                  <a:txBody>
                    <a:bodyPr/>
                    <a:lstStyle/>
                    <a:p>
                      <a:pPr marL="0" indent="0">
                        <a:lnSpc>
                          <a:spcPts val="1960"/>
                        </a:lnSpc>
                        <a:buNone/>
                      </a:pPr>
                      <a:r>
                        <a:rPr lang="en-US" sz="1400" dirty="0">
                          <a:solidFill>
                            <a:srgbClr val="F5F3EC"/>
                          </a:solidFill>
                          <a:latin typeface="DM Sans" pitchFamily="34" charset="0"/>
                          <a:ea typeface="DM Sans" pitchFamily="34" charset="-122"/>
                          <a:cs typeface="DM Sans" pitchFamily="34" charset="-120"/>
                        </a:rPr>
                        <a:t>Cristhiam Samayoa</a:t>
                      </a:r>
                      <a:endParaRPr lang="en-US" sz="1400" dirty="0">
                        <a:latin typeface="DM Sans" charset="0"/>
                        <a:ea typeface="DM Sans" charset="0"/>
                        <a:cs typeface="DM Sans" charset="0"/>
                      </a:endParaRPr>
                    </a:p>
                  </a:txBody>
                  <a:tcPr marL="62230" marR="62230" marT="62230" marB="62230">
                    <a:lnL w="12700" cap="flat" cmpd="sng" algn="ctr">
                      <a:solidFill>
                        <a:srgbClr val="455267"/>
                      </a:solidFill>
                      <a:prstDash val="solid"/>
                      <a:round/>
                      <a:headEnd type="none" w="med" len="med"/>
                      <a:tailEnd type="none" w="med" len="med"/>
                    </a:lnL>
                    <a:lnR w="12700" cap="flat" cmpd="sng" algn="ctr">
                      <a:solidFill>
                        <a:srgbClr val="455267"/>
                      </a:solidFill>
                      <a:prstDash val="solid"/>
                      <a:round/>
                      <a:headEnd type="none" w="med" len="med"/>
                      <a:tailEnd type="none" w="med" len="med"/>
                    </a:lnR>
                    <a:lnT w="12700" cap="flat" cmpd="sng" algn="ctr">
                      <a:solidFill>
                        <a:srgbClr val="455267"/>
                      </a:solidFill>
                      <a:prstDash val="solid"/>
                      <a:round/>
                      <a:headEnd type="none" w="med" len="med"/>
                      <a:tailEnd type="none" w="med" len="med"/>
                    </a:lnT>
                    <a:lnB w="12700" cap="flat" cmpd="sng" algn="ctr">
                      <a:solidFill>
                        <a:srgbClr val="455267"/>
                      </a:solidFill>
                      <a:prstDash val="solid"/>
                      <a:round/>
                      <a:headEnd type="none" w="med" len="med"/>
                      <a:tailEnd type="none" w="med" len="med"/>
                    </a:lnB>
                  </a:tcPr>
                </a:tc>
                <a:extLst>
                  <a:ext uri="{0D108BD9-81ED-4DB2-BD59-A6C34878D82A}">
                    <a16:rowId xmlns:a16="http://schemas.microsoft.com/office/drawing/2014/main" val="10000"/>
                  </a:ext>
                </a:extLst>
              </a:tr>
              <a:tr h="383540">
                <a:tc>
                  <a:txBody>
                    <a:bodyPr/>
                    <a:lstStyle/>
                    <a:p>
                      <a:pPr marL="0" indent="0">
                        <a:lnSpc>
                          <a:spcPts val="1960"/>
                        </a:lnSpc>
                        <a:buNone/>
                      </a:pPr>
                      <a:r>
                        <a:rPr lang="en-US" sz="1400" dirty="0">
                          <a:solidFill>
                            <a:srgbClr val="AEB9C9"/>
                          </a:solidFill>
                          <a:latin typeface="DM Sans" pitchFamily="34" charset="0"/>
                          <a:ea typeface="DM Sans" pitchFamily="34" charset="-122"/>
                          <a:cs typeface="DM Sans" pitchFamily="34" charset="-120"/>
                        </a:rPr>
                        <a:t>Product Owner</a:t>
                      </a:r>
                      <a:endParaRPr lang="en-US" sz="1400" dirty="0">
                        <a:latin typeface="DM Sans" charset="0"/>
                        <a:ea typeface="DM Sans" charset="0"/>
                        <a:cs typeface="DM Sans" charset="0"/>
                      </a:endParaRPr>
                    </a:p>
                  </a:txBody>
                  <a:tcPr marL="62230" marR="62230" marT="62230" marB="62230">
                    <a:lnL w="12700" cap="flat" cmpd="sng" algn="ctr">
                      <a:solidFill>
                        <a:srgbClr val="455267"/>
                      </a:solidFill>
                      <a:prstDash val="solid"/>
                      <a:round/>
                      <a:headEnd type="none" w="med" len="med"/>
                      <a:tailEnd type="none" w="med" len="med"/>
                    </a:lnL>
                    <a:lnR w="12700" cap="flat" cmpd="sng" algn="ctr">
                      <a:solidFill>
                        <a:srgbClr val="455267"/>
                      </a:solidFill>
                      <a:prstDash val="solid"/>
                      <a:round/>
                      <a:headEnd type="none" w="med" len="med"/>
                      <a:tailEnd type="none" w="med" len="med"/>
                    </a:lnR>
                    <a:lnT w="12700" cap="flat" cmpd="sng" algn="ctr">
                      <a:solidFill>
                        <a:srgbClr val="455267"/>
                      </a:solidFill>
                      <a:prstDash val="solid"/>
                      <a:round/>
                      <a:headEnd type="none" w="med" len="med"/>
                      <a:tailEnd type="none" w="med" len="med"/>
                    </a:lnT>
                    <a:lnB w="12700" cap="flat" cmpd="sng" algn="ctr">
                      <a:solidFill>
                        <a:srgbClr val="455267"/>
                      </a:solidFill>
                      <a:prstDash val="solid"/>
                      <a:round/>
                      <a:headEnd type="none" w="med" len="med"/>
                      <a:tailEnd type="none" w="med" len="med"/>
                    </a:lnB>
                  </a:tcPr>
                </a:tc>
                <a:tc>
                  <a:txBody>
                    <a:bodyPr/>
                    <a:lstStyle/>
                    <a:p>
                      <a:pPr marL="0" indent="0">
                        <a:lnSpc>
                          <a:spcPts val="1960"/>
                        </a:lnSpc>
                        <a:buNone/>
                      </a:pPr>
                      <a:r>
                        <a:rPr lang="en-US" sz="1400" dirty="0">
                          <a:solidFill>
                            <a:srgbClr val="F5F3EC"/>
                          </a:solidFill>
                          <a:latin typeface="DM Sans" pitchFamily="34" charset="0"/>
                          <a:ea typeface="DM Sans" pitchFamily="34" charset="-122"/>
                          <a:cs typeface="DM Sans" pitchFamily="34" charset="-120"/>
                        </a:rPr>
                        <a:t>Edgar Díaz</a:t>
                      </a:r>
                      <a:endParaRPr lang="en-US" sz="1400" dirty="0">
                        <a:latin typeface="DM Sans" charset="0"/>
                        <a:ea typeface="DM Sans" charset="0"/>
                        <a:cs typeface="DM Sans" charset="0"/>
                      </a:endParaRPr>
                    </a:p>
                  </a:txBody>
                  <a:tcPr marL="62230" marR="62230" marT="62230" marB="62230">
                    <a:lnL w="12700" cap="flat" cmpd="sng" algn="ctr">
                      <a:solidFill>
                        <a:srgbClr val="455267"/>
                      </a:solidFill>
                      <a:prstDash val="solid"/>
                      <a:round/>
                      <a:headEnd type="none" w="med" len="med"/>
                      <a:tailEnd type="none" w="med" len="med"/>
                    </a:lnL>
                    <a:lnR w="12700" cap="flat" cmpd="sng" algn="ctr">
                      <a:solidFill>
                        <a:srgbClr val="455267"/>
                      </a:solidFill>
                      <a:prstDash val="solid"/>
                      <a:round/>
                      <a:headEnd type="none" w="med" len="med"/>
                      <a:tailEnd type="none" w="med" len="med"/>
                    </a:lnR>
                    <a:lnT w="12700" cap="flat" cmpd="sng" algn="ctr">
                      <a:solidFill>
                        <a:srgbClr val="455267"/>
                      </a:solidFill>
                      <a:prstDash val="solid"/>
                      <a:round/>
                      <a:headEnd type="none" w="med" len="med"/>
                      <a:tailEnd type="none" w="med" len="med"/>
                    </a:lnT>
                    <a:lnB w="12700" cap="flat" cmpd="sng" algn="ctr">
                      <a:solidFill>
                        <a:srgbClr val="455267"/>
                      </a:solidFill>
                      <a:prstDash val="solid"/>
                      <a:round/>
                      <a:headEnd type="none" w="med" len="med"/>
                      <a:tailEnd type="none" w="med" len="med"/>
                    </a:lnB>
                  </a:tcPr>
                </a:tc>
                <a:extLst>
                  <a:ext uri="{0D108BD9-81ED-4DB2-BD59-A6C34878D82A}">
                    <a16:rowId xmlns:a16="http://schemas.microsoft.com/office/drawing/2014/main" val="10001"/>
                  </a:ext>
                </a:extLst>
              </a:tr>
              <a:tr h="383540">
                <a:tc>
                  <a:txBody>
                    <a:bodyPr/>
                    <a:lstStyle/>
                    <a:p>
                      <a:pPr marL="0" indent="0">
                        <a:lnSpc>
                          <a:spcPts val="1960"/>
                        </a:lnSpc>
                        <a:buNone/>
                      </a:pPr>
                      <a:r>
                        <a:rPr lang="en-US" sz="1400" dirty="0">
                          <a:solidFill>
                            <a:srgbClr val="AEB9C9"/>
                          </a:solidFill>
                          <a:latin typeface="DM Sans" pitchFamily="34" charset="0"/>
                          <a:ea typeface="DM Sans" pitchFamily="34" charset="-122"/>
                          <a:cs typeface="DM Sans" pitchFamily="34" charset="-120"/>
                        </a:rPr>
                        <a:t>QA</a:t>
                      </a:r>
                      <a:endParaRPr lang="en-US" sz="1400" dirty="0">
                        <a:latin typeface="DM Sans" charset="0"/>
                        <a:ea typeface="DM Sans" charset="0"/>
                        <a:cs typeface="DM Sans" charset="0"/>
                      </a:endParaRPr>
                    </a:p>
                  </a:txBody>
                  <a:tcPr marL="62230" marR="62230" marT="62230" marB="62230">
                    <a:lnL w="12700" cap="flat" cmpd="sng" algn="ctr">
                      <a:solidFill>
                        <a:srgbClr val="455267"/>
                      </a:solidFill>
                      <a:prstDash val="solid"/>
                      <a:round/>
                      <a:headEnd type="none" w="med" len="med"/>
                      <a:tailEnd type="none" w="med" len="med"/>
                    </a:lnL>
                    <a:lnR w="12700" cap="flat" cmpd="sng" algn="ctr">
                      <a:solidFill>
                        <a:srgbClr val="455267"/>
                      </a:solidFill>
                      <a:prstDash val="solid"/>
                      <a:round/>
                      <a:headEnd type="none" w="med" len="med"/>
                      <a:tailEnd type="none" w="med" len="med"/>
                    </a:lnR>
                    <a:lnT w="12700" cap="flat" cmpd="sng" algn="ctr">
                      <a:solidFill>
                        <a:srgbClr val="455267"/>
                      </a:solidFill>
                      <a:prstDash val="solid"/>
                      <a:round/>
                      <a:headEnd type="none" w="med" len="med"/>
                      <a:tailEnd type="none" w="med" len="med"/>
                    </a:lnT>
                    <a:lnB w="12700" cap="flat" cmpd="sng" algn="ctr">
                      <a:solidFill>
                        <a:srgbClr val="455267"/>
                      </a:solidFill>
                      <a:prstDash val="solid"/>
                      <a:round/>
                      <a:headEnd type="none" w="med" len="med"/>
                      <a:tailEnd type="none" w="med" len="med"/>
                    </a:lnB>
                  </a:tcPr>
                </a:tc>
                <a:tc>
                  <a:txBody>
                    <a:bodyPr/>
                    <a:lstStyle/>
                    <a:p>
                      <a:pPr marL="0" indent="0">
                        <a:lnSpc>
                          <a:spcPts val="1960"/>
                        </a:lnSpc>
                        <a:buNone/>
                      </a:pPr>
                      <a:r>
                        <a:rPr lang="en-US" sz="1400" dirty="0">
                          <a:solidFill>
                            <a:srgbClr val="F5F3EC"/>
                          </a:solidFill>
                          <a:latin typeface="DM Sans" pitchFamily="34" charset="0"/>
                          <a:ea typeface="DM Sans" pitchFamily="34" charset="-122"/>
                          <a:cs typeface="DM Sans" pitchFamily="34" charset="-120"/>
                        </a:rPr>
                        <a:t>Emilio Schaad</a:t>
                      </a:r>
                      <a:endParaRPr lang="en-US" sz="1400" dirty="0">
                        <a:latin typeface="DM Sans" charset="0"/>
                        <a:ea typeface="DM Sans" charset="0"/>
                        <a:cs typeface="DM Sans" charset="0"/>
                      </a:endParaRPr>
                    </a:p>
                  </a:txBody>
                  <a:tcPr marL="62230" marR="62230" marT="62230" marB="62230">
                    <a:lnL w="12700" cap="flat" cmpd="sng" algn="ctr">
                      <a:solidFill>
                        <a:srgbClr val="455267"/>
                      </a:solidFill>
                      <a:prstDash val="solid"/>
                      <a:round/>
                      <a:headEnd type="none" w="med" len="med"/>
                      <a:tailEnd type="none" w="med" len="med"/>
                    </a:lnL>
                    <a:lnR w="12700" cap="flat" cmpd="sng" algn="ctr">
                      <a:solidFill>
                        <a:srgbClr val="455267"/>
                      </a:solidFill>
                      <a:prstDash val="solid"/>
                      <a:round/>
                      <a:headEnd type="none" w="med" len="med"/>
                      <a:tailEnd type="none" w="med" len="med"/>
                    </a:lnR>
                    <a:lnT w="12700" cap="flat" cmpd="sng" algn="ctr">
                      <a:solidFill>
                        <a:srgbClr val="455267"/>
                      </a:solidFill>
                      <a:prstDash val="solid"/>
                      <a:round/>
                      <a:headEnd type="none" w="med" len="med"/>
                      <a:tailEnd type="none" w="med" len="med"/>
                    </a:lnT>
                    <a:lnB w="12700" cap="flat" cmpd="sng" algn="ctr">
                      <a:solidFill>
                        <a:srgbClr val="455267"/>
                      </a:solidFill>
                      <a:prstDash val="solid"/>
                      <a:round/>
                      <a:headEnd type="none" w="med" len="med"/>
                      <a:tailEnd type="none" w="med" len="med"/>
                    </a:lnB>
                  </a:tcPr>
                </a:tc>
                <a:extLst>
                  <a:ext uri="{0D108BD9-81ED-4DB2-BD59-A6C34878D82A}">
                    <a16:rowId xmlns:a16="http://schemas.microsoft.com/office/drawing/2014/main" val="10002"/>
                  </a:ext>
                </a:extLst>
              </a:tr>
              <a:tr h="383540">
                <a:tc>
                  <a:txBody>
                    <a:bodyPr/>
                    <a:lstStyle/>
                    <a:p>
                      <a:pPr marL="0" indent="0">
                        <a:lnSpc>
                          <a:spcPts val="1960"/>
                        </a:lnSpc>
                        <a:buNone/>
                      </a:pPr>
                      <a:r>
                        <a:rPr lang="en-US" sz="1400" dirty="0">
                          <a:solidFill>
                            <a:srgbClr val="AEB9C9"/>
                          </a:solidFill>
                          <a:latin typeface="DM Sans" pitchFamily="34" charset="0"/>
                          <a:ea typeface="DM Sans" pitchFamily="34" charset="-122"/>
                          <a:cs typeface="DM Sans" pitchFamily="34" charset="-120"/>
                        </a:rPr>
                        <a:t>SQA</a:t>
                      </a:r>
                      <a:endParaRPr lang="en-US" sz="1400" dirty="0">
                        <a:latin typeface="DM Sans" charset="0"/>
                        <a:ea typeface="DM Sans" charset="0"/>
                        <a:cs typeface="DM Sans" charset="0"/>
                      </a:endParaRPr>
                    </a:p>
                  </a:txBody>
                  <a:tcPr marL="62230" marR="62230" marT="62230" marB="62230">
                    <a:lnL w="12700" cap="flat" cmpd="sng" algn="ctr">
                      <a:solidFill>
                        <a:srgbClr val="455267"/>
                      </a:solidFill>
                      <a:prstDash val="solid"/>
                      <a:round/>
                      <a:headEnd type="none" w="med" len="med"/>
                      <a:tailEnd type="none" w="med" len="med"/>
                    </a:lnL>
                    <a:lnR w="12700" cap="flat" cmpd="sng" algn="ctr">
                      <a:solidFill>
                        <a:srgbClr val="455267"/>
                      </a:solidFill>
                      <a:prstDash val="solid"/>
                      <a:round/>
                      <a:headEnd type="none" w="med" len="med"/>
                      <a:tailEnd type="none" w="med" len="med"/>
                    </a:lnR>
                    <a:lnT w="12700" cap="flat" cmpd="sng" algn="ctr">
                      <a:solidFill>
                        <a:srgbClr val="455267"/>
                      </a:solidFill>
                      <a:prstDash val="solid"/>
                      <a:round/>
                      <a:headEnd type="none" w="med" len="med"/>
                      <a:tailEnd type="none" w="med" len="med"/>
                    </a:lnT>
                    <a:lnB w="12700" cap="flat" cmpd="sng" algn="ctr">
                      <a:solidFill>
                        <a:srgbClr val="455267"/>
                      </a:solidFill>
                      <a:prstDash val="solid"/>
                      <a:round/>
                      <a:headEnd type="none" w="med" len="med"/>
                      <a:tailEnd type="none" w="med" len="med"/>
                    </a:lnB>
                  </a:tcPr>
                </a:tc>
                <a:tc>
                  <a:txBody>
                    <a:bodyPr/>
                    <a:lstStyle/>
                    <a:p>
                      <a:pPr marL="0" indent="0">
                        <a:lnSpc>
                          <a:spcPts val="1960"/>
                        </a:lnSpc>
                        <a:buNone/>
                      </a:pPr>
                      <a:r>
                        <a:rPr lang="en-US" sz="1400" dirty="0">
                          <a:solidFill>
                            <a:srgbClr val="F5F3EC"/>
                          </a:solidFill>
                          <a:latin typeface="DM Sans" pitchFamily="34" charset="0"/>
                          <a:ea typeface="DM Sans" pitchFamily="34" charset="-122"/>
                          <a:cs typeface="DM Sans" pitchFamily="34" charset="-120"/>
                        </a:rPr>
                        <a:t>Guillermo Ortiz</a:t>
                      </a:r>
                      <a:endParaRPr lang="en-US" sz="1400" dirty="0">
                        <a:latin typeface="DM Sans" charset="0"/>
                        <a:ea typeface="DM Sans" charset="0"/>
                        <a:cs typeface="DM Sans" charset="0"/>
                      </a:endParaRPr>
                    </a:p>
                  </a:txBody>
                  <a:tcPr marL="62230" marR="62230" marT="62230" marB="62230">
                    <a:lnL w="12700" cap="flat" cmpd="sng" algn="ctr">
                      <a:solidFill>
                        <a:srgbClr val="455267"/>
                      </a:solidFill>
                      <a:prstDash val="solid"/>
                      <a:round/>
                      <a:headEnd type="none" w="med" len="med"/>
                      <a:tailEnd type="none" w="med" len="med"/>
                    </a:lnL>
                    <a:lnR w="12700" cap="flat" cmpd="sng" algn="ctr">
                      <a:solidFill>
                        <a:srgbClr val="455267"/>
                      </a:solidFill>
                      <a:prstDash val="solid"/>
                      <a:round/>
                      <a:headEnd type="none" w="med" len="med"/>
                      <a:tailEnd type="none" w="med" len="med"/>
                    </a:lnR>
                    <a:lnT w="12700" cap="flat" cmpd="sng" algn="ctr">
                      <a:solidFill>
                        <a:srgbClr val="455267"/>
                      </a:solidFill>
                      <a:prstDash val="solid"/>
                      <a:round/>
                      <a:headEnd type="none" w="med" len="med"/>
                      <a:tailEnd type="none" w="med" len="med"/>
                    </a:lnT>
                    <a:lnB w="12700" cap="flat" cmpd="sng" algn="ctr">
                      <a:solidFill>
                        <a:srgbClr val="455267"/>
                      </a:solidFill>
                      <a:prstDash val="solid"/>
                      <a:round/>
                      <a:headEnd type="none" w="med" len="med"/>
                      <a:tailEnd type="none" w="med" len="med"/>
                    </a:lnB>
                  </a:tcPr>
                </a:tc>
                <a:extLst>
                  <a:ext uri="{0D108BD9-81ED-4DB2-BD59-A6C34878D82A}">
                    <a16:rowId xmlns:a16="http://schemas.microsoft.com/office/drawing/2014/main" val="10003"/>
                  </a:ext>
                </a:extLst>
              </a:tr>
              <a:tr h="383540">
                <a:tc>
                  <a:txBody>
                    <a:bodyPr/>
                    <a:lstStyle/>
                    <a:p>
                      <a:pPr marL="0" indent="0">
                        <a:lnSpc>
                          <a:spcPts val="1960"/>
                        </a:lnSpc>
                        <a:buNone/>
                      </a:pPr>
                      <a:r>
                        <a:rPr lang="en-US" sz="1400" dirty="0">
                          <a:solidFill>
                            <a:srgbClr val="AEB9C9"/>
                          </a:solidFill>
                          <a:latin typeface="DM Sans" pitchFamily="34" charset="0"/>
                          <a:ea typeface="DM Sans" pitchFamily="34" charset="-122"/>
                          <a:cs typeface="DM Sans" pitchFamily="34" charset="-120"/>
                        </a:rPr>
                        <a:t>Developer</a:t>
                      </a:r>
                      <a:endParaRPr lang="en-US" sz="1400" dirty="0">
                        <a:latin typeface="DM Sans" charset="0"/>
                        <a:ea typeface="DM Sans" charset="0"/>
                        <a:cs typeface="DM Sans" charset="0"/>
                      </a:endParaRPr>
                    </a:p>
                  </a:txBody>
                  <a:tcPr marL="62230" marR="62230" marT="62230" marB="62230">
                    <a:lnL w="12700" cap="flat" cmpd="sng" algn="ctr">
                      <a:solidFill>
                        <a:srgbClr val="455267"/>
                      </a:solidFill>
                      <a:prstDash val="solid"/>
                      <a:round/>
                      <a:headEnd type="none" w="med" len="med"/>
                      <a:tailEnd type="none" w="med" len="med"/>
                    </a:lnL>
                    <a:lnR w="12700" cap="flat" cmpd="sng" algn="ctr">
                      <a:solidFill>
                        <a:srgbClr val="455267"/>
                      </a:solidFill>
                      <a:prstDash val="solid"/>
                      <a:round/>
                      <a:headEnd type="none" w="med" len="med"/>
                      <a:tailEnd type="none" w="med" len="med"/>
                    </a:lnR>
                    <a:lnT w="12700" cap="flat" cmpd="sng" algn="ctr">
                      <a:solidFill>
                        <a:srgbClr val="455267"/>
                      </a:solidFill>
                      <a:prstDash val="solid"/>
                      <a:round/>
                      <a:headEnd type="none" w="med" len="med"/>
                      <a:tailEnd type="none" w="med" len="med"/>
                    </a:lnT>
                    <a:lnB w="12700" cap="flat" cmpd="sng" algn="ctr">
                      <a:solidFill>
                        <a:srgbClr val="455267"/>
                      </a:solidFill>
                      <a:prstDash val="solid"/>
                      <a:round/>
                      <a:headEnd type="none" w="med" len="med"/>
                      <a:tailEnd type="none" w="med" len="med"/>
                    </a:lnB>
                  </a:tcPr>
                </a:tc>
                <a:tc>
                  <a:txBody>
                    <a:bodyPr/>
                    <a:lstStyle/>
                    <a:p>
                      <a:pPr marL="0" indent="0">
                        <a:lnSpc>
                          <a:spcPts val="1960"/>
                        </a:lnSpc>
                        <a:buNone/>
                      </a:pPr>
                      <a:r>
                        <a:rPr lang="en-US" sz="1400" dirty="0">
                          <a:solidFill>
                            <a:srgbClr val="F5F3EC"/>
                          </a:solidFill>
                          <a:latin typeface="DM Sans" pitchFamily="34" charset="0"/>
                          <a:ea typeface="DM Sans" pitchFamily="34" charset="-122"/>
                          <a:cs typeface="DM Sans" pitchFamily="34" charset="-120"/>
                        </a:rPr>
                        <a:t>Herber Godoy</a:t>
                      </a:r>
                      <a:endParaRPr lang="en-US" sz="1400" dirty="0">
                        <a:latin typeface="DM Sans" charset="0"/>
                        <a:ea typeface="DM Sans" charset="0"/>
                        <a:cs typeface="DM Sans" charset="0"/>
                      </a:endParaRPr>
                    </a:p>
                  </a:txBody>
                  <a:tcPr marL="62230" marR="62230" marT="62230" marB="62230">
                    <a:lnL w="12700" cap="flat" cmpd="sng" algn="ctr">
                      <a:solidFill>
                        <a:srgbClr val="455267"/>
                      </a:solidFill>
                      <a:prstDash val="solid"/>
                      <a:round/>
                      <a:headEnd type="none" w="med" len="med"/>
                      <a:tailEnd type="none" w="med" len="med"/>
                    </a:lnL>
                    <a:lnR w="12700" cap="flat" cmpd="sng" algn="ctr">
                      <a:solidFill>
                        <a:srgbClr val="455267"/>
                      </a:solidFill>
                      <a:prstDash val="solid"/>
                      <a:round/>
                      <a:headEnd type="none" w="med" len="med"/>
                      <a:tailEnd type="none" w="med" len="med"/>
                    </a:lnR>
                    <a:lnT w="12700" cap="flat" cmpd="sng" algn="ctr">
                      <a:solidFill>
                        <a:srgbClr val="455267"/>
                      </a:solidFill>
                      <a:prstDash val="solid"/>
                      <a:round/>
                      <a:headEnd type="none" w="med" len="med"/>
                      <a:tailEnd type="none" w="med" len="med"/>
                    </a:lnT>
                    <a:lnB w="12700" cap="flat" cmpd="sng" algn="ctr">
                      <a:solidFill>
                        <a:srgbClr val="455267"/>
                      </a:solidFill>
                      <a:prstDash val="solid"/>
                      <a:round/>
                      <a:headEnd type="none" w="med" len="med"/>
                      <a:tailEnd type="none" w="med" len="med"/>
                    </a:lnB>
                  </a:tcPr>
                </a:tc>
                <a:extLst>
                  <a:ext uri="{0D108BD9-81ED-4DB2-BD59-A6C34878D82A}">
                    <a16:rowId xmlns:a16="http://schemas.microsoft.com/office/drawing/2014/main" val="10004"/>
                  </a:ext>
                </a:extLst>
              </a:tr>
              <a:tr h="632460">
                <a:tc>
                  <a:txBody>
                    <a:bodyPr/>
                    <a:lstStyle/>
                    <a:p>
                      <a:pPr marL="0" indent="0">
                        <a:lnSpc>
                          <a:spcPts val="1960"/>
                        </a:lnSpc>
                        <a:buNone/>
                      </a:pPr>
                      <a:r>
                        <a:rPr lang="en-US" sz="1400" dirty="0">
                          <a:solidFill>
                            <a:srgbClr val="AEB9C9"/>
                          </a:solidFill>
                          <a:latin typeface="DM Sans" pitchFamily="34" charset="0"/>
                          <a:ea typeface="DM Sans" pitchFamily="34" charset="-122"/>
                          <a:cs typeface="DM Sans" pitchFamily="34" charset="-120"/>
                        </a:rPr>
                        <a:t>Líder Técnico y Arquitecto</a:t>
                      </a:r>
                      <a:endParaRPr lang="en-US" sz="1400" dirty="0">
                        <a:latin typeface="DM Sans" charset="0"/>
                        <a:ea typeface="DM Sans" charset="0"/>
                        <a:cs typeface="DM Sans" charset="0"/>
                      </a:endParaRPr>
                    </a:p>
                  </a:txBody>
                  <a:tcPr marL="62230" marR="62230" marT="62230" marB="62230">
                    <a:lnL w="12700" cap="flat" cmpd="sng" algn="ctr">
                      <a:solidFill>
                        <a:srgbClr val="455267"/>
                      </a:solidFill>
                      <a:prstDash val="solid"/>
                      <a:round/>
                      <a:headEnd type="none" w="med" len="med"/>
                      <a:tailEnd type="none" w="med" len="med"/>
                    </a:lnL>
                    <a:lnR w="12700" cap="flat" cmpd="sng" algn="ctr">
                      <a:solidFill>
                        <a:srgbClr val="455267"/>
                      </a:solidFill>
                      <a:prstDash val="solid"/>
                      <a:round/>
                      <a:headEnd type="none" w="med" len="med"/>
                      <a:tailEnd type="none" w="med" len="med"/>
                    </a:lnR>
                    <a:lnT w="12700" cap="flat" cmpd="sng" algn="ctr">
                      <a:solidFill>
                        <a:srgbClr val="455267"/>
                      </a:solidFill>
                      <a:prstDash val="solid"/>
                      <a:round/>
                      <a:headEnd type="none" w="med" len="med"/>
                      <a:tailEnd type="none" w="med" len="med"/>
                    </a:lnT>
                    <a:lnB w="12700" cap="flat" cmpd="sng" algn="ctr">
                      <a:solidFill>
                        <a:srgbClr val="455267"/>
                      </a:solidFill>
                      <a:prstDash val="solid"/>
                      <a:round/>
                      <a:headEnd type="none" w="med" len="med"/>
                      <a:tailEnd type="none" w="med" len="med"/>
                    </a:lnB>
                  </a:tcPr>
                </a:tc>
                <a:tc>
                  <a:txBody>
                    <a:bodyPr/>
                    <a:lstStyle/>
                    <a:p>
                      <a:pPr marL="0" indent="0">
                        <a:lnSpc>
                          <a:spcPts val="1960"/>
                        </a:lnSpc>
                        <a:buNone/>
                      </a:pPr>
                      <a:r>
                        <a:rPr lang="en-US" sz="1400" dirty="0">
                          <a:solidFill>
                            <a:srgbClr val="F5F3EC"/>
                          </a:solidFill>
                          <a:latin typeface="DM Sans" pitchFamily="34" charset="0"/>
                          <a:ea typeface="DM Sans" pitchFamily="34" charset="-122"/>
                          <a:cs typeface="DM Sans" pitchFamily="34" charset="-120"/>
                        </a:rPr>
                        <a:t>Daniel Contreras</a:t>
                      </a:r>
                      <a:endParaRPr lang="en-US" sz="1400" dirty="0">
                        <a:latin typeface="DM Sans" charset="0"/>
                        <a:ea typeface="DM Sans" charset="0"/>
                        <a:cs typeface="DM Sans" charset="0"/>
                      </a:endParaRPr>
                    </a:p>
                  </a:txBody>
                  <a:tcPr marL="62230" marR="62230" marT="62230" marB="62230">
                    <a:lnL w="12700" cap="flat" cmpd="sng" algn="ctr">
                      <a:solidFill>
                        <a:srgbClr val="455267"/>
                      </a:solidFill>
                      <a:prstDash val="solid"/>
                      <a:round/>
                      <a:headEnd type="none" w="med" len="med"/>
                      <a:tailEnd type="none" w="med" len="med"/>
                    </a:lnL>
                    <a:lnR w="12700" cap="flat" cmpd="sng" algn="ctr">
                      <a:solidFill>
                        <a:srgbClr val="455267"/>
                      </a:solidFill>
                      <a:prstDash val="solid"/>
                      <a:round/>
                      <a:headEnd type="none" w="med" len="med"/>
                      <a:tailEnd type="none" w="med" len="med"/>
                    </a:lnR>
                    <a:lnT w="12700" cap="flat" cmpd="sng" algn="ctr">
                      <a:solidFill>
                        <a:srgbClr val="455267"/>
                      </a:solidFill>
                      <a:prstDash val="solid"/>
                      <a:round/>
                      <a:headEnd type="none" w="med" len="med"/>
                      <a:tailEnd type="none" w="med" len="med"/>
                    </a:lnT>
                    <a:lnB w="12700" cap="flat" cmpd="sng" algn="ctr">
                      <a:solidFill>
                        <a:srgbClr val="455267"/>
                      </a:solidFill>
                      <a:prstDash val="solid"/>
                      <a:round/>
                      <a:headEnd type="none" w="med" len="med"/>
                      <a:tailEnd type="none" w="med" len="med"/>
                    </a:lnB>
                  </a:tcPr>
                </a:tc>
                <a:extLst>
                  <a:ext uri="{0D108BD9-81ED-4DB2-BD59-A6C34878D82A}">
                    <a16:rowId xmlns:a16="http://schemas.microsoft.com/office/drawing/2014/main" val="10005"/>
                  </a:ext>
                </a:extLst>
              </a:tr>
            </a:tbl>
          </a:graphicData>
        </a:graphic>
      </p:graphicFrame>
      <p:sp>
        <p:nvSpPr>
          <p:cNvPr id="7" name="Text 4"/>
          <p:cNvSpPr/>
          <p:nvPr/>
        </p:nvSpPr>
        <p:spPr>
          <a:xfrm>
            <a:off x="812800" y="6238242"/>
            <a:ext cx="7848600" cy="23876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AEB9C9"/>
                </a:solidFill>
                <a:latin typeface="DM Sans" pitchFamily="34" charset="0"/>
                <a:ea typeface="DM Sans" pitchFamily="34" charset="-122"/>
                <a:cs typeface="DM Sans" pitchFamily="34" charset="-120"/>
              </a:rPr>
              <a:t>Universidad Mariano Gálvez de Guatemala · Plan Sábado</a:t>
            </a:r>
            <a:endParaRPr lang="en-US" sz="1200" dirty="0"/>
          </a:p>
        </p:txBody>
      </p:sp>
      <p:sp>
        <p:nvSpPr>
          <p:cNvPr id="8" name="Text 5"/>
          <p:cNvSpPr/>
          <p:nvPr/>
        </p:nvSpPr>
        <p:spPr>
          <a:xfrm>
            <a:off x="10058400" y="6238242"/>
            <a:ext cx="1320800" cy="238760"/>
          </a:xfrm>
          <a:prstGeom prst="rect">
            <a:avLst/>
          </a:prstGeom>
          <a:noFill/>
          <a:ln/>
        </p:spPr>
        <p:txBody>
          <a:bodyPr wrap="square" lIns="0" tIns="0" rIns="0" bIns="0" rtlCol="0" anchor="t">
            <a:normAutofit/>
          </a:bodyPr>
          <a:lstStyle/>
          <a:p>
            <a:pPr marL="0" indent="0" algn="r">
              <a:lnSpc>
                <a:spcPts val="1680"/>
              </a:lnSpc>
              <a:buNone/>
            </a:pPr>
            <a:r>
              <a:rPr lang="en-US" sz="1200" dirty="0">
                <a:solidFill>
                  <a:srgbClr val="AEB9C9"/>
                </a:solidFill>
                <a:latin typeface="DM Sans" pitchFamily="34" charset="0"/>
                <a:ea typeface="DM Sans" pitchFamily="34" charset="-122"/>
                <a:cs typeface="DM Sans" pitchFamily="34" charset="-120"/>
              </a:rPr>
              <a:t>12</a:t>
            </a:r>
            <a:endParaRPr lang="en-US" sz="1200" dirty="0"/>
          </a:p>
        </p:txBody>
      </p:sp>
    </p:spTree>
  </p:cSld>
  <p:clrMapOvr>
    <a:masterClrMapping/>
  </p:clrMapOvr>
</p:sld>
</file>

<file path=ppt/theme/theme1.xml><?xml version="1.0" encoding="utf-8"?>
<a:theme xmlns:a="http://schemas.openxmlformats.org/drawingml/2006/main" name="QA FrontAccounting 2.4.20 — Resumen ejecutivo">
  <a:themeElements>
    <a:clrScheme name="QA FrontAccounting 2.4.20 — Resumen ejecutivo">
      <a:dk1>
        <a:srgbClr val="12233F"/>
      </a:dk1>
      <a:lt1>
        <a:srgbClr val="F5F3EC"/>
      </a:lt1>
      <a:dk2>
        <a:srgbClr val="4B576A"/>
      </a:dk2>
      <a:lt2>
        <a:srgbClr val="DEDEDB"/>
      </a:lt2>
      <a:accent1>
        <a:srgbClr val="D9822B"/>
      </a:accent1>
      <a:accent2>
        <a:srgbClr val="2F5D8C"/>
      </a:accent2>
      <a:accent3>
        <a:srgbClr val="E8A04F"/>
      </a:accent3>
      <a:accent4>
        <a:srgbClr val="7C8CA3"/>
      </a:accent4>
      <a:accent5>
        <a:srgbClr val="B3391F"/>
      </a:accent5>
      <a:accent6>
        <a:srgbClr val="9A4F0C"/>
      </a:accent6>
      <a:hlink>
        <a:srgbClr val="0563C1"/>
      </a:hlink>
      <a:folHlink>
        <a:srgbClr val="954F72"/>
      </a:folHlink>
    </a:clrScheme>
    <a:fontScheme name="QA FrontAccounting 2.4.20 — Resumen ejecutivo">
      <a:majorFont>
        <a:latin typeface="DM Sans"/>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DM San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Tema d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TotalTime>
  <Words>1764</Words>
  <Application>Microsoft Office PowerPoint</Application>
  <PresentationFormat>Panorámica</PresentationFormat>
  <Paragraphs>184</Paragraphs>
  <Slides>12</Slides>
  <Notes>12</Notes>
  <HiddenSlides>0</HiddenSlides>
  <MMClips>0</MMClips>
  <ScaleCrop>false</ScaleCrop>
  <HeadingPairs>
    <vt:vector size="6" baseType="variant">
      <vt:variant>
        <vt:lpstr>Fuentes usadas</vt:lpstr>
      </vt:variant>
      <vt:variant>
        <vt:i4>2</vt:i4>
      </vt:variant>
      <vt:variant>
        <vt:lpstr>Tema</vt:lpstr>
      </vt:variant>
      <vt:variant>
        <vt:i4>1</vt:i4>
      </vt:variant>
      <vt:variant>
        <vt:lpstr>Títulos de diapositiva</vt:lpstr>
      </vt:variant>
      <vt:variant>
        <vt:i4>12</vt:i4>
      </vt:variant>
    </vt:vector>
  </HeadingPairs>
  <TitlesOfParts>
    <vt:vector size="15" baseType="lpstr">
      <vt:lpstr>Arial</vt:lpstr>
      <vt:lpstr>DM Sans</vt:lpstr>
      <vt:lpstr>QA FrontAccounting 2.4.20 — Resumen ejecutivo</vt:lpstr>
      <vt:lpstr>Informe final de QA: FrontAccounting 2.4.20</vt:lpstr>
      <vt:lpstr>Contexto y alcance</vt:lpstr>
      <vt:lpstr>Resultados de la ejecución manual</vt:lpstr>
      <vt:lpstr>Cumplimiento de metas</vt:lpstr>
      <vt:lpstr>Los tres casos fallidos</vt:lpstr>
      <vt:lpstr>El sistema permite cancelar una orden ya entregada y facturada</vt:lpstr>
      <vt:lpstr>Bugs: 10 reproducidos, 1 de severidad alta</vt:lpstr>
      <vt:lpstr>Automatización con Cypress</vt:lpstr>
      <vt:lpstr>Conclusiones</vt:lpstr>
      <vt:lpstr>Recomendaciones</vt:lpstr>
      <vt:lpstr>Lecciones aprendidas</vt:lpstr>
      <vt:lpstr>Preguntas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QA FrontAccounting 2.4.20 — Resumen ejecutivo</dc:title>
  <dc:subject/>
  <dc:creator/>
  <cp:lastModifiedBy>Cristhiam Samayoa</cp:lastModifiedBy>
  <cp:revision>2</cp:revision>
  <dcterms:created xsi:type="dcterms:W3CDTF">2026-10-17T04:41:42Z</dcterms:created>
  <dcterms:modified xsi:type="dcterms:W3CDTF">2026-10-17T04:43:30Z</dcterms:modified>
</cp:coreProperties>
</file>